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116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116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116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1752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1752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1752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1752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1752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1752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2336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2336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2336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336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336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2336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2336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336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50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0350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50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50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350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350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350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408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0408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408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0408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08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408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408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0408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04672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04672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4672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4672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04672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4672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4672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04672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5256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05256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05256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05256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05256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05256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05256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05256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05840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05840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5840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5840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5840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5840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5840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0642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0642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10642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10642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10642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0642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0642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10642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20700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20700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20700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20700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20700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20700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20700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20700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ln/>
        </p:spPr>
      </p:sp>
      <p:sp>
        <p:nvSpPr>
          <p:cNvPr id="108" name="Shape 106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011680" y="4114800"/>
            <a:ext cx="2926080" cy="2926080"/>
          </a:xfrm>
          <a:prstGeom prst="ellipse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2920" y="2103120"/>
            <a:ext cx="4297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WeThink</a:t>
            </a:r>
            <a:endParaRPr lang="en-US" sz="6000" dirty="0"/>
          </a:p>
        </p:txBody>
      </p:sp>
      <p:sp>
        <p:nvSpPr>
          <p:cNvPr id="111" name="Text 109"/>
          <p:cNvSpPr/>
          <p:nvPr/>
        </p:nvSpPr>
        <p:spPr>
          <a:xfrm>
            <a:off x="502920" y="315468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4B5FD"/>
                </a:solidFill>
              </a:rPr>
              <a:t>Engineered for the Digital Age.</a:t>
            </a:r>
            <a:endParaRPr lang="en-US" sz="1600" dirty="0"/>
          </a:p>
        </p:txBody>
      </p:sp>
      <p:sp>
        <p:nvSpPr>
          <p:cNvPr id="112" name="Shape 110"/>
          <p:cNvSpPr/>
          <p:nvPr/>
        </p:nvSpPr>
        <p:spPr>
          <a:xfrm>
            <a:off x="502920" y="3657600"/>
            <a:ext cx="13716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02920" y="384048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spc="50" kern="0" dirty="0">
                <a:solidFill>
                  <a:srgbClr val="C4B5FD"/>
                </a:solidFill>
              </a:rPr>
              <a:t>IT Consulting  ·  Cloud Strategy  ·  Cybersecurity  ·  Custom Software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" y="420624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5CF6"/>
                </a:solidFill>
              </a:rPr>
              <a:t>Abu Dhabi, UAE  ·  Est. 2019  ·  wethink.ae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5577840" y="1463040"/>
            <a:ext cx="6217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Transforming</a:t>
            </a:r>
            <a:endParaRPr lang="en-US" sz="3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Enterprises</a:t>
            </a:r>
            <a:endParaRPr lang="en-US" sz="3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Across the Gulf.</a:t>
            </a:r>
            <a:endParaRPr lang="en-US" sz="3800" dirty="0"/>
          </a:p>
        </p:txBody>
      </p:sp>
      <p:sp>
        <p:nvSpPr>
          <p:cNvPr id="116" name="Text 114"/>
          <p:cNvSpPr/>
          <p:nvPr/>
        </p:nvSpPr>
        <p:spPr>
          <a:xfrm>
            <a:off x="5577840" y="44348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94A3B8"/>
                </a:solidFill>
              </a:rPr>
              <a:t>WeThink delivers end-to-end technology consulting, cloud architecture, cybersecurity, and bespoke software — helping UAE and Gulf enterprises compete and grow in an accelerating digital world.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</p:sp>
      <p:sp>
        <p:nvSpPr>
          <p:cNvPr id="118" name="Text 116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78BFA"/>
                </a:solidFill>
              </a:rPr>
              <a:t>CONFIDENTIAL  ·  Company Profile 2025  ·  wethink.ae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Shape 2"/>
          <p:cNvSpPr/>
          <p:nvPr/>
        </p:nvSpPr>
        <p:spPr>
          <a:xfrm>
            <a:off x="502920" y="256032"/>
            <a:ext cx="201168" cy="27432"/>
          </a:xfrm>
          <a:prstGeom prst="rect">
            <a:avLst>
              <a:gd name="adj" fmla="val 3333333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8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</a:rPr>
              <a:t>ABOUT US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50292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0A2E"/>
                </a:solidFill>
              </a:rPr>
              <a:t>Who We Are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5486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Founded in Abu Dhabi in 2019, WeThink is a technology and IT consulting firm built for the ambitions of UAE and Gulf enterprises. We combine deep technical expertise with strategic advisory — delivering transformation programmes that actually work.</a:t>
            </a:r>
            <a:endParaRPr lang="en-US" sz="1100" dirty="0"/>
          </a:p>
          <a:p>
            <a:pPr algn="l" indent="0" marL="0">
              <a:lnSpc>
                <a:spcPct val="170000"/>
              </a:lnSpc>
              <a:buNone/>
            </a:pPr>
            <a:endParaRPr lang="en-US" sz="1100" dirty="0"/>
          </a:p>
          <a:p>
            <a:pPr algn="l" indent="0" marL="0">
              <a:lnSpc>
                <a:spcPct val="170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Our multidisciplinary team of engineers, architects, and consultants operates across government, financial services, energy, education, and retail sectors. We speak the language of business and the language of technology — and we bridge the gap between the two.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886200"/>
            <a:ext cx="5303520" cy="1097280"/>
          </a:xfrm>
          <a:prstGeom prst="rect">
            <a:avLst>
              <a:gd name="adj" fmla="val 10000"/>
            </a:avLst>
          </a:prstGeom>
          <a:solidFill>
            <a:srgbClr val="7C3AED">
              <a:alpha val="7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0507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</a:rPr>
              <a:t>OUR MISSION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A0A2E"/>
                </a:solidFill>
              </a:rPr>
              <a:t>To empower UAE and Gulf organisations with technology strategies and solutions that create lasting competitive advantage — delivered with clarity, speed, and integrity.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5120640"/>
            <a:ext cx="5303520" cy="1097280"/>
          </a:xfrm>
          <a:prstGeom prst="rect">
            <a:avLst>
              <a:gd name="adj" fmla="val 10000"/>
            </a:avLst>
          </a:prstGeom>
          <a:solidFill>
            <a:srgbClr val="5B21B6">
              <a:alpha val="7000"/>
            </a:srgbClr>
          </a:solidFill>
          <a:ln w="12700">
            <a:solidFill>
              <a:srgbClr val="5B21B6">
                <a:alpha val="2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23951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1B6"/>
                </a:solidFill>
              </a:rPr>
              <a:t>OUR VISION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5440680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i="1" dirty="0">
                <a:solidFill>
                  <a:srgbClr val="1A0A2E"/>
                </a:solidFill>
              </a:rPr>
              <a:t>To be the most trusted technology partner for enterprises across the Middle East — known for transformative outcomes, not just deliverables.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0" y="5029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0A2E"/>
                </a:solidFill>
              </a:rPr>
              <a:t>Our Values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0" y="1097280"/>
            <a:ext cx="5303520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7C3AED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097280"/>
            <a:ext cx="4114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12070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Client-First Delivery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65392" y="1481328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Every engagement is shaped around your goals, your timeline, and your definition of success.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0" y="2423160"/>
            <a:ext cx="5303520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7C3AED">
                <a:alpha val="7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2423160"/>
            <a:ext cx="4114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253288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Technical Excellence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65392" y="2807208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We hire specialists, not generalists — and hold our work to the highest engineering standards.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3749040"/>
            <a:ext cx="5303520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7C3AED">
                <a:alpha val="7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0" y="3749040"/>
            <a:ext cx="4114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65392" y="385876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Transparent Partnership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65392" y="4133088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Clear communication, honest assessments, and no surprises. We are your trusted advisor, not just a vendor.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5074920"/>
            <a:ext cx="5303520" cy="1170432"/>
          </a:xfrm>
          <a:prstGeom prst="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16200000">
              <a:srgbClr val="7C3AED">
                <a:alpha val="7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0" y="5074920"/>
            <a:ext cx="41148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65392" y="518464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</a:rPr>
              <a:t>UAE-Rooted Expertise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65392" y="5458968"/>
            <a:ext cx="4937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4748B"/>
                </a:solidFill>
              </a:rPr>
              <a:t>Deep knowledge of local regulations, culture, and Vision 2031 priorities — applied to global best practice.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0" y="6803136"/>
            <a:ext cx="12192000" cy="54864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Shape 2"/>
          <p:cNvSpPr/>
          <p:nvPr/>
        </p:nvSpPr>
        <p:spPr>
          <a:xfrm>
            <a:off x="502920" y="256032"/>
            <a:ext cx="201168" cy="27432"/>
          </a:xfrm>
          <a:prstGeom prst="rect">
            <a:avLst>
              <a:gd name="adj" fmla="val 3333333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8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</a:rPr>
              <a:t>WHAT WE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0A2E"/>
                </a:solidFill>
              </a:rPr>
              <a:t>Our Services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292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End-to-end technology services — from strategy and consulting through to build and managed operations.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2788920" cy="1600200"/>
          </a:xfrm>
          <a:prstGeom prst="rect">
            <a:avLst>
              <a:gd name="adj" fmla="val 6857"/>
            </a:avLst>
          </a:prstGeom>
          <a:solidFill>
            <a:srgbClr val="7C3AED">
              <a:alpha val="6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1463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C3AED">
                    <a:alpha val="15000"/>
                  </a:srgbClr>
                </a:solidFill>
              </a:rPr>
              <a:t>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67512" y="154533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Digital Transformation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7512" y="178308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End-to-end digital overhaul of your processes, culture, and technology stack — aligned with UAE Vision 2031.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67512" y="272491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7C3AED"/>
                </a:solidFill>
              </a:rPr>
              <a:t>↑ 70% faster onboarding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401568" y="1417320"/>
            <a:ext cx="2788920" cy="1600200"/>
          </a:xfrm>
          <a:prstGeom prst="rect">
            <a:avLst>
              <a:gd name="adj" fmla="val 6857"/>
            </a:avLst>
          </a:prstGeom>
          <a:solidFill>
            <a:srgbClr val="4F46E5">
              <a:alpha val="6000"/>
            </a:srgbClr>
          </a:solidFill>
          <a:ln w="12700">
            <a:solidFill>
              <a:srgbClr val="4F46E5">
                <a:alpha val="2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87568" y="1463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4F46E5">
                    <a:alpha val="15000"/>
                  </a:srgbClr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566160" y="154533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Strategic Consulting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178308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Technology roadmap design and C-suite advisory — aligning IT investments with long-term business objectives.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66160" y="272491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F46E5"/>
                </a:solidFill>
              </a:rPr>
              <a:t>3× faster decision-making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300216" y="1417320"/>
            <a:ext cx="2788920" cy="1600200"/>
          </a:xfrm>
          <a:prstGeom prst="rect">
            <a:avLst>
              <a:gd name="adj" fmla="val 6857"/>
            </a:avLst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2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86216" y="1463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EA5E9">
                    <a:alpha val="15000"/>
                  </a:srgbClr>
                </a:solidFill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64808" y="154533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IT Solutions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64808" y="178308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Infrastructure design, systems integration, and managed IT services tailored to your scale and complexity.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64808" y="272491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EA5E9"/>
                </a:solidFill>
              </a:rPr>
              <a:t>99.98% uptime delivered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9198864" y="1417320"/>
            <a:ext cx="2788920" cy="1600200"/>
          </a:xfrm>
          <a:prstGeom prst="rect">
            <a:avLst>
              <a:gd name="adj" fmla="val 6857"/>
            </a:avLst>
          </a:prstGeom>
          <a:solidFill>
            <a:srgbClr val="9333EA">
              <a:alpha val="6000"/>
            </a:srgbClr>
          </a:solidFill>
          <a:ln w="12700">
            <a:solidFill>
              <a:srgbClr val="9333EA">
                <a:alpha val="2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84864" y="146304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333EA">
                    <a:alpha val="15000"/>
                  </a:srgbClr>
                </a:solidFill>
              </a:rPr>
              <a:t>04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363456" y="154533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Project Management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63456" y="178308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Rigorous PMO governance, agile delivery, and stakeholder coordination — every project on time and on budget.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363456" y="272491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9333EA"/>
                </a:solidFill>
              </a:rPr>
              <a:t>100% on-time delivery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02920" y="3154680"/>
            <a:ext cx="2788920" cy="1600200"/>
          </a:xfrm>
          <a:prstGeom prst="rect">
            <a:avLst>
              <a:gd name="adj" fmla="val 6857"/>
            </a:avLst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2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88920" y="32004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6B6D4">
                    <a:alpha val="15000"/>
                  </a:srgbClr>
                </a:solidFill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67512" y="328269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Cloud Services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" y="352044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Hybrid and multi-cloud architecture, migration, and 24/7 managed operations on AWS, Azure, and GCP.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67512" y="446227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6B6D4"/>
                </a:solidFill>
              </a:rPr>
              <a:t>45% cost reduction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401568" y="3154680"/>
            <a:ext cx="2788920" cy="1600200"/>
          </a:xfrm>
          <a:prstGeom prst="rect">
            <a:avLst>
              <a:gd name="adj" fmla="val 6857"/>
            </a:avLst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2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87568" y="32004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F4444">
                    <a:alpha val="15000"/>
                  </a:srgbClr>
                </a:solidFill>
              </a:rPr>
              <a:t>06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3566160" y="328269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Cybersecurity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66160" y="352044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Zero-trust frameworks, SOC monitoring, penetration testing, and compliance including ISO 27001 and NESA.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566160" y="446227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F4444"/>
                </a:solidFill>
              </a:rPr>
              <a:t>ISO 27001 in 9 months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300216" y="3154680"/>
            <a:ext cx="2788920" cy="1600200"/>
          </a:xfrm>
          <a:prstGeom prst="rect">
            <a:avLst>
              <a:gd name="adj" fmla="val 6857"/>
            </a:avLst>
          </a:prstGeom>
          <a:solidFill>
            <a:srgbClr val="059669">
              <a:alpha val="6000"/>
            </a:srgbClr>
          </a:solidFill>
          <a:ln w="12700">
            <a:solidFill>
              <a:srgbClr val="059669">
                <a:alpha val="2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86216" y="32004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59669">
                    <a:alpha val="15000"/>
                  </a:srgbClr>
                </a:solidFill>
              </a:rPr>
              <a:t>07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6464808" y="328269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Custom Software Dev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64808" y="352044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Bespoke web, mobile, and enterprise applications engineered from the ground up for your requirements.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64808" y="446227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5,000 users in 6 months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9198864" y="3154680"/>
            <a:ext cx="2788920" cy="1600200"/>
          </a:xfrm>
          <a:prstGeom prst="rect">
            <a:avLst>
              <a:gd name="adj" fmla="val 6857"/>
            </a:avLst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25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484864" y="320040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59E0B">
                    <a:alpha val="15000"/>
                  </a:srgbClr>
                </a:solidFill>
              </a:rPr>
              <a:t>08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9363456" y="3282696"/>
            <a:ext cx="24597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Data Analytics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363456" y="3520440"/>
            <a:ext cx="2459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Business intelligence dashboards, data warehouse design, and ML models that turn raw data into revenue.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363456" y="4462272"/>
            <a:ext cx="2459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59E0B"/>
                </a:solidFill>
              </a:rPr>
              <a:t>80+ stores connected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0" y="6803136"/>
            <a:ext cx="12192000" cy="54864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ln/>
        </p:spPr>
      </p:sp>
      <p:sp>
        <p:nvSpPr>
          <p:cNvPr id="4" name="Shape 2"/>
          <p:cNvSpPr/>
          <p:nvPr/>
        </p:nvSpPr>
        <p:spPr>
          <a:xfrm>
            <a:off x="502920" y="256032"/>
            <a:ext cx="201168" cy="27432"/>
          </a:xfrm>
          <a:prstGeom prst="rect">
            <a:avLst>
              <a:gd name="adj" fmla="val 3333333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8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7C3AED"/>
                </a:solidFill>
              </a:rPr>
              <a:t>OUR WORK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2920" y="4572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0A2E"/>
                </a:solidFill>
              </a:rPr>
              <a:t>Case Studies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292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 selection of transformative engagements across government, finance, education, and enterprise sectors.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2697480" cy="1691640"/>
          </a:xfrm>
          <a:prstGeom prst="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50800" dir="16200000">
              <a:srgbClr val="000000">
                <a:alpha val="7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417320"/>
            <a:ext cx="2697480" cy="411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508760"/>
            <a:ext cx="2368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7C3AED"/>
                </a:solidFill>
              </a:rPr>
              <a:t>DIGITAL TRANSFORMATION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377440" y="1508760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7C3AED"/>
                </a:solidFill>
              </a:rPr>
              <a:t>70%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377440" y="1691640"/>
            <a:ext cx="65836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faster onboarding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67512" y="1709928"/>
            <a:ext cx="2368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National Digital Identity Platform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2039112"/>
            <a:ext cx="23682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End-to-end design and delivery of a unified citizen identity portal, integrating 12 federal services and reducing onboarding time by 70%.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28416" y="1417320"/>
            <a:ext cx="2697480" cy="1691640"/>
          </a:xfrm>
          <a:prstGeom prst="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50800" dir="16200000">
              <a:srgbClr val="000000">
                <a:alpha val="7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28416" y="1417320"/>
            <a:ext cx="2697480" cy="411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1508760"/>
            <a:ext cx="2368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059669"/>
                </a:solidFill>
              </a:rPr>
              <a:t>IT CONSULTING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202936" y="1508760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59669"/>
                </a:solidFill>
              </a:rPr>
              <a:t>45%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202936" y="1691640"/>
            <a:ext cx="65836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cost reduction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3493008" y="1709928"/>
            <a:ext cx="2368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Core Banking Modernisation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93008" y="2039112"/>
            <a:ext cx="23682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Migrated legacy on-premise banking infrastructure to a hybrid cloud environment, cutting operational costs by 45% and improving uptime to 99.98%.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153912" y="1417320"/>
            <a:ext cx="2697480" cy="1691640"/>
          </a:xfrm>
          <a:prstGeom prst="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50800" dir="16200000">
              <a:srgbClr val="000000">
                <a:alpha val="7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53912" y="1417320"/>
            <a:ext cx="2697480" cy="4114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8504" y="1508760"/>
            <a:ext cx="2368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0EA5E9"/>
                </a:solidFill>
              </a:rPr>
              <a:t>CUSTOM SOFTWARE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028432" y="1508760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EA5E9"/>
                </a:solidFill>
              </a:rPr>
              <a:t>18K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028432" y="1691640"/>
            <a:ext cx="65836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daily users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318504" y="1709928"/>
            <a:ext cx="2368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Smart Campus Management System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8504" y="2039112"/>
            <a:ext cx="23682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Full-stack IoT-connected campus platform covering attendance, facilities, and energy monitoring — deployed across 3 campuses with 18,000 daily users.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979408" y="1417320"/>
            <a:ext cx="2697480" cy="1691640"/>
          </a:xfrm>
          <a:prstGeom prst="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50800" dir="16200000">
              <a:srgbClr val="000000">
                <a:alpha val="7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79408" y="1417320"/>
            <a:ext cx="2697480" cy="411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1508760"/>
            <a:ext cx="236829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EF4444"/>
                </a:solidFill>
              </a:rPr>
              <a:t>CYBERSECURITY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853928" y="1508760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EF4444"/>
                </a:solidFill>
              </a:rPr>
              <a:t>9mo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853928" y="1691640"/>
            <a:ext cx="65836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to ISO 27001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9144000" y="1709928"/>
            <a:ext cx="2368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0A2E"/>
                </a:solidFill>
              </a:rPr>
              <a:t>Zero-Trust Security Framework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144000" y="2039112"/>
            <a:ext cx="23682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Implemented a zero-trust network architecture and 24/7 SOC monitoring programme, achieving ISO 27001 certification within 9 months.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" y="5138928"/>
            <a:ext cx="11183112" cy="1280160"/>
          </a:xfrm>
          <a:prstGeom prst="rect">
            <a:avLst>
              <a:gd name="adj" fmla="val 8571"/>
            </a:avLst>
          </a:prstGeom>
          <a:solidFill>
            <a:srgbClr val="7C3AED">
              <a:alpha val="6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1206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7C3AED">
                    <a:alpha val="60000"/>
                  </a:srgbClr>
                </a:solidFill>
              </a:rPr>
              <a:t>"</a:t>
            </a:r>
            <a:endParaRPr lang="en-US" sz="5200" dirty="0"/>
          </a:p>
        </p:txBody>
      </p:sp>
      <p:sp>
        <p:nvSpPr>
          <p:cNvPr id="38" name="Text 36"/>
          <p:cNvSpPr/>
          <p:nvPr/>
        </p:nvSpPr>
        <p:spPr>
          <a:xfrm>
            <a:off x="1097280" y="5266944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0A2E"/>
                </a:solidFill>
              </a:rPr>
              <a:t>"WeThink transformed our entire IT infrastructure in under 6 months. The team's depth of knowledge and project discipline is unlike anything we've experienced before."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589788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Ahmed Al Mansoori  ·  CTO, Abu Dhabi National Energy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0" y="6803136"/>
            <a:ext cx="12192000" cy="54864"/>
          </a:xfrm>
          <a:prstGeom prst="rect">
            <a:avLst/>
          </a:prstGeom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116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116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116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1752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1752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1752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1752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1752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1752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2336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2336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2336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336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336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2336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2336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336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50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0350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50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50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350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350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350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408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0408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408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0408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08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408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408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0408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04672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04672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4672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4672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04672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4672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4672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04672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5256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05256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05256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05256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05256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05256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05256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05256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05840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05840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5840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5840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5840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5840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5840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0642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0642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10642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10642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10642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0642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0642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10642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20700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20700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20700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20700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20700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20700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20700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20700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</p:sp>
      <p:sp>
        <p:nvSpPr>
          <p:cNvPr id="108" name="Text 106"/>
          <p:cNvSpPr/>
          <p:nvPr/>
        </p:nvSpPr>
        <p:spPr>
          <a:xfrm>
            <a:off x="502920" y="4572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Numbers That</a:t>
            </a:r>
            <a:endParaRPr lang="en-US" sz="4600" dirty="0"/>
          </a:p>
        </p:txBody>
      </p:sp>
      <p:sp>
        <p:nvSpPr>
          <p:cNvPr id="109" name="Text 107"/>
          <p:cNvSpPr/>
          <p:nvPr/>
        </p:nvSpPr>
        <p:spPr>
          <a:xfrm>
            <a:off x="502920" y="109728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78BFA"/>
                </a:solidFill>
              </a:rPr>
              <a:t>Define Us</a:t>
            </a:r>
            <a:endParaRPr lang="en-US" sz="4600" dirty="0"/>
          </a:p>
        </p:txBody>
      </p:sp>
      <p:sp>
        <p:nvSpPr>
          <p:cNvPr id="110" name="Shape 108"/>
          <p:cNvSpPr/>
          <p:nvPr/>
        </p:nvSpPr>
        <p:spPr>
          <a:xfrm>
            <a:off x="429768" y="2057400"/>
            <a:ext cx="2148840" cy="1371600"/>
          </a:xfrm>
          <a:prstGeom prst="rect">
            <a:avLst>
              <a:gd name="adj" fmla="val 9333"/>
            </a:avLst>
          </a:prstGeom>
          <a:solidFill>
            <a:srgbClr val="7C3AED">
              <a:alpha val="18000"/>
            </a:srgbClr>
          </a:solidFill>
          <a:ln w="12700">
            <a:solidFill>
              <a:srgbClr val="7C3AED">
                <a:alpha val="50000"/>
              </a:srgbClr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29768" y="21488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5+</a:t>
            </a:r>
            <a:endParaRPr lang="en-US" sz="3200" dirty="0"/>
          </a:p>
        </p:txBody>
      </p:sp>
      <p:sp>
        <p:nvSpPr>
          <p:cNvPr id="112" name="Text 110"/>
          <p:cNvSpPr/>
          <p:nvPr/>
        </p:nvSpPr>
        <p:spPr>
          <a:xfrm>
            <a:off x="429768" y="2834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Years of Excellence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2724912" y="2057400"/>
            <a:ext cx="2148840" cy="1371600"/>
          </a:xfrm>
          <a:prstGeom prst="rect">
            <a:avLst>
              <a:gd name="adj" fmla="val 9333"/>
            </a:avLst>
          </a:prstGeom>
          <a:solidFill>
            <a:srgbClr val="4F46E5">
              <a:alpha val="18000"/>
            </a:srgbClr>
          </a:solidFill>
          <a:ln w="12700">
            <a:solidFill>
              <a:srgbClr val="4F46E5">
                <a:alpha val="50000"/>
              </a:srgbClr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724912" y="21488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5,000+</a:t>
            </a:r>
            <a:endParaRPr lang="en-US" sz="3200" dirty="0"/>
          </a:p>
        </p:txBody>
      </p:sp>
      <p:sp>
        <p:nvSpPr>
          <p:cNvPr id="115" name="Text 113"/>
          <p:cNvSpPr/>
          <p:nvPr/>
        </p:nvSpPr>
        <p:spPr>
          <a:xfrm>
            <a:off x="2724912" y="2834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Projects Delivered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5020056" y="2057400"/>
            <a:ext cx="2148840" cy="1371600"/>
          </a:xfrm>
          <a:prstGeom prst="rect">
            <a:avLst>
              <a:gd name="adj" fmla="val 9333"/>
            </a:avLst>
          </a:prstGeom>
          <a:solidFill>
            <a:srgbClr val="0EA5E9">
              <a:alpha val="18000"/>
            </a:srgbClr>
          </a:solidFill>
          <a:ln w="12700">
            <a:solidFill>
              <a:srgbClr val="0EA5E9">
                <a:alpha val="50000"/>
              </a:srgbClr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020056" y="21488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A5E9"/>
                </a:solidFill>
              </a:rPr>
              <a:t>1,000+</a:t>
            </a:r>
            <a:endParaRPr lang="en-US" sz="3200" dirty="0"/>
          </a:p>
        </p:txBody>
      </p:sp>
      <p:sp>
        <p:nvSpPr>
          <p:cNvPr id="118" name="Text 116"/>
          <p:cNvSpPr/>
          <p:nvPr/>
        </p:nvSpPr>
        <p:spPr>
          <a:xfrm>
            <a:off x="5020056" y="2834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Clients Served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7315200" y="2057400"/>
            <a:ext cx="2148840" cy="1371600"/>
          </a:xfrm>
          <a:prstGeom prst="rect">
            <a:avLst>
              <a:gd name="adj" fmla="val 9333"/>
            </a:avLst>
          </a:prstGeom>
          <a:solidFill>
            <a:srgbClr val="059669">
              <a:alpha val="18000"/>
            </a:srgbClr>
          </a:solidFill>
          <a:ln w="12700">
            <a:solidFill>
              <a:srgbClr val="059669">
                <a:alpha val="50000"/>
              </a:srgbClr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315200" y="21488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8</a:t>
            </a:r>
            <a:endParaRPr lang="en-US" sz="3200" dirty="0"/>
          </a:p>
        </p:txBody>
      </p:sp>
      <p:sp>
        <p:nvSpPr>
          <p:cNvPr id="121" name="Text 119"/>
          <p:cNvSpPr/>
          <p:nvPr/>
        </p:nvSpPr>
        <p:spPr>
          <a:xfrm>
            <a:off x="7315200" y="2834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Core Service Areas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9610344" y="2057400"/>
            <a:ext cx="2148840" cy="1371600"/>
          </a:xfrm>
          <a:prstGeom prst="rect">
            <a:avLst>
              <a:gd name="adj" fmla="val 9333"/>
            </a:avLst>
          </a:prstGeom>
          <a:solidFill>
            <a:srgbClr val="F59E0B">
              <a:alpha val="18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10344" y="21488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</a:rPr>
              <a:t>99.98%</a:t>
            </a:r>
            <a:endParaRPr lang="en-US" sz="3200" dirty="0"/>
          </a:p>
        </p:txBody>
      </p:sp>
      <p:sp>
        <p:nvSpPr>
          <p:cNvPr id="124" name="Text 122"/>
          <p:cNvSpPr/>
          <p:nvPr/>
        </p:nvSpPr>
        <p:spPr>
          <a:xfrm>
            <a:off x="9610344" y="28346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Average Uptime SLA</a:t>
            </a:r>
            <a:endParaRPr lang="en-US" sz="900" dirty="0"/>
          </a:p>
        </p:txBody>
      </p:sp>
      <p:sp>
        <p:nvSpPr>
          <p:cNvPr id="125" name="Text 123"/>
          <p:cNvSpPr/>
          <p:nvPr/>
        </p:nvSpPr>
        <p:spPr>
          <a:xfrm>
            <a:off x="502920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Key Achievements</a:t>
            </a:r>
            <a:endParaRPr lang="en-US" sz="1800" dirty="0"/>
          </a:p>
        </p:txBody>
      </p:sp>
      <p:sp>
        <p:nvSpPr>
          <p:cNvPr id="126" name="Shape 124"/>
          <p:cNvSpPr/>
          <p:nvPr/>
        </p:nvSpPr>
        <p:spPr>
          <a:xfrm>
            <a:off x="548640" y="4261104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31520" y="42062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ISO 27001 Certification programmes completed in under 9 months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6217920" y="4261104"/>
            <a:ext cx="109728" cy="10972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400800" y="42062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Zero-downtime cloud migrations across financial sector clients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48640" y="4700016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31520" y="46451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Trusted technology partner for UAE Federal and Emirate Government entities</a:t>
            </a:r>
            <a:endParaRPr lang="en-US" sz="950" dirty="0"/>
          </a:p>
        </p:txBody>
      </p:sp>
      <p:sp>
        <p:nvSpPr>
          <p:cNvPr id="132" name="Shape 130"/>
          <p:cNvSpPr/>
          <p:nvPr/>
        </p:nvSpPr>
        <p:spPr>
          <a:xfrm>
            <a:off x="6217920" y="4700016"/>
            <a:ext cx="109728" cy="10972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400800" y="46451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Custom platforms serving 18,000+ daily active users across UAE campuses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548640" y="5138928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31520" y="508406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Real-time BI deployed across 80+ retail locations in the Gulf region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</p:sp>
      <p:sp>
        <p:nvSpPr>
          <p:cNvPr id="137" name="Text 13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78BFA"/>
                </a:solidFill>
              </a:rPr>
              <a:t>wethink.ae  ·  Abu Dhabi, UAE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116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116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116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116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116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1752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1752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1752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1752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1752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1752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2336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2336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2336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336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336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2336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2336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336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920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2920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50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0350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50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50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350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350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350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408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0408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408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0408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08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0408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408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0408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04672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04672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4672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4672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04672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04672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4672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04672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5256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05256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05256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05256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05256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05256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05256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05256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05840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05840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05840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5840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05840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05840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005840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06424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106424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106424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106424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106424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06424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06424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106424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2070080" y="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2070080" y="10058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2070080" y="20116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2070080" y="301752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2070080" y="402336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2070080" y="502920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2070080" y="603504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2070080" y="7040880"/>
            <a:ext cx="36576" cy="36576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ln/>
        </p:spPr>
      </p:sp>
      <p:sp>
        <p:nvSpPr>
          <p:cNvPr id="108" name="Shape 106"/>
          <p:cNvSpPr/>
          <p:nvPr/>
        </p:nvSpPr>
        <p:spPr>
          <a:xfrm>
            <a:off x="-731520" y="-731520"/>
            <a:ext cx="3200400" cy="3200400"/>
          </a:xfrm>
          <a:prstGeom prst="ellipse">
            <a:avLst/>
          </a:prstGeom>
          <a:solidFill>
            <a:srgbClr val="7C3AED">
              <a:alpha val="2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371600" y="4754880"/>
            <a:ext cx="3200400" cy="3200400"/>
          </a:xfrm>
          <a:prstGeom prst="ellipse">
            <a:avLst/>
          </a:prstGeom>
          <a:solidFill>
            <a:srgbClr val="7C3AED">
              <a:alpha val="18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11480" y="164592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Let's Build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Something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Great.</a:t>
            </a:r>
            <a:endParaRPr lang="en-US" sz="3800" dirty="0"/>
          </a:p>
        </p:txBody>
      </p:sp>
      <p:sp>
        <p:nvSpPr>
          <p:cNvPr id="111" name="Text 109"/>
          <p:cNvSpPr/>
          <p:nvPr/>
        </p:nvSpPr>
        <p:spPr>
          <a:xfrm>
            <a:off x="411480" y="4480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4B5FD"/>
                </a:solidFill>
              </a:rPr>
              <a:t>We'd love to hear about your next project.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5394960" y="6400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Get in Touch</a:t>
            </a:r>
            <a:endParaRPr lang="en-US" sz="3000" dirty="0"/>
          </a:p>
        </p:txBody>
      </p:sp>
      <p:sp>
        <p:nvSpPr>
          <p:cNvPr id="113" name="Text 111"/>
          <p:cNvSpPr/>
          <p:nvPr/>
        </p:nvSpPr>
        <p:spPr>
          <a:xfrm>
            <a:off x="5394960" y="12801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</a:rPr>
              <a:t>WeThink Technology Consulting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394960" y="1737360"/>
            <a:ext cx="6400800" cy="621792"/>
          </a:xfrm>
          <a:prstGeom prst="rect">
            <a:avLst>
              <a:gd name="adj" fmla="val 1176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394960" y="1737360"/>
            <a:ext cx="36576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59552" y="1783080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WEBSITE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5559552" y="199339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www.wethink.ae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5394960" y="2487168"/>
            <a:ext cx="6400800" cy="621792"/>
          </a:xfrm>
          <a:prstGeom prst="rect">
            <a:avLst>
              <a:gd name="adj" fmla="val 1176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394960" y="2487168"/>
            <a:ext cx="36576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559552" y="2532888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LOCATION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5559552" y="274320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Pixel, Al Reem Island, Abu Dhabi, UAE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5394960" y="3236976"/>
            <a:ext cx="6400800" cy="621792"/>
          </a:xfrm>
          <a:prstGeom prst="rect">
            <a:avLst>
              <a:gd name="adj" fmla="val 1176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394960" y="3236976"/>
            <a:ext cx="36576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5559552" y="3282696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ESTABLISHED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5559552" y="3493008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2019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5394960" y="3986784"/>
            <a:ext cx="6400800" cy="621792"/>
          </a:xfrm>
          <a:prstGeom prst="rect">
            <a:avLst>
              <a:gd name="adj" fmla="val 11765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7C3AED">
                <a:alpha val="3000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394960" y="3986784"/>
            <a:ext cx="36576" cy="6217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559552" y="4032504"/>
            <a:ext cx="6035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7C3AED"/>
                </a:solidFill>
              </a:rPr>
              <a:t>SPECIALISATIONS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5559552" y="4242816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IT Consulting · Cloud · Cybersecurity · Custom Software · Data Analytics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5394960" y="5577840"/>
            <a:ext cx="2743200" cy="502920"/>
          </a:xfrm>
          <a:prstGeom prst="rect">
            <a:avLst>
              <a:gd name="adj" fmla="val 50909"/>
            </a:avLst>
          </a:prstGeom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394960" y="5577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Start a Project →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8321040" y="56875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8BFA"/>
                </a:solidFill>
              </a:rPr>
              <a:t>info@wethink.ae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7C3AED">
              <a:alpha val="40000"/>
            </a:srgbClr>
          </a:solidFill>
          <a:ln/>
        </p:spPr>
      </p:sp>
      <p:sp>
        <p:nvSpPr>
          <p:cNvPr id="134" name="Text 132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78BFA"/>
                </a:solidFill>
              </a:rPr>
              <a:t>WeThink Technology Consulting  ·  Pixel, Al Reem Island, Abu Dhabi  ·  wethink.ae  ·  © 2025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2026-05-20T19:51:51Z</dcterms:created>
  <dcterms:modified xsi:type="dcterms:W3CDTF">2026-05-20T19:51:51Z</dcterms:modified>
</cp:coreProperties>
</file>