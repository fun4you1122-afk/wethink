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pic>
        <p:nvPicPr>
          <p:cNvPr id="3" name="Image 0" descr="public/profile-assets/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D21">
              <a:alpha val="3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3749040"/>
            <a:ext cx="12192000" cy="3108960"/>
          </a:xfrm>
          <a:prstGeom prst="rect">
            <a:avLst/>
          </a:prstGeom>
          <a:solidFill>
            <a:srgbClr val="0A1D21">
              <a:alpha val="6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ln/>
        </p:spPr>
      </p:sp>
      <p:pic>
        <p:nvPicPr>
          <p:cNvPr id="7" name="Image 1" descr="publi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546811" cy="54681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26998" y="369418"/>
            <a:ext cx="18928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</a:t>
            </a:r>
            <a:pPr indent="0" marL="0">
              <a:buNone/>
            </a:pPr>
            <a:r>
              <a:rPr lang="en-US" sz="1955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</a:t>
            </a:r>
            <a:endParaRPr lang="en-US" sz="1955" dirty="0"/>
          </a:p>
        </p:txBody>
      </p:sp>
      <p:sp>
        <p:nvSpPr>
          <p:cNvPr id="9" name="Text 5"/>
          <p:cNvSpPr/>
          <p:nvPr/>
        </p:nvSpPr>
        <p:spPr>
          <a:xfrm>
            <a:off x="1148029" y="726948"/>
            <a:ext cx="2103120" cy="252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8" spc="3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· PLAN · GROW</a:t>
            </a:r>
            <a:endParaRPr lang="en-US" sz="748" dirty="0"/>
          </a:p>
        </p:txBody>
      </p:sp>
      <p:sp>
        <p:nvSpPr>
          <p:cNvPr id="10" name="Shape 6"/>
          <p:cNvSpPr/>
          <p:nvPr/>
        </p:nvSpPr>
        <p:spPr>
          <a:xfrm>
            <a:off x="960120" y="4069080"/>
            <a:ext cx="25603" cy="1783080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1" name="Text 7"/>
          <p:cNvSpPr/>
          <p:nvPr/>
        </p:nvSpPr>
        <p:spPr>
          <a:xfrm>
            <a:off x="1234440" y="39776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4200" dirty="0"/>
          </a:p>
        </p:txBody>
      </p:sp>
      <p:sp>
        <p:nvSpPr>
          <p:cNvPr id="12" name="Shape 8"/>
          <p:cNvSpPr/>
          <p:nvPr/>
        </p:nvSpPr>
        <p:spPr>
          <a:xfrm>
            <a:off x="1261872" y="5504688"/>
            <a:ext cx="128016" cy="365760"/>
          </a:xfrm>
          <a:prstGeom prst="rect">
            <a:avLst/>
          </a:prstGeom>
          <a:ln/>
        </p:spPr>
      </p:sp>
      <p:sp>
        <p:nvSpPr>
          <p:cNvPr id="13" name="Text 9"/>
          <p:cNvSpPr/>
          <p:nvPr/>
        </p:nvSpPr>
        <p:spPr>
          <a:xfrm>
            <a:off x="1481328" y="546811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Digital Transformation Partner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481328" y="5870448"/>
            <a:ext cx="8686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Consulting  –  Cloud  –  Cybersecurity  –  Custom Software  –  Data &amp; AI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190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Dhabi, United Arab Emirates  ·  Est. 2019  ·  wethink.ae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0543032" y="63093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4" name="Shape 2"/>
          <p:cNvSpPr/>
          <p:nvPr/>
        </p:nvSpPr>
        <p:spPr>
          <a:xfrm>
            <a:off x="4937760" y="0"/>
            <a:ext cx="45720" cy="6858000"/>
          </a:xfrm>
          <a:prstGeom prst="rect">
            <a:avLst/>
          </a:prstGeom>
          <a:ln/>
        </p:spPr>
      </p:sp>
      <p:sp>
        <p:nvSpPr>
          <p:cNvPr id="5" name="Text 3"/>
          <p:cNvSpPr/>
          <p:nvPr/>
        </p:nvSpPr>
        <p:spPr>
          <a:xfrm>
            <a:off x="50292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02920" y="22585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Founded in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60320" y="1874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560320" y="22585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service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0292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5,000+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02920" y="3172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6032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1,000+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2560320" y="3172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3931920" cy="10973"/>
          </a:xfrm>
          <a:prstGeom prst="rect">
            <a:avLst/>
          </a:prstGeom>
          <a:solidFill>
            <a:srgbClr val="9FB8B4">
              <a:alpha val="4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931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DOMAINS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379976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427939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560320" y="4379976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2724912" y="427939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Consulting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4764024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466344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Services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560320" y="4764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2724912" y="466344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" y="5148072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5047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60320" y="5148072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2724912" y="5047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Analytics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5532120"/>
            <a:ext cx="82296" cy="8229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54315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Solutions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60320" y="5532120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2724912" y="543153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59436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INDUSTRY FOCUS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02920" y="618134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Startups · Retail · Real Estate · Education · Healthcare · Logistics · F&amp;B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40680" y="4114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Us</a:t>
            </a:r>
            <a:endParaRPr lang="en-US" sz="2600" dirty="0"/>
          </a:p>
        </p:txBody>
      </p:sp>
      <p:sp>
        <p:nvSpPr>
          <p:cNvPr id="37" name="Shape 35"/>
          <p:cNvSpPr/>
          <p:nvPr/>
        </p:nvSpPr>
        <p:spPr>
          <a:xfrm>
            <a:off x="5458968" y="978408"/>
            <a:ext cx="502920" cy="41148"/>
          </a:xfrm>
          <a:prstGeom prst="rect">
            <a:avLst/>
          </a:prstGeom>
          <a:ln/>
        </p:spPr>
      </p:sp>
      <p:sp>
        <p:nvSpPr>
          <p:cNvPr id="38" name="Text 36"/>
          <p:cNvSpPr/>
          <p:nvPr/>
        </p:nvSpPr>
        <p:spPr>
          <a:xfrm>
            <a:off x="5440680" y="1115568"/>
            <a:ext cx="61996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Information Technology Consulting is an Abu Dhabi-based digital consultancy founded in 2019 by Rasha Aljalam. We take businesses from idea to impact — combining strategy, engineering, and design under one roof so our clients never have to stitch together a dozen vendors.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40680" y="2103120"/>
            <a:ext cx="61996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side-by-side with founders launching their first product and with established organisations modernising their technology stack — across the UAE and the wider Gulf.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40680" y="2926080"/>
            <a:ext cx="61996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41848" y="3127248"/>
            <a:ext cx="50292" cy="969264"/>
          </a:xfrm>
          <a:prstGeom prst="rect">
            <a:avLst/>
          </a:prstGeom>
          <a:ln/>
        </p:spPr>
      </p:sp>
      <p:sp>
        <p:nvSpPr>
          <p:cNvPr id="42" name="Text 40"/>
          <p:cNvSpPr/>
          <p:nvPr/>
        </p:nvSpPr>
        <p:spPr>
          <a:xfrm>
            <a:off x="5852160" y="312724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Rasha Aljalam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852160" y="34381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 &amp; Chief Executive Officer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52160" y="3712464"/>
            <a:ext cx="5559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"We don't just advise — we execute, deliver, and stay accountable until you win."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40680" y="45720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&amp; Alignment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458968" y="5138928"/>
            <a:ext cx="502920" cy="41148"/>
          </a:xfrm>
          <a:prstGeom prst="rect">
            <a:avLst/>
          </a:prstGeom>
          <a:ln/>
        </p:spPr>
      </p:sp>
      <p:sp>
        <p:nvSpPr>
          <p:cNvPr id="47" name="Shape 45"/>
          <p:cNvSpPr/>
          <p:nvPr/>
        </p:nvSpPr>
        <p:spPr>
          <a:xfrm>
            <a:off x="544068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4068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Ready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58952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8952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NESA-aligned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9738360" y="5303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738360" y="5296205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Gov Compliant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4068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4068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Partner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758952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8952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Azure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9738360" y="57241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38360" y="5716829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PDPL Aware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0292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Journey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started in 2019 as an entrepreneurial venture in Abu Dhabi. Since then it has grown into a full-spectrum digital consultancy — adding practice areas year on year while staying founder-led and delivery-obsessed.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" y="3977640"/>
            <a:ext cx="10725912" cy="27432"/>
          </a:xfrm>
          <a:prstGeom prst="rect">
            <a:avLst/>
          </a:prstGeom>
          <a:ln/>
        </p:spPr>
      </p:sp>
      <p:sp>
        <p:nvSpPr>
          <p:cNvPr id="8" name="Shape 6"/>
          <p:cNvSpPr/>
          <p:nvPr/>
        </p:nvSpPr>
        <p:spPr>
          <a:xfrm>
            <a:off x="667512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 founded in Abu Dhabi — IT consulting and web delivery for local businesses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199785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60873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96281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practice launched: AWS and Azure migrations for UAE SMEs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732058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3146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128554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 practice added — ISO 27001 and NESA-aligned programmes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264331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938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5419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0827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 studio formed: web, mobile, and API engineering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96605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7693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93101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AI practice: BI dashboards, analytics, and ML-assisted tooling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328878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89966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25374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Pre-launch venture programme — building brands from idea to market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61151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22239" y="341071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57647" y="1965960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venture launches delivered; digital business card and app initiatives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1393424" y="3927348"/>
            <a:ext cx="128016" cy="1280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54512" y="41239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789920" y="4453128"/>
            <a:ext cx="133502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brand identity and expanded portfolio across the Gulf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Mission, Vision &amp; Values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371600"/>
            <a:ext cx="3468624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Mission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transform ideas into impactful realities — giving UAE businesses and founders the strategy, engineering, and momentum they need to compete in the digital 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45864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45864" y="1371600"/>
            <a:ext cx="3468624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4474464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Vision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74464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be the Gulf's most trusted end-to-end digital partner: the first call for anyone who wants technology delivered right the first time.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43088" y="1371600"/>
            <a:ext cx="3468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43088" y="1371600"/>
            <a:ext cx="3468624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8171688" y="1572768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Promise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71688" y="2011680"/>
            <a:ext cx="301142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partner, every layer. We stay accountable from the first workshop to long after launch — with radical transparency at every step.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0233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Values We Work By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66928" y="4590288"/>
            <a:ext cx="502920" cy="41148"/>
          </a:xfrm>
          <a:prstGeom prst="rect">
            <a:avLst/>
          </a:prstGeom>
          <a:ln/>
        </p:spPr>
      </p:sp>
      <p:sp>
        <p:nvSpPr>
          <p:cNvPr id="20" name="Shape 18"/>
          <p:cNvSpPr/>
          <p:nvPr/>
        </p:nvSpPr>
        <p:spPr>
          <a:xfrm>
            <a:off x="548640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94944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Understand deeply before building anything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66974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13278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913278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roadmaps — never templates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985309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31613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131613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Ship, measure, and keep improving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203643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49947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It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349947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Accountable until the outcome lands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21978" y="4846320"/>
            <a:ext cx="203545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68282" y="4974336"/>
            <a:ext cx="17428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Human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568282" y="5303520"/>
            <a:ext cx="174284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Founder-level attention on every account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Services  —  1 of 2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896112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554480"/>
            <a:ext cx="128016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overhaul of business processes, culture, and technology — aligned with UAE Vision 2031.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51560" y="28254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1197864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Design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7258" y="28254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353562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Management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51560" y="32095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1197864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Roadmaps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7258" y="32095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3353562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Legacy Modernisation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85916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1948" y="1554480"/>
            <a:ext cx="128016" cy="3840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0" name="Text 18"/>
          <p:cNvSpPr/>
          <p:nvPr/>
        </p:nvSpPr>
        <p:spPr>
          <a:xfrm>
            <a:off x="6688836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Consulting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88836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Data-driven strategy and C-suite advisory that turns complexity into competitive advantage.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88836" y="282549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Text 21"/>
          <p:cNvSpPr/>
          <p:nvPr/>
        </p:nvSpPr>
        <p:spPr>
          <a:xfrm>
            <a:off x="6835140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Roadmaps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844534" y="282549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Text 23"/>
          <p:cNvSpPr/>
          <p:nvPr/>
        </p:nvSpPr>
        <p:spPr>
          <a:xfrm>
            <a:off x="8990838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C-Suite Advisory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88836" y="320954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Text 25"/>
          <p:cNvSpPr/>
          <p:nvPr/>
        </p:nvSpPr>
        <p:spPr>
          <a:xfrm>
            <a:off x="6835140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OKRs &amp; Governance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44534" y="320954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Text 27"/>
          <p:cNvSpPr/>
          <p:nvPr/>
        </p:nvSpPr>
        <p:spPr>
          <a:xfrm>
            <a:off x="8990838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Selection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069080"/>
            <a:ext cx="128016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Services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51560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Multi-cloud architecture, migration, and optimisation on AWS, Azure, and GCP.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51560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5" name="Text 33"/>
          <p:cNvSpPr/>
          <p:nvPr/>
        </p:nvSpPr>
        <p:spPr>
          <a:xfrm>
            <a:off x="1197864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Architecture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7258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7" name="Text 35"/>
          <p:cNvSpPr/>
          <p:nvPr/>
        </p:nvSpPr>
        <p:spPr>
          <a:xfrm>
            <a:off x="3353562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51560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9" name="Text 37"/>
          <p:cNvSpPr/>
          <p:nvPr/>
        </p:nvSpPr>
        <p:spPr>
          <a:xfrm>
            <a:off x="1197864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Operations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7258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1" name="Text 39"/>
          <p:cNvSpPr/>
          <p:nvPr/>
        </p:nvSpPr>
        <p:spPr>
          <a:xfrm>
            <a:off x="3353562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FinOps &amp; Cost Control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85916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1948" y="4069080"/>
            <a:ext cx="128016" cy="38404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4" name="Text 42"/>
          <p:cNvSpPr/>
          <p:nvPr/>
        </p:nvSpPr>
        <p:spPr>
          <a:xfrm>
            <a:off x="6688836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6688836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assessments, threat monitoring, and compliance frameworks that protect critical assets.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688836" y="534009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7" name="Text 45"/>
          <p:cNvSpPr/>
          <p:nvPr/>
        </p:nvSpPr>
        <p:spPr>
          <a:xfrm>
            <a:off x="6835140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Zero-Trust Design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844534" y="534009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Text 47"/>
          <p:cNvSpPr/>
          <p:nvPr/>
        </p:nvSpPr>
        <p:spPr>
          <a:xfrm>
            <a:off x="8990838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Programmes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88836" y="572414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1" name="Text 49"/>
          <p:cNvSpPr/>
          <p:nvPr/>
        </p:nvSpPr>
        <p:spPr>
          <a:xfrm>
            <a:off x="6835140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 Alignment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844534" y="572414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3" name="Text 51"/>
          <p:cNvSpPr/>
          <p:nvPr/>
        </p:nvSpPr>
        <p:spPr>
          <a:xfrm>
            <a:off x="8990838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Monitoring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Services  —  2 of 2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896112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554480"/>
            <a:ext cx="128016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Bespoke web, mobile, and enterprise applications engineered from the ground up.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51560" y="2825496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1197864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&amp; Mobile Apps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7258" y="2825496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3353562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Engineering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51560" y="3209544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1197864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Platforms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7258" y="3209544"/>
            <a:ext cx="73152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/>
          <p:nvPr/>
        </p:nvSpPr>
        <p:spPr>
          <a:xfrm>
            <a:off x="3353562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MVPs in 8–12 Weeks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85916" y="12801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1948" y="1554480"/>
            <a:ext cx="128016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688836" y="14630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Analytics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88836" y="19019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Dashboards, predictive models, and BI platforms that turn raw data into decisions.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88836" y="2825496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835140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Dashboards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844534" y="2825496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8990838" y="27249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Warehousing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88836" y="3209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6835140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44534" y="3209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8990838" y="31089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Reporting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069080"/>
            <a:ext cx="128016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Solutions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51560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infrastructure, systems integration, and managed IT that scales with ambition.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51560" y="53400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3"/>
          <p:cNvSpPr/>
          <p:nvPr/>
        </p:nvSpPr>
        <p:spPr>
          <a:xfrm>
            <a:off x="1197864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7258" y="5340096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3353562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Systems Integration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51560" y="57241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9" name="Text 37"/>
          <p:cNvSpPr/>
          <p:nvPr/>
        </p:nvSpPr>
        <p:spPr>
          <a:xfrm>
            <a:off x="1197864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7258" y="5724144"/>
            <a:ext cx="73152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1" name="Text 39"/>
          <p:cNvSpPr/>
          <p:nvPr/>
        </p:nvSpPr>
        <p:spPr>
          <a:xfrm>
            <a:off x="3353562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99.98% Uptime Targets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85916" y="3794760"/>
            <a:ext cx="5225796" cy="2286000"/>
          </a:xfrm>
          <a:prstGeom prst="roundRect">
            <a:avLst>
              <a:gd name="adj" fmla="val 4000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1948" y="4069080"/>
            <a:ext cx="128016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4" name="Text 42"/>
          <p:cNvSpPr/>
          <p:nvPr/>
        </p:nvSpPr>
        <p:spPr>
          <a:xfrm>
            <a:off x="6688836" y="397764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6688836" y="4416552"/>
            <a:ext cx="44485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Agile, structured delivery that keeps complex technology projects on time and on scope.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688836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7" name="Text 45"/>
          <p:cNvSpPr/>
          <p:nvPr/>
        </p:nvSpPr>
        <p:spPr>
          <a:xfrm>
            <a:off x="6835140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 Delivery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844534" y="534009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9" name="Text 47"/>
          <p:cNvSpPr/>
          <p:nvPr/>
        </p:nvSpPr>
        <p:spPr>
          <a:xfrm>
            <a:off x="8990838" y="5239512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Governance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88836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1" name="Text 49"/>
          <p:cNvSpPr/>
          <p:nvPr/>
        </p:nvSpPr>
        <p:spPr>
          <a:xfrm>
            <a:off x="6835140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Stakeholder Management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844534" y="572414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3" name="Text 51"/>
          <p:cNvSpPr/>
          <p:nvPr/>
        </p:nvSpPr>
        <p:spPr>
          <a:xfrm>
            <a:off x="8990838" y="5623560"/>
            <a:ext cx="2064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On-Time Delivery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Work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don't push templates. Every engagement starts with your challenges, gets a tailored roadmap, and is delivered against it — with radical transparency at every step.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2017166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13232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3232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Deep-dive workshops to map challenges, goals, and current-state technology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66974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6974" y="2011680"/>
            <a:ext cx="2017166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2931566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931566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931566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blueprints and a phased delivery plan built for your budget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5309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85309" y="2011680"/>
            <a:ext cx="2017166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5149901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149901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49901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 sprints, dedicated PMs, and weekly progress reports — on time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03643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03643" y="2011680"/>
            <a:ext cx="2017166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7368235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368235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368235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Zero-downtime rollouts with full testing, security sign-off, and training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421978" y="2011680"/>
            <a:ext cx="2017166" cy="2651760"/>
          </a:xfrm>
          <a:prstGeom prst="roundRect">
            <a:avLst>
              <a:gd name="adj" fmla="val 4533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21978" y="2011680"/>
            <a:ext cx="2017166" cy="6400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/>
          <p:nvPr/>
        </p:nvSpPr>
        <p:spPr>
          <a:xfrm>
            <a:off x="9586570" y="2194560"/>
            <a:ext cx="168798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586570" y="2761488"/>
            <a:ext cx="168798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586570" y="3127248"/>
            <a:ext cx="168798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Post-launch monitoring, optimisation, and long-term partnership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074920"/>
            <a:ext cx="110916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230368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 models: 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retainers (Essentials · Growth · Enterprise), fixed-scope projects, and dedicated-team arrangements — in AED, with no hidden fees.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Ventures We Helped Launch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our pre-launch venture programme we build brands from idea to market — product, engineering, and identity under one roof.</a:t>
            </a:r>
            <a:endParaRPr lang="en-US" sz="1100" dirty="0"/>
          </a:p>
        </p:txBody>
      </p:sp>
      <p:pic>
        <p:nvPicPr>
          <p:cNvPr id="7" name="Image 0" descr="public/profile-assets/nexa-pay-t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544824" cy="17373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410670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Nexa Pay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65755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 app — idea to pilot in 8 weeks</a:t>
            </a:r>
            <a:endParaRPr lang="en-US" sz="850" dirty="0"/>
          </a:p>
        </p:txBody>
      </p:sp>
      <p:pic>
        <p:nvPicPr>
          <p:cNvPr id="10" name="Image 1" descr="public/profile-assets/cargoflow-ti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064" y="1645920"/>
            <a:ext cx="3544824" cy="17373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22064" y="3410670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CargoFlow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322064" y="365755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Shipment tracking SaaS — 40% less manual dispatch</a:t>
            </a:r>
            <a:endParaRPr lang="en-US" sz="850" dirty="0"/>
          </a:p>
        </p:txBody>
      </p:sp>
      <p:pic>
        <p:nvPicPr>
          <p:cNvPr id="13" name="Image 2" descr="public/profile-assets/lumora-t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488" y="1645920"/>
            <a:ext cx="3544824" cy="173731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95488" y="3410670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Lumora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095488" y="365755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D2C skincare launch — 3× launch-month ROAS</a:t>
            </a:r>
            <a:endParaRPr lang="en-US" sz="850" dirty="0"/>
          </a:p>
        </p:txBody>
      </p:sp>
      <p:pic>
        <p:nvPicPr>
          <p:cNvPr id="16" name="Image 3" descr="public/profile-assets/pulse-loop-ti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41648"/>
            <a:ext cx="3544824" cy="173731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8640" y="580639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Loop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548640" y="6053286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Wellness app MVP — app-store beta in 12 weeks</a:t>
            </a:r>
            <a:endParaRPr lang="en-US" sz="850" dirty="0"/>
          </a:p>
        </p:txBody>
      </p:sp>
      <p:pic>
        <p:nvPicPr>
          <p:cNvPr id="19" name="Image 4" descr="public/profile-assets/masakin-til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2064" y="4041648"/>
            <a:ext cx="3544824" cy="173731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22064" y="580639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Masakin مساكن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4322064" y="6053286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property portal — 2.5K monthly leads</a:t>
            </a:r>
            <a:endParaRPr lang="en-US" sz="850" dirty="0"/>
          </a:p>
        </p:txBody>
      </p:sp>
      <p:pic>
        <p:nvPicPr>
          <p:cNvPr id="22" name="Image 5" descr="public/profile-assets/kidiverse-til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4041648"/>
            <a:ext cx="3544824" cy="173731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8095488" y="5806398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KidiVerse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8095488" y="6053286"/>
            <a:ext cx="3544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Kids-safe streaming — full parental-control layer</a:t>
            </a:r>
            <a:endParaRPr lang="en-US" sz="850" dirty="0"/>
          </a:p>
        </p:txBody>
      </p:sp>
      <p:sp>
        <p:nvSpPr>
          <p:cNvPr id="25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26" name="Text 1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Featured Cases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078992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MOST RECENT &amp; MOST CREATIVE 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468624" cy="47091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3468624" cy="64008"/>
          </a:xfrm>
          <a:prstGeom prst="rect">
            <a:avLst/>
          </a:prstGeom>
          <a:solidFill>
            <a:srgbClr val="14B8A6"/>
          </a:solidFill>
          <a:ln/>
        </p:spPr>
      </p:sp>
      <p:pic>
        <p:nvPicPr>
          <p:cNvPr id="9" name="Image 0" descr="public/logos/albina-alare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4272" y="1691640"/>
            <a:ext cx="1737360" cy="10424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816352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CONTRACTING · ABU DHABI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77240" y="3072384"/>
            <a:ext cx="30114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Albina Alareeq Contracting — Digital Transformation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77240" y="3803904"/>
            <a:ext cx="301142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 for Albina Alareeq Contracting &amp; General Maintenance — a corporate website plus a project-management portal unifying field reporting and head-office visibility.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68680" y="5074920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5067605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 platform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68680" y="5422392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5415077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portal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868680" y="5769864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B8A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5762549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reporting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245864" y="1463040"/>
            <a:ext cx="3468624" cy="47091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45864" y="1463040"/>
            <a:ext cx="3468624" cy="64008"/>
          </a:xfrm>
          <a:prstGeom prst="rect">
            <a:avLst/>
          </a:prstGeom>
          <a:solidFill>
            <a:srgbClr val="F87171"/>
          </a:solidFill>
          <a:ln/>
        </p:spPr>
      </p:sp>
      <p:pic>
        <p:nvPicPr>
          <p:cNvPr id="21" name="Image 1" descr="public/logos/nabe-eldiya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496" y="1691640"/>
            <a:ext cx="1737360" cy="104241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474464" y="2816352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HOSPITALITY · ABU DHABI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474464" y="3072384"/>
            <a:ext cx="30114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Nabe Eldiyafa Brand &amp; Digital Ecosystem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4474464" y="3803904"/>
            <a:ext cx="301142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digital launch for a heritage Damascene restaurant — brand identity refresh, a bilingual reservations website, and a 12-month social media programme that filled weekend covers.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565904" y="5074920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565904" y="5067605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identity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4565904" y="5422392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565904" y="5415077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site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4565904" y="5769864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565904" y="5762549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campaign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43088" y="1463040"/>
            <a:ext cx="3468624" cy="47091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943088" y="1463040"/>
            <a:ext cx="3468624" cy="64008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3" name="Image 2" descr="public/logos/diamond-ev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720" y="1691640"/>
            <a:ext cx="1737360" cy="104241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171688" y="2816352"/>
            <a:ext cx="3011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· UAE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8171688" y="3072384"/>
            <a:ext cx="30114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Diamond Events — Weddings &amp; Flowers</a:t>
            </a:r>
            <a:endParaRPr lang="en-US" sz="1350" dirty="0"/>
          </a:p>
        </p:txBody>
      </p:sp>
      <p:sp>
        <p:nvSpPr>
          <p:cNvPr id="36" name="Text 31"/>
          <p:cNvSpPr/>
          <p:nvPr/>
        </p:nvSpPr>
        <p:spPr>
          <a:xfrm>
            <a:off x="8171688" y="3803904"/>
            <a:ext cx="3011424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luxury identity and digital launch for a weddings-and-flowers studio — gold-standard branding, a portfolio website with enquiry and booking flows, and an Instagram-first content system.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8263128" y="5074920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263128" y="5067605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Luxury brand identity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8263128" y="5422392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263128" y="5415077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Booking website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8263128" y="5769864"/>
            <a:ext cx="28285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263128" y="5762549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Content system</a:t>
            </a:r>
            <a:endParaRPr lang="en-US" sz="850" dirty="0"/>
          </a:p>
        </p:txBody>
      </p:sp>
      <p:sp>
        <p:nvSpPr>
          <p:cNvPr id="43" name="Text 3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Choose WeThink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914400"/>
            <a:ext cx="502920" cy="41148"/>
          </a:xfrm>
          <a:prstGeom prst="rect">
            <a:avLst/>
          </a:prstGeom>
          <a:ln/>
        </p:spPr>
      </p:sp>
      <p:sp>
        <p:nvSpPr>
          <p:cNvPr id="6" name="Shape 4"/>
          <p:cNvSpPr/>
          <p:nvPr/>
        </p:nvSpPr>
        <p:spPr>
          <a:xfrm>
            <a:off x="548640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Partner, Every Layer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Strategy, engineering, design, and operations under one roof — no vendor patchwork, no finger-pointing.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45864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4464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74464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Founder-Level Attention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74464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Founder-led and delivery-obsessed. Senior people stay on your account from kickoff to long after launch.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943088" y="137160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71688" y="15361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171688" y="201168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UAE-Rooted, Gulf-Ready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171688" y="239572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Arabic/English delivery, UAE Vision 2031 alignment, and local regulatory awareness (NESA, PDPL).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77240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By Default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77240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27001-aligned practices and zero-trust thinking baked into every build — not bolted on afterwards.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45864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74464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474464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Without Chaos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474464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MVPs in 8–12 weeks with agile governance: weekly demos, transparent backlogs, no surprises.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943088" y="3794760"/>
            <a:ext cx="3468624" cy="2148840"/>
          </a:xfrm>
          <a:prstGeom prst="roundRect">
            <a:avLst>
              <a:gd name="adj" fmla="val 4255"/>
            </a:avLst>
          </a:prstGeom>
          <a:solidFill>
            <a:srgbClr val="0A1D21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71688" y="39593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171688" y="443484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Commercials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171688" y="4818888"/>
            <a:ext cx="30114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pricing, published retainers, and fixed-scope options. No hidden fees, cancel anytime.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Expertise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Vendor-neutral by principle — we recommend and build on the platforms that fit your goals, not our margins.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37360"/>
            <a:ext cx="2571750" cy="640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INFRASTRUCTURE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55117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907792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Azure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520" y="3264408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Cloud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3621024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877824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520" y="3977640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Terraform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31520" y="4334256"/>
            <a:ext cx="73152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1558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21558" y="1737360"/>
            <a:ext cx="257175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3504438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504438" y="2551176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3650742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&amp; Next.js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04438" y="2907792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>
          <a:xfrm>
            <a:off x="3650742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504438" y="3264408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3650742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Flutter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504438" y="3621024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3650742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Native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504438" y="3977640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4" name="Text 32"/>
          <p:cNvSpPr/>
          <p:nvPr/>
        </p:nvSpPr>
        <p:spPr>
          <a:xfrm>
            <a:off x="3650742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504438" y="4334256"/>
            <a:ext cx="731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6" name="Text 34"/>
          <p:cNvSpPr/>
          <p:nvPr/>
        </p:nvSpPr>
        <p:spPr>
          <a:xfrm>
            <a:off x="3650742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MongoDB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094476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94476" y="1737360"/>
            <a:ext cx="2571750" cy="640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9" name="Text 37"/>
          <p:cNvSpPr/>
          <p:nvPr/>
        </p:nvSpPr>
        <p:spPr>
          <a:xfrm>
            <a:off x="6277356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AI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77356" y="255117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Text 39"/>
          <p:cNvSpPr/>
          <p:nvPr/>
        </p:nvSpPr>
        <p:spPr>
          <a:xfrm>
            <a:off x="6423660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277356" y="2907792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3" name="Text 41"/>
          <p:cNvSpPr/>
          <p:nvPr/>
        </p:nvSpPr>
        <p:spPr>
          <a:xfrm>
            <a:off x="6423660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Warehousing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77356" y="3264408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5" name="Text 43"/>
          <p:cNvSpPr/>
          <p:nvPr/>
        </p:nvSpPr>
        <p:spPr>
          <a:xfrm>
            <a:off x="6423660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Models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277356" y="3621024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Text 45"/>
          <p:cNvSpPr/>
          <p:nvPr/>
        </p:nvSpPr>
        <p:spPr>
          <a:xfrm>
            <a:off x="6423660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Analytics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77356" y="3977640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Text 47"/>
          <p:cNvSpPr/>
          <p:nvPr/>
        </p:nvSpPr>
        <p:spPr>
          <a:xfrm>
            <a:off x="6423660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Assistants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277356" y="4334256"/>
            <a:ext cx="73152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1" name="Text 49"/>
          <p:cNvSpPr/>
          <p:nvPr/>
        </p:nvSpPr>
        <p:spPr>
          <a:xfrm>
            <a:off x="6423660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Pipelines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867394" y="1737360"/>
            <a:ext cx="2571750" cy="29260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67394" y="1737360"/>
            <a:ext cx="2571750" cy="6400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4" name="Text 52"/>
          <p:cNvSpPr/>
          <p:nvPr/>
        </p:nvSpPr>
        <p:spPr>
          <a:xfrm>
            <a:off x="9050274" y="1901952"/>
            <a:ext cx="22059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DELIVERY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9050274" y="255117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6" name="Text 54"/>
          <p:cNvSpPr/>
          <p:nvPr/>
        </p:nvSpPr>
        <p:spPr>
          <a:xfrm>
            <a:off x="9196578" y="245059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Trust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9050274" y="2907792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8" name="Text 56"/>
          <p:cNvSpPr/>
          <p:nvPr/>
        </p:nvSpPr>
        <p:spPr>
          <a:xfrm>
            <a:off x="9196578" y="2807208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Monitoring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050274" y="3264408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0" name="Text 58"/>
          <p:cNvSpPr/>
          <p:nvPr/>
        </p:nvSpPr>
        <p:spPr>
          <a:xfrm>
            <a:off x="9196578" y="3163824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&amp; CI/CD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050274" y="3621024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2" name="Text 60"/>
          <p:cNvSpPr/>
          <p:nvPr/>
        </p:nvSpPr>
        <p:spPr>
          <a:xfrm>
            <a:off x="9196578" y="3520440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DevOps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9050274" y="3977640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4" name="Text 62"/>
          <p:cNvSpPr/>
          <p:nvPr/>
        </p:nvSpPr>
        <p:spPr>
          <a:xfrm>
            <a:off x="9196578" y="3877056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9050274" y="4334256"/>
            <a:ext cx="73152" cy="7315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6" name="Text 64"/>
          <p:cNvSpPr/>
          <p:nvPr/>
        </p:nvSpPr>
        <p:spPr>
          <a:xfrm>
            <a:off x="9196578" y="4233672"/>
            <a:ext cx="206883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Integration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Standards &amp; Compliance Awareness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566928" y="5504688"/>
            <a:ext cx="502920" cy="41148"/>
          </a:xfrm>
          <a:prstGeom prst="rect">
            <a:avLst/>
          </a:prstGeom>
          <a:ln/>
        </p:spPr>
      </p:sp>
      <p:sp>
        <p:nvSpPr>
          <p:cNvPr id="69" name="Shape 67"/>
          <p:cNvSpPr/>
          <p:nvPr/>
        </p:nvSpPr>
        <p:spPr>
          <a:xfrm>
            <a:off x="548640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48640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(aligned)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397252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397252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NESA / UAE IA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245864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245864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PDPL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094476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094476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WCAG Accessibility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7943088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E938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943088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OWASP Practices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9791700" y="5669280"/>
            <a:ext cx="16657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91700" y="5661965"/>
            <a:ext cx="16657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Gov Digital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Engagement Models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 AED retainers — no hidden fees, cancel anytime. Fixed-scope projects and dedicated teams also available.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1,499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/month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77240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Reliable IT support and a clear technology roadmap for small businesses.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49808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helpdesk support (8×5)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49808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87552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&amp; device monitoring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9808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87552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security health check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49808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readiness assessment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87552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reports &amp; advisory call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49808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87552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15 users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5864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22225">
            <a:solidFill>
              <a:srgbClr val="14B8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1584" y="1645920"/>
            <a:ext cx="3377184" cy="82296"/>
          </a:xfrm>
          <a:prstGeom prst="rect">
            <a:avLst/>
          </a:prstGeom>
          <a:ln/>
        </p:spPr>
      </p:sp>
      <p:sp>
        <p:nvSpPr>
          <p:cNvPr id="25" name="Shape 23"/>
          <p:cNvSpPr/>
          <p:nvPr/>
        </p:nvSpPr>
        <p:spPr>
          <a:xfrm>
            <a:off x="6297168" y="1847088"/>
            <a:ext cx="1234440" cy="292608"/>
          </a:xfrm>
          <a:prstGeom prst="roundRect">
            <a:avLst>
              <a:gd name="adj" fmla="val 50000"/>
            </a:avLst>
          </a:prstGeom>
          <a:ln/>
        </p:spPr>
      </p:sp>
      <p:sp>
        <p:nvSpPr>
          <p:cNvPr id="26" name="Text 24"/>
          <p:cNvSpPr/>
          <p:nvPr/>
        </p:nvSpPr>
        <p:spPr>
          <a:xfrm>
            <a:off x="6297168" y="182880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POPULAR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474464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74464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AED 4,499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/month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474464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IT + cloud for scaling teams that want a hands-on partner.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47032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84776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Essentials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47032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4776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24×7 monitoring &amp; response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447032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84776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architecture &amp; cost control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447032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84776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hardening &amp; training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447032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84776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Quarterly strategy workshops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447032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684776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account manager · 60 users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43088" y="1645920"/>
            <a:ext cx="3468624" cy="434340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1688" y="1828800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71688" y="2194560"/>
            <a:ext cx="3011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</a:t>
            </a:r>
            <a:pPr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8171688" y="2706624"/>
            <a:ext cx="30114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transformation programmes, scoped and priced per engagement.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144256" y="34015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82000" y="34015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Growth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144256" y="381304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82000" y="381304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digital transformation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144256" y="422452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82000" y="422452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software &amp; AI solutions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144256" y="463600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82000" y="463600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 / NESA programmes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144256" y="504748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382000" y="504748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engineering team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144256" y="5458968"/>
            <a:ext cx="228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382000" y="5458968"/>
            <a:ext cx="28285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SLAs &amp; user count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8640" y="614476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prices exclusive of VAT (5%). Yearly billing includes two months free.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Brands In Our Portfolio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024128"/>
            <a:ext cx="502920" cy="41148"/>
          </a:xfrm>
          <a:prstGeom prst="rect">
            <a:avLst/>
          </a:prstGeom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Identities we designed and launched — English and Arabic, across fintech, logistics, retail, wellness, F&amp;B, media, events, and more.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12064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8" name="Image 0" descr="public/logos/nexa-p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56232"/>
            <a:ext cx="1523390" cy="9140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12064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Nexa Pay · Fintech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776118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11" name="Image 1" descr="public/logos/cargo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26" y="1856232"/>
            <a:ext cx="1523390" cy="9140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776118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CargoFlow · Logistics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5040173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14" name="Image 2" descr="public/logos/lumo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781" y="1856232"/>
            <a:ext cx="1523390" cy="91403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040173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Lumora · Skincare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7304227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17" name="Image 3" descr="public/logos/pulse-lo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6835" y="1856232"/>
            <a:ext cx="1523390" cy="91403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04227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Loop · Wellness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9568282" y="1746504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0" name="Image 4" descr="public/logos/satrek-fash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0890" y="1856232"/>
            <a:ext cx="1523390" cy="91403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568282" y="2825496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سترك · Fashion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512064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3" name="Image 5" descr="public/logos/qahwat-al-asal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3392424"/>
            <a:ext cx="1523390" cy="91403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12064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قهوة الأصالة · Café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2776118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6" name="Image 6" descr="public/logos/anma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68726" y="3392424"/>
            <a:ext cx="1523390" cy="91403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2776118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أنماط · Fashion</a:t>
            </a:r>
            <a:endParaRPr lang="en-US" sz="800" dirty="0"/>
          </a:p>
        </p:txBody>
      </p:sp>
      <p:sp>
        <p:nvSpPr>
          <p:cNvPr id="28" name="Shape 19"/>
          <p:cNvSpPr/>
          <p:nvPr/>
        </p:nvSpPr>
        <p:spPr>
          <a:xfrm>
            <a:off x="5040173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29" name="Image 7" descr="public/logos/abeer-al-diya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2781" y="3392424"/>
            <a:ext cx="1523390" cy="91403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40173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عبير الديار · Fragrance</a:t>
            </a:r>
            <a:endParaRPr lang="en-US" sz="800" dirty="0"/>
          </a:p>
        </p:txBody>
      </p:sp>
      <p:sp>
        <p:nvSpPr>
          <p:cNvPr id="31" name="Shape 21"/>
          <p:cNvSpPr/>
          <p:nvPr/>
        </p:nvSpPr>
        <p:spPr>
          <a:xfrm>
            <a:off x="7304227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32" name="Image 8" descr="public/logos/masak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96835" y="3392424"/>
            <a:ext cx="1523390" cy="914034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304227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مساكن · Real Estate</a:t>
            </a:r>
            <a:endParaRPr lang="en-US" sz="800" dirty="0"/>
          </a:p>
        </p:txBody>
      </p:sp>
      <p:sp>
        <p:nvSpPr>
          <p:cNvPr id="34" name="Shape 23"/>
          <p:cNvSpPr/>
          <p:nvPr/>
        </p:nvSpPr>
        <p:spPr>
          <a:xfrm>
            <a:off x="9568282" y="3282696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35" name="Image 9" descr="public/logos/fikr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60890" y="3392424"/>
            <a:ext cx="1523390" cy="914034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9568282" y="4361688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فكرة · Creative Studio</a:t>
            </a:r>
            <a:endParaRPr lang="en-US" sz="800" dirty="0"/>
          </a:p>
        </p:txBody>
      </p:sp>
      <p:sp>
        <p:nvSpPr>
          <p:cNvPr id="37" name="Shape 25"/>
          <p:cNvSpPr/>
          <p:nvPr/>
        </p:nvSpPr>
        <p:spPr>
          <a:xfrm>
            <a:off x="512064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38" name="Image 10" descr="public/logos/basm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4928616"/>
            <a:ext cx="1523390" cy="914034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512064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بصمة · Software House</a:t>
            </a:r>
            <a:endParaRPr lang="en-US" sz="800" dirty="0"/>
          </a:p>
        </p:txBody>
      </p:sp>
      <p:sp>
        <p:nvSpPr>
          <p:cNvPr id="40" name="Shape 27"/>
          <p:cNvSpPr/>
          <p:nvPr/>
        </p:nvSpPr>
        <p:spPr>
          <a:xfrm>
            <a:off x="2776118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41" name="Image 11" descr="public/logos/nashr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68726" y="4928616"/>
            <a:ext cx="1523390" cy="914034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2776118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نشرة · News Platform</a:t>
            </a:r>
            <a:endParaRPr lang="en-US" sz="800" dirty="0"/>
          </a:p>
        </p:txBody>
      </p:sp>
      <p:sp>
        <p:nvSpPr>
          <p:cNvPr id="43" name="Shape 29"/>
          <p:cNvSpPr/>
          <p:nvPr/>
        </p:nvSpPr>
        <p:spPr>
          <a:xfrm>
            <a:off x="5040173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44" name="Image 12" descr="public/logos/wijdan-yog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2781" y="4928616"/>
            <a:ext cx="1523390" cy="914034"/>
          </a:xfrm>
          <a:prstGeom prst="rect">
            <a:avLst/>
          </a:prstGeom>
        </p:spPr>
      </p:pic>
      <p:sp>
        <p:nvSpPr>
          <p:cNvPr id="45" name="Text 30"/>
          <p:cNvSpPr/>
          <p:nvPr/>
        </p:nvSpPr>
        <p:spPr>
          <a:xfrm>
            <a:off x="5040173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وجدان · Yoga Space</a:t>
            </a:r>
            <a:endParaRPr lang="en-US" sz="800" dirty="0"/>
          </a:p>
        </p:txBody>
      </p:sp>
      <p:sp>
        <p:nvSpPr>
          <p:cNvPr id="46" name="Shape 31"/>
          <p:cNvSpPr/>
          <p:nvPr/>
        </p:nvSpPr>
        <p:spPr>
          <a:xfrm>
            <a:off x="7304227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47" name="Image 13" descr="public/logos/vet-clinic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96835" y="4928616"/>
            <a:ext cx="1523390" cy="914034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7304227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Vet Clinic · Pet Care</a:t>
            </a:r>
            <a:endParaRPr lang="en-US" sz="800" dirty="0"/>
          </a:p>
        </p:txBody>
      </p:sp>
      <p:sp>
        <p:nvSpPr>
          <p:cNvPr id="49" name="Shape 33"/>
          <p:cNvSpPr/>
          <p:nvPr/>
        </p:nvSpPr>
        <p:spPr>
          <a:xfrm>
            <a:off x="9568282" y="4818888"/>
            <a:ext cx="210860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E9E6"/>
            </a:solidFill>
            <a:prstDash val="solid"/>
          </a:ln>
        </p:spPr>
      </p:sp>
      <p:pic>
        <p:nvPicPr>
          <p:cNvPr id="50" name="Image 14" descr="public/logos/respawn-l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60890" y="4928616"/>
            <a:ext cx="1523390" cy="914034"/>
          </a:xfrm>
          <a:prstGeom prst="rect">
            <a:avLst/>
          </a:prstGeom>
        </p:spPr>
      </p:pic>
      <p:sp>
        <p:nvSpPr>
          <p:cNvPr id="51" name="Text 34"/>
          <p:cNvSpPr/>
          <p:nvPr/>
        </p:nvSpPr>
        <p:spPr>
          <a:xfrm>
            <a:off x="9568282" y="5897880"/>
            <a:ext cx="210860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Respawn Lab · Gaming</a:t>
            </a:r>
            <a:endParaRPr lang="en-US" sz="800" dirty="0"/>
          </a:p>
        </p:txBody>
      </p:sp>
      <p:sp>
        <p:nvSpPr>
          <p:cNvPr id="52" name="Text 3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23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WeThink</a:t>
            </a:r>
            <a:pPr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Digital Smart Solutions  ·  wethink.ae</a:t>
            </a:r>
            <a:endParaRPr lang="en-US" sz="850" dirty="0"/>
          </a:p>
        </p:txBody>
      </p:sp>
      <p:sp>
        <p:nvSpPr>
          <p:cNvPr id="53" name="Text 3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67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62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ln/>
        </p:spPr>
      </p:sp>
      <p:pic>
        <p:nvPicPr>
          <p:cNvPr id="4" name="Image 0" descr="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2996" y="8686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182880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Think. </a:t>
            </a:r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Plan. 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2697480"/>
            <a:ext cx="8165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9E6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Since 2019, WeThink has been helping UAE businesses and founders turn ideas into impactful realities. Let's build what's next — together.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3931920"/>
            <a:ext cx="292608" cy="320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www.wethink.ae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58718" y="3931920"/>
            <a:ext cx="292608" cy="320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8"/>
          <p:cNvSpPr/>
          <p:nvPr/>
        </p:nvSpPr>
        <p:spPr>
          <a:xfrm>
            <a:off x="3458718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458718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info@wethink.ae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1636" y="3931920"/>
            <a:ext cx="292608" cy="320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1"/>
          <p:cNvSpPr/>
          <p:nvPr/>
        </p:nvSpPr>
        <p:spPr>
          <a:xfrm>
            <a:off x="6231636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/ WHATSAPP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231636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+971 50 312 5078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004554" y="3931920"/>
            <a:ext cx="292608" cy="320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4"/>
          <p:cNvSpPr/>
          <p:nvPr/>
        </p:nvSpPr>
        <p:spPr>
          <a:xfrm>
            <a:off x="9004554" y="4023360"/>
            <a:ext cx="249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HEADQUARTERS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004554" y="4297680"/>
            <a:ext cx="24985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Pixel, Al Reem Island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Abu Dhabi, UAE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0" y="5577840"/>
            <a:ext cx="12188952" cy="10973"/>
          </a:xfrm>
          <a:prstGeom prst="rect">
            <a:avLst/>
          </a:prstGeom>
          <a:solidFill>
            <a:srgbClr val="9FB8B4">
              <a:alpha val="4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0" y="576072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Instagram  @wethink.ae      ·      LinkedIn  Rasha Aljalam      ·      Facebook  wethink.ae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0" y="630936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FB8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WeThink Information Technology Consulting. All rights reserved.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2026-07-17T10:52:10Z</dcterms:created>
  <dcterms:modified xsi:type="dcterms:W3CDTF">2026-07-17T10:52:10Z</dcterms:modified>
</cp:coreProperties>
</file>