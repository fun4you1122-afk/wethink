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image" Target="../media/image-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pic>
        <p:nvPicPr>
          <p:cNvPr id="3" name="Image 0" descr="public/profile-assets/off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D21">
              <a:alpha val="3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3749040"/>
            <a:ext cx="12192000" cy="3108960"/>
          </a:xfrm>
          <a:prstGeom prst="rect">
            <a:avLst/>
          </a:prstGeom>
          <a:solidFill>
            <a:srgbClr val="0A1D21">
              <a:alpha val="6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437149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Shape 4"/>
          <p:cNvSpPr/>
          <p:nvPr/>
        </p:nvSpPr>
        <p:spPr>
          <a:xfrm>
            <a:off x="435320" y="0"/>
            <a:ext cx="437149" cy="82296"/>
          </a:xfrm>
          <a:prstGeom prst="rect">
            <a:avLst/>
          </a:prstGeom>
          <a:solidFill>
            <a:srgbClr val="18B3A9"/>
          </a:solidFill>
          <a:ln/>
        </p:spPr>
      </p:sp>
      <p:sp>
        <p:nvSpPr>
          <p:cNvPr id="8" name="Shape 5"/>
          <p:cNvSpPr/>
          <p:nvPr/>
        </p:nvSpPr>
        <p:spPr>
          <a:xfrm>
            <a:off x="870639" y="0"/>
            <a:ext cx="437149" cy="82296"/>
          </a:xfrm>
          <a:prstGeom prst="rect">
            <a:avLst/>
          </a:prstGeom>
          <a:solidFill>
            <a:srgbClr val="1CAFAB"/>
          </a:solidFill>
          <a:ln/>
        </p:spPr>
      </p:sp>
      <p:sp>
        <p:nvSpPr>
          <p:cNvPr id="9" name="Shape 6"/>
          <p:cNvSpPr/>
          <p:nvPr/>
        </p:nvSpPr>
        <p:spPr>
          <a:xfrm>
            <a:off x="1305959" y="0"/>
            <a:ext cx="437149" cy="82296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10" name="Shape 7"/>
          <p:cNvSpPr/>
          <p:nvPr/>
        </p:nvSpPr>
        <p:spPr>
          <a:xfrm>
            <a:off x="1741279" y="0"/>
            <a:ext cx="437149" cy="82296"/>
          </a:xfrm>
          <a:prstGeom prst="rect">
            <a:avLst/>
          </a:prstGeom>
          <a:solidFill>
            <a:srgbClr val="23A5B1"/>
          </a:solidFill>
          <a:ln/>
        </p:spPr>
      </p:sp>
      <p:sp>
        <p:nvSpPr>
          <p:cNvPr id="11" name="Shape 8"/>
          <p:cNvSpPr/>
          <p:nvPr/>
        </p:nvSpPr>
        <p:spPr>
          <a:xfrm>
            <a:off x="2176599" y="0"/>
            <a:ext cx="437149" cy="82296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12" name="Shape 9"/>
          <p:cNvSpPr/>
          <p:nvPr/>
        </p:nvSpPr>
        <p:spPr>
          <a:xfrm>
            <a:off x="2611918" y="0"/>
            <a:ext cx="437149" cy="82296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3" name="Shape 10"/>
          <p:cNvSpPr/>
          <p:nvPr/>
        </p:nvSpPr>
        <p:spPr>
          <a:xfrm>
            <a:off x="3047238" y="0"/>
            <a:ext cx="437149" cy="82296"/>
          </a:xfrm>
          <a:prstGeom prst="rect">
            <a:avLst/>
          </a:prstGeom>
          <a:solidFill>
            <a:srgbClr val="2F97B8"/>
          </a:solidFill>
          <a:ln/>
        </p:spPr>
      </p:sp>
      <p:sp>
        <p:nvSpPr>
          <p:cNvPr id="14" name="Shape 11"/>
          <p:cNvSpPr/>
          <p:nvPr/>
        </p:nvSpPr>
        <p:spPr>
          <a:xfrm>
            <a:off x="3482558" y="0"/>
            <a:ext cx="437149" cy="82296"/>
          </a:xfrm>
          <a:prstGeom prst="rect">
            <a:avLst/>
          </a:prstGeom>
          <a:solidFill>
            <a:srgbClr val="3393BB"/>
          </a:solidFill>
          <a:ln/>
        </p:spPr>
      </p:sp>
      <p:sp>
        <p:nvSpPr>
          <p:cNvPr id="15" name="Shape 12"/>
          <p:cNvSpPr/>
          <p:nvPr/>
        </p:nvSpPr>
        <p:spPr>
          <a:xfrm>
            <a:off x="3917877" y="0"/>
            <a:ext cx="437149" cy="82296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6" name="Shape 13"/>
          <p:cNvSpPr/>
          <p:nvPr/>
        </p:nvSpPr>
        <p:spPr>
          <a:xfrm>
            <a:off x="4353197" y="0"/>
            <a:ext cx="437149" cy="82296"/>
          </a:xfrm>
          <a:prstGeom prst="rect">
            <a:avLst/>
          </a:prstGeom>
          <a:solidFill>
            <a:srgbClr val="3B89C0"/>
          </a:solidFill>
          <a:ln/>
        </p:spPr>
      </p:sp>
      <p:sp>
        <p:nvSpPr>
          <p:cNvPr id="17" name="Shape 14"/>
          <p:cNvSpPr/>
          <p:nvPr/>
        </p:nvSpPr>
        <p:spPr>
          <a:xfrm>
            <a:off x="4788517" y="0"/>
            <a:ext cx="437149" cy="82296"/>
          </a:xfrm>
          <a:prstGeom prst="rect">
            <a:avLst/>
          </a:prstGeom>
          <a:solidFill>
            <a:srgbClr val="3E85C3"/>
          </a:solidFill>
          <a:ln/>
        </p:spPr>
      </p:sp>
      <p:sp>
        <p:nvSpPr>
          <p:cNvPr id="18" name="Shape 15"/>
          <p:cNvSpPr/>
          <p:nvPr/>
        </p:nvSpPr>
        <p:spPr>
          <a:xfrm>
            <a:off x="5223837" y="0"/>
            <a:ext cx="437149" cy="82296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9" name="Shape 16"/>
          <p:cNvSpPr/>
          <p:nvPr/>
        </p:nvSpPr>
        <p:spPr>
          <a:xfrm>
            <a:off x="5659156" y="0"/>
            <a:ext cx="437149" cy="82296"/>
          </a:xfrm>
          <a:prstGeom prst="rect">
            <a:avLst/>
          </a:prstGeom>
          <a:solidFill>
            <a:srgbClr val="467BC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4476" y="0"/>
            <a:ext cx="437149" cy="82296"/>
          </a:xfrm>
          <a:prstGeom prst="rect">
            <a:avLst/>
          </a:prstGeom>
          <a:solidFill>
            <a:srgbClr val="4A77CB"/>
          </a:solidFill>
          <a:ln/>
        </p:spPr>
      </p:sp>
      <p:sp>
        <p:nvSpPr>
          <p:cNvPr id="21" name="Shape 18"/>
          <p:cNvSpPr/>
          <p:nvPr/>
        </p:nvSpPr>
        <p:spPr>
          <a:xfrm>
            <a:off x="6529796" y="0"/>
            <a:ext cx="437149" cy="82296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22" name="Shape 19"/>
          <p:cNvSpPr/>
          <p:nvPr/>
        </p:nvSpPr>
        <p:spPr>
          <a:xfrm>
            <a:off x="6965115" y="0"/>
            <a:ext cx="437149" cy="82296"/>
          </a:xfrm>
          <a:prstGeom prst="rect">
            <a:avLst/>
          </a:prstGeom>
          <a:solidFill>
            <a:srgbClr val="526DD0"/>
          </a:solidFill>
          <a:ln/>
        </p:spPr>
      </p:sp>
      <p:sp>
        <p:nvSpPr>
          <p:cNvPr id="23" name="Shape 20"/>
          <p:cNvSpPr/>
          <p:nvPr/>
        </p:nvSpPr>
        <p:spPr>
          <a:xfrm>
            <a:off x="7400435" y="0"/>
            <a:ext cx="437149" cy="82296"/>
          </a:xfrm>
          <a:prstGeom prst="rect">
            <a:avLst/>
          </a:prstGeom>
          <a:solidFill>
            <a:srgbClr val="5569D3"/>
          </a:solidFill>
          <a:ln/>
        </p:spPr>
      </p:sp>
      <p:sp>
        <p:nvSpPr>
          <p:cNvPr id="24" name="Shape 21"/>
          <p:cNvSpPr/>
          <p:nvPr/>
        </p:nvSpPr>
        <p:spPr>
          <a:xfrm>
            <a:off x="7835755" y="0"/>
            <a:ext cx="437149" cy="82296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25" name="Shape 22"/>
          <p:cNvSpPr/>
          <p:nvPr/>
        </p:nvSpPr>
        <p:spPr>
          <a:xfrm>
            <a:off x="8271075" y="0"/>
            <a:ext cx="437149" cy="82296"/>
          </a:xfrm>
          <a:prstGeom prst="rect">
            <a:avLst/>
          </a:prstGeom>
          <a:solidFill>
            <a:srgbClr val="5D5FD8"/>
          </a:solidFill>
          <a:ln/>
        </p:spPr>
      </p:sp>
      <p:sp>
        <p:nvSpPr>
          <p:cNvPr id="26" name="Shape 23"/>
          <p:cNvSpPr/>
          <p:nvPr/>
        </p:nvSpPr>
        <p:spPr>
          <a:xfrm>
            <a:off x="8706394" y="0"/>
            <a:ext cx="437149" cy="82296"/>
          </a:xfrm>
          <a:prstGeom prst="rect">
            <a:avLst/>
          </a:prstGeom>
          <a:solidFill>
            <a:srgbClr val="615BDB"/>
          </a:solidFill>
          <a:ln/>
        </p:spPr>
      </p:sp>
      <p:sp>
        <p:nvSpPr>
          <p:cNvPr id="27" name="Shape 24"/>
          <p:cNvSpPr/>
          <p:nvPr/>
        </p:nvSpPr>
        <p:spPr>
          <a:xfrm>
            <a:off x="9141714" y="0"/>
            <a:ext cx="437149" cy="82296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28" name="Shape 25"/>
          <p:cNvSpPr/>
          <p:nvPr/>
        </p:nvSpPr>
        <p:spPr>
          <a:xfrm>
            <a:off x="9577034" y="0"/>
            <a:ext cx="437149" cy="82296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29" name="Shape 26"/>
          <p:cNvSpPr/>
          <p:nvPr/>
        </p:nvSpPr>
        <p:spPr>
          <a:xfrm>
            <a:off x="10012353" y="0"/>
            <a:ext cx="437149" cy="82296"/>
          </a:xfrm>
          <a:prstGeom prst="rect">
            <a:avLst/>
          </a:prstGeom>
          <a:solidFill>
            <a:srgbClr val="6D4DE2"/>
          </a:solidFill>
          <a:ln/>
        </p:spPr>
      </p:sp>
      <p:sp>
        <p:nvSpPr>
          <p:cNvPr id="30" name="Shape 27"/>
          <p:cNvSpPr/>
          <p:nvPr/>
        </p:nvSpPr>
        <p:spPr>
          <a:xfrm>
            <a:off x="10447673" y="0"/>
            <a:ext cx="437149" cy="82296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31" name="Shape 28"/>
          <p:cNvSpPr/>
          <p:nvPr/>
        </p:nvSpPr>
        <p:spPr>
          <a:xfrm>
            <a:off x="10882993" y="0"/>
            <a:ext cx="437149" cy="82296"/>
          </a:xfrm>
          <a:prstGeom prst="rect">
            <a:avLst/>
          </a:prstGeom>
          <a:solidFill>
            <a:srgbClr val="7443E8"/>
          </a:solidFill>
          <a:ln/>
        </p:spPr>
      </p:sp>
      <p:sp>
        <p:nvSpPr>
          <p:cNvPr id="32" name="Shape 29"/>
          <p:cNvSpPr/>
          <p:nvPr/>
        </p:nvSpPr>
        <p:spPr>
          <a:xfrm>
            <a:off x="11318313" y="0"/>
            <a:ext cx="437149" cy="82296"/>
          </a:xfrm>
          <a:prstGeom prst="rect">
            <a:avLst/>
          </a:prstGeom>
          <a:solidFill>
            <a:srgbClr val="783FEA"/>
          </a:solidFill>
          <a:ln/>
        </p:spPr>
      </p:sp>
      <p:sp>
        <p:nvSpPr>
          <p:cNvPr id="33" name="Shape 30"/>
          <p:cNvSpPr/>
          <p:nvPr/>
        </p:nvSpPr>
        <p:spPr>
          <a:xfrm>
            <a:off x="11753632" y="0"/>
            <a:ext cx="437149" cy="82296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34" name="Image 1" descr="publi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546811" cy="546811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1126998" y="369418"/>
            <a:ext cx="18928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</a:t>
            </a:r>
            <a:pPr indent="0" marL="0">
              <a:buNone/>
            </a:pPr>
            <a:r>
              <a:rPr lang="en-US" sz="1955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</a:t>
            </a:r>
            <a:endParaRPr lang="en-US" sz="1955" dirty="0"/>
          </a:p>
        </p:txBody>
      </p:sp>
      <p:sp>
        <p:nvSpPr>
          <p:cNvPr id="36" name="Text 32"/>
          <p:cNvSpPr/>
          <p:nvPr/>
        </p:nvSpPr>
        <p:spPr>
          <a:xfrm>
            <a:off x="1148029" y="726948"/>
            <a:ext cx="2103120" cy="252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8" spc="3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· PLAN · GROW</a:t>
            </a:r>
            <a:endParaRPr lang="en-US" sz="748" dirty="0"/>
          </a:p>
        </p:txBody>
      </p:sp>
      <p:sp>
        <p:nvSpPr>
          <p:cNvPr id="37" name="Shape 33"/>
          <p:cNvSpPr/>
          <p:nvPr/>
        </p:nvSpPr>
        <p:spPr>
          <a:xfrm>
            <a:off x="960120" y="4069080"/>
            <a:ext cx="25603" cy="1783080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38" name="Text 34"/>
          <p:cNvSpPr/>
          <p:nvPr/>
        </p:nvSpPr>
        <p:spPr>
          <a:xfrm>
            <a:off x="1234440" y="39776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</a:t>
            </a:r>
            <a:endParaRPr lang="en-US" sz="4200" dirty="0"/>
          </a:p>
        </p:txBody>
      </p:sp>
      <p:sp>
        <p:nvSpPr>
          <p:cNvPr id="39" name="Shape 35"/>
          <p:cNvSpPr/>
          <p:nvPr/>
        </p:nvSpPr>
        <p:spPr>
          <a:xfrm>
            <a:off x="1261872" y="5504688"/>
            <a:ext cx="128016" cy="47549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0" name="Shape 36"/>
          <p:cNvSpPr/>
          <p:nvPr/>
        </p:nvSpPr>
        <p:spPr>
          <a:xfrm>
            <a:off x="1261872" y="5550408"/>
            <a:ext cx="128016" cy="47549"/>
          </a:xfrm>
          <a:prstGeom prst="rect">
            <a:avLst/>
          </a:prstGeom>
          <a:solidFill>
            <a:srgbClr val="23A6B0"/>
          </a:solidFill>
          <a:ln/>
        </p:spPr>
      </p:sp>
      <p:sp>
        <p:nvSpPr>
          <p:cNvPr id="41" name="Shape 37"/>
          <p:cNvSpPr/>
          <p:nvPr/>
        </p:nvSpPr>
        <p:spPr>
          <a:xfrm>
            <a:off x="1261872" y="5596128"/>
            <a:ext cx="128016" cy="47549"/>
          </a:xfrm>
          <a:prstGeom prst="rect">
            <a:avLst/>
          </a:prstGeom>
          <a:solidFill>
            <a:srgbClr val="3294BA"/>
          </a:solidFill>
          <a:ln/>
        </p:spPr>
      </p:sp>
      <p:sp>
        <p:nvSpPr>
          <p:cNvPr id="42" name="Shape 38"/>
          <p:cNvSpPr/>
          <p:nvPr/>
        </p:nvSpPr>
        <p:spPr>
          <a:xfrm>
            <a:off x="1261872" y="5641848"/>
            <a:ext cx="128016" cy="47549"/>
          </a:xfrm>
          <a:prstGeom prst="rect">
            <a:avLst/>
          </a:prstGeom>
          <a:solidFill>
            <a:srgbClr val="4182C4"/>
          </a:solidFill>
          <a:ln/>
        </p:spPr>
      </p:sp>
      <p:sp>
        <p:nvSpPr>
          <p:cNvPr id="43" name="Shape 39"/>
          <p:cNvSpPr/>
          <p:nvPr/>
        </p:nvSpPr>
        <p:spPr>
          <a:xfrm>
            <a:off x="1261872" y="5687568"/>
            <a:ext cx="128016" cy="47549"/>
          </a:xfrm>
          <a:prstGeom prst="rect">
            <a:avLst/>
          </a:prstGeom>
          <a:solidFill>
            <a:srgbClr val="4F70CF"/>
          </a:solidFill>
          <a:ln/>
        </p:spPr>
      </p:sp>
      <p:sp>
        <p:nvSpPr>
          <p:cNvPr id="44" name="Shape 40"/>
          <p:cNvSpPr/>
          <p:nvPr/>
        </p:nvSpPr>
        <p:spPr>
          <a:xfrm>
            <a:off x="1261872" y="5733288"/>
            <a:ext cx="128016" cy="47549"/>
          </a:xfrm>
          <a:prstGeom prst="rect">
            <a:avLst/>
          </a:prstGeom>
          <a:solidFill>
            <a:srgbClr val="5E5ED9"/>
          </a:solidFill>
          <a:ln/>
        </p:spPr>
      </p:sp>
      <p:sp>
        <p:nvSpPr>
          <p:cNvPr id="45" name="Shape 41"/>
          <p:cNvSpPr/>
          <p:nvPr/>
        </p:nvSpPr>
        <p:spPr>
          <a:xfrm>
            <a:off x="1261872" y="5779008"/>
            <a:ext cx="128016" cy="47549"/>
          </a:xfrm>
          <a:prstGeom prst="rect">
            <a:avLst/>
          </a:prstGeom>
          <a:solidFill>
            <a:srgbClr val="6D4CE3"/>
          </a:solidFill>
          <a:ln/>
        </p:spPr>
      </p:sp>
      <p:sp>
        <p:nvSpPr>
          <p:cNvPr id="46" name="Shape 42"/>
          <p:cNvSpPr/>
          <p:nvPr/>
        </p:nvSpPr>
        <p:spPr>
          <a:xfrm>
            <a:off x="1261872" y="5824728"/>
            <a:ext cx="128016" cy="47549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7" name="Text 43"/>
          <p:cNvSpPr/>
          <p:nvPr/>
        </p:nvSpPr>
        <p:spPr>
          <a:xfrm>
            <a:off x="1481328" y="546811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Digital Transformation Partner</a:t>
            </a:r>
            <a:endParaRPr lang="en-US" sz="1800" dirty="0"/>
          </a:p>
        </p:txBody>
      </p:sp>
      <p:sp>
        <p:nvSpPr>
          <p:cNvPr id="48" name="Text 44"/>
          <p:cNvSpPr/>
          <p:nvPr/>
        </p:nvSpPr>
        <p:spPr>
          <a:xfrm>
            <a:off x="1481328" y="5870448"/>
            <a:ext cx="8686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Consulting  –  Cloud  –  Cybersecurity  –  Custom Software  –  Data &amp; AI</a:t>
            </a:r>
            <a:endParaRPr lang="en-US" sz="1150" dirty="0"/>
          </a:p>
        </p:txBody>
      </p:sp>
      <p:sp>
        <p:nvSpPr>
          <p:cNvPr id="49" name="Text 45"/>
          <p:cNvSpPr/>
          <p:nvPr/>
        </p:nvSpPr>
        <p:spPr>
          <a:xfrm>
            <a:off x="548640" y="641908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 Dhabi, United Arab Emirates  ·  Est. 2019  ·  wethink.ae</a:t>
            </a:r>
            <a:endParaRPr lang="en-US" sz="1000" dirty="0"/>
          </a:p>
        </p:txBody>
      </p:sp>
      <p:sp>
        <p:nvSpPr>
          <p:cNvPr id="50" name="Text 46"/>
          <p:cNvSpPr/>
          <p:nvPr/>
        </p:nvSpPr>
        <p:spPr>
          <a:xfrm>
            <a:off x="10543032" y="63093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4" name="Shape 2"/>
          <p:cNvSpPr/>
          <p:nvPr/>
        </p:nvSpPr>
        <p:spPr>
          <a:xfrm>
            <a:off x="4937760" y="0"/>
            <a:ext cx="45720" cy="344729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342900"/>
            <a:ext cx="45720" cy="344729"/>
          </a:xfrm>
          <a:prstGeom prst="rect">
            <a:avLst/>
          </a:prstGeom>
          <a:solidFill>
            <a:srgbClr val="19B1AA"/>
          </a:solidFill>
          <a:ln/>
        </p:spPr>
      </p:sp>
      <p:sp>
        <p:nvSpPr>
          <p:cNvPr id="6" name="Shape 4"/>
          <p:cNvSpPr/>
          <p:nvPr/>
        </p:nvSpPr>
        <p:spPr>
          <a:xfrm>
            <a:off x="4937760" y="685800"/>
            <a:ext cx="45720" cy="344729"/>
          </a:xfrm>
          <a:prstGeom prst="rect">
            <a:avLst/>
          </a:prstGeom>
          <a:solidFill>
            <a:srgbClr val="1FABAD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0" y="1028700"/>
            <a:ext cx="45720" cy="344729"/>
          </a:xfrm>
          <a:prstGeom prst="rect">
            <a:avLst/>
          </a:prstGeom>
          <a:solidFill>
            <a:srgbClr val="24A4B1"/>
          </a:solidFill>
          <a:ln/>
        </p:spPr>
      </p:sp>
      <p:sp>
        <p:nvSpPr>
          <p:cNvPr id="8" name="Shape 6"/>
          <p:cNvSpPr/>
          <p:nvPr/>
        </p:nvSpPr>
        <p:spPr>
          <a:xfrm>
            <a:off x="4937760" y="1371600"/>
            <a:ext cx="45720" cy="344729"/>
          </a:xfrm>
          <a:prstGeom prst="rect">
            <a:avLst/>
          </a:prstGeom>
          <a:solidFill>
            <a:srgbClr val="2A9DB5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1714500"/>
            <a:ext cx="45720" cy="344729"/>
          </a:xfrm>
          <a:prstGeom prst="rect">
            <a:avLst/>
          </a:prstGeom>
          <a:solidFill>
            <a:srgbClr val="2F97B9"/>
          </a:solidFill>
          <a:ln/>
        </p:spPr>
      </p:sp>
      <p:sp>
        <p:nvSpPr>
          <p:cNvPr id="10" name="Shape 8"/>
          <p:cNvSpPr/>
          <p:nvPr/>
        </p:nvSpPr>
        <p:spPr>
          <a:xfrm>
            <a:off x="4937760" y="2057400"/>
            <a:ext cx="45720" cy="344729"/>
          </a:xfrm>
          <a:prstGeom prst="rect">
            <a:avLst/>
          </a:prstGeom>
          <a:solidFill>
            <a:srgbClr val="3590BC"/>
          </a:solidFill>
          <a:ln/>
        </p:spPr>
      </p:sp>
      <p:sp>
        <p:nvSpPr>
          <p:cNvPr id="11" name="Shape 9"/>
          <p:cNvSpPr/>
          <p:nvPr/>
        </p:nvSpPr>
        <p:spPr>
          <a:xfrm>
            <a:off x="4937760" y="2400300"/>
            <a:ext cx="45720" cy="344729"/>
          </a:xfrm>
          <a:prstGeom prst="rect">
            <a:avLst/>
          </a:prstGeom>
          <a:solidFill>
            <a:srgbClr val="3A8AC0"/>
          </a:solidFill>
          <a:ln/>
        </p:spPr>
      </p:sp>
      <p:sp>
        <p:nvSpPr>
          <p:cNvPr id="12" name="Shape 10"/>
          <p:cNvSpPr/>
          <p:nvPr/>
        </p:nvSpPr>
        <p:spPr>
          <a:xfrm>
            <a:off x="4937760" y="2743200"/>
            <a:ext cx="45720" cy="344729"/>
          </a:xfrm>
          <a:prstGeom prst="rect">
            <a:avLst/>
          </a:prstGeom>
          <a:solidFill>
            <a:srgbClr val="4083C4"/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3086100"/>
            <a:ext cx="45720" cy="344729"/>
          </a:xfrm>
          <a:prstGeom prst="rect">
            <a:avLst/>
          </a:prstGeom>
          <a:solidFill>
            <a:srgbClr val="457CC8"/>
          </a:solidFill>
          <a:ln/>
        </p:spPr>
      </p:sp>
      <p:sp>
        <p:nvSpPr>
          <p:cNvPr id="14" name="Shape 12"/>
          <p:cNvSpPr/>
          <p:nvPr/>
        </p:nvSpPr>
        <p:spPr>
          <a:xfrm>
            <a:off x="4937760" y="3429000"/>
            <a:ext cx="45720" cy="344729"/>
          </a:xfrm>
          <a:prstGeom prst="rect">
            <a:avLst/>
          </a:prstGeom>
          <a:solidFill>
            <a:srgbClr val="4B76CB"/>
          </a:solidFill>
          <a:ln/>
        </p:spPr>
      </p:sp>
      <p:sp>
        <p:nvSpPr>
          <p:cNvPr id="15" name="Shape 13"/>
          <p:cNvSpPr/>
          <p:nvPr/>
        </p:nvSpPr>
        <p:spPr>
          <a:xfrm>
            <a:off x="4937760" y="3771900"/>
            <a:ext cx="45720" cy="344729"/>
          </a:xfrm>
          <a:prstGeom prst="rect">
            <a:avLst/>
          </a:prstGeom>
          <a:solidFill>
            <a:srgbClr val="506FC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37760" y="4114800"/>
            <a:ext cx="45720" cy="344729"/>
          </a:xfrm>
          <a:prstGeom prst="rect">
            <a:avLst/>
          </a:prstGeom>
          <a:solidFill>
            <a:srgbClr val="5668D3"/>
          </a:solidFill>
          <a:ln/>
        </p:spPr>
      </p:sp>
      <p:sp>
        <p:nvSpPr>
          <p:cNvPr id="17" name="Shape 15"/>
          <p:cNvSpPr/>
          <p:nvPr/>
        </p:nvSpPr>
        <p:spPr>
          <a:xfrm>
            <a:off x="4937760" y="4457700"/>
            <a:ext cx="45720" cy="344729"/>
          </a:xfrm>
          <a:prstGeom prst="rect">
            <a:avLst/>
          </a:prstGeom>
          <a:solidFill>
            <a:srgbClr val="5B62D7"/>
          </a:solidFill>
          <a:ln/>
        </p:spPr>
      </p:sp>
      <p:sp>
        <p:nvSpPr>
          <p:cNvPr id="18" name="Shape 16"/>
          <p:cNvSpPr/>
          <p:nvPr/>
        </p:nvSpPr>
        <p:spPr>
          <a:xfrm>
            <a:off x="4937760" y="4800600"/>
            <a:ext cx="45720" cy="344729"/>
          </a:xfrm>
          <a:prstGeom prst="rect">
            <a:avLst/>
          </a:prstGeom>
          <a:solidFill>
            <a:srgbClr val="615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4937760" y="5143500"/>
            <a:ext cx="45720" cy="344729"/>
          </a:xfrm>
          <a:prstGeom prst="rect">
            <a:avLst/>
          </a:prstGeom>
          <a:solidFill>
            <a:srgbClr val="6655DE"/>
          </a:solidFill>
          <a:ln/>
        </p:spPr>
      </p:sp>
      <p:sp>
        <p:nvSpPr>
          <p:cNvPr id="20" name="Shape 18"/>
          <p:cNvSpPr/>
          <p:nvPr/>
        </p:nvSpPr>
        <p:spPr>
          <a:xfrm>
            <a:off x="4937760" y="5486400"/>
            <a:ext cx="45720" cy="344729"/>
          </a:xfrm>
          <a:prstGeom prst="rect">
            <a:avLst/>
          </a:prstGeom>
          <a:solidFill>
            <a:srgbClr val="6C4EE2"/>
          </a:solidFill>
          <a:ln/>
        </p:spPr>
      </p:sp>
      <p:sp>
        <p:nvSpPr>
          <p:cNvPr id="21" name="Shape 19"/>
          <p:cNvSpPr/>
          <p:nvPr/>
        </p:nvSpPr>
        <p:spPr>
          <a:xfrm>
            <a:off x="4937760" y="5829300"/>
            <a:ext cx="45720" cy="344729"/>
          </a:xfrm>
          <a:prstGeom prst="rect">
            <a:avLst/>
          </a:prstGeom>
          <a:solidFill>
            <a:srgbClr val="7147E6"/>
          </a:solidFill>
          <a:ln/>
        </p:spPr>
      </p:sp>
      <p:sp>
        <p:nvSpPr>
          <p:cNvPr id="22" name="Shape 20"/>
          <p:cNvSpPr/>
          <p:nvPr/>
        </p:nvSpPr>
        <p:spPr>
          <a:xfrm>
            <a:off x="4937760" y="6172200"/>
            <a:ext cx="45720" cy="344729"/>
          </a:xfrm>
          <a:prstGeom prst="rect">
            <a:avLst/>
          </a:prstGeom>
          <a:solidFill>
            <a:srgbClr val="7741E9"/>
          </a:solidFill>
          <a:ln/>
        </p:spPr>
      </p:sp>
      <p:sp>
        <p:nvSpPr>
          <p:cNvPr id="23" name="Shape 21"/>
          <p:cNvSpPr/>
          <p:nvPr/>
        </p:nvSpPr>
        <p:spPr>
          <a:xfrm>
            <a:off x="4937760" y="6515100"/>
            <a:ext cx="45720" cy="344729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457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7772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502920" y="15361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" y="18745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502920" y="22585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Founded in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 Dhabi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560320" y="18745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2560320" y="22585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service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02920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5,000+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502920" y="31729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560320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1,000+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2560320" y="31729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served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02920" y="3794760"/>
            <a:ext cx="3931920" cy="10973"/>
          </a:xfrm>
          <a:prstGeom prst="rect">
            <a:avLst/>
          </a:prstGeom>
          <a:solidFill>
            <a:srgbClr val="9FB8B4">
              <a:alpha val="45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" y="3931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DOMAINS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4379976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8" name="Text 36"/>
          <p:cNvSpPr/>
          <p:nvPr/>
        </p:nvSpPr>
        <p:spPr>
          <a:xfrm>
            <a:off x="667512" y="427939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Transformation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560320" y="4379976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0" name="Text 38"/>
          <p:cNvSpPr/>
          <p:nvPr/>
        </p:nvSpPr>
        <p:spPr>
          <a:xfrm>
            <a:off x="2724912" y="427939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Consulting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" y="4764024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2" name="Text 40"/>
          <p:cNvSpPr/>
          <p:nvPr/>
        </p:nvSpPr>
        <p:spPr>
          <a:xfrm>
            <a:off x="667512" y="466344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Services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560320" y="476402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4" name="Text 42"/>
          <p:cNvSpPr/>
          <p:nvPr/>
        </p:nvSpPr>
        <p:spPr>
          <a:xfrm>
            <a:off x="2724912" y="466344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" y="5148072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" y="50474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60320" y="5148072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8" name="Text 46"/>
          <p:cNvSpPr/>
          <p:nvPr/>
        </p:nvSpPr>
        <p:spPr>
          <a:xfrm>
            <a:off x="2724912" y="50474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Analytics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02920" y="5532120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0" name="Text 48"/>
          <p:cNvSpPr/>
          <p:nvPr/>
        </p:nvSpPr>
        <p:spPr>
          <a:xfrm>
            <a:off x="667512" y="543153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Solutions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560320" y="5532120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2" name="Text 50"/>
          <p:cNvSpPr/>
          <p:nvPr/>
        </p:nvSpPr>
        <p:spPr>
          <a:xfrm>
            <a:off x="2724912" y="543153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Management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02920" y="59436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INDUSTRY FOCUS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02920" y="618134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Startups · Retail · Real Estate · Education · Healthcare · Logistics · F&amp;B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440680" y="4114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Us</a:t>
            </a:r>
            <a:endParaRPr lang="en-US" sz="2600" dirty="0"/>
          </a:p>
        </p:txBody>
      </p:sp>
      <p:sp>
        <p:nvSpPr>
          <p:cNvPr id="56" name="Shape 54"/>
          <p:cNvSpPr/>
          <p:nvPr/>
        </p:nvSpPr>
        <p:spPr>
          <a:xfrm>
            <a:off x="5458968" y="978408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7" name="Shape 55"/>
          <p:cNvSpPr/>
          <p:nvPr/>
        </p:nvSpPr>
        <p:spPr>
          <a:xfrm>
            <a:off x="5509260" y="978408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58" name="Shape 56"/>
          <p:cNvSpPr/>
          <p:nvPr/>
        </p:nvSpPr>
        <p:spPr>
          <a:xfrm>
            <a:off x="5559552" y="978408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59" name="Shape 57"/>
          <p:cNvSpPr/>
          <p:nvPr/>
        </p:nvSpPr>
        <p:spPr>
          <a:xfrm>
            <a:off x="5609844" y="978408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60" name="Shape 58"/>
          <p:cNvSpPr/>
          <p:nvPr/>
        </p:nvSpPr>
        <p:spPr>
          <a:xfrm>
            <a:off x="5660136" y="978408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61" name="Shape 59"/>
          <p:cNvSpPr/>
          <p:nvPr/>
        </p:nvSpPr>
        <p:spPr>
          <a:xfrm>
            <a:off x="5710428" y="978408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62" name="Shape 60"/>
          <p:cNvSpPr/>
          <p:nvPr/>
        </p:nvSpPr>
        <p:spPr>
          <a:xfrm>
            <a:off x="5760720" y="978408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63" name="Shape 61"/>
          <p:cNvSpPr/>
          <p:nvPr/>
        </p:nvSpPr>
        <p:spPr>
          <a:xfrm>
            <a:off x="5811012" y="978408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64" name="Shape 62"/>
          <p:cNvSpPr/>
          <p:nvPr/>
        </p:nvSpPr>
        <p:spPr>
          <a:xfrm>
            <a:off x="5861304" y="978408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65" name="Shape 63"/>
          <p:cNvSpPr/>
          <p:nvPr/>
        </p:nvSpPr>
        <p:spPr>
          <a:xfrm>
            <a:off x="5911596" y="978408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6" name="Text 64"/>
          <p:cNvSpPr/>
          <p:nvPr/>
        </p:nvSpPr>
        <p:spPr>
          <a:xfrm>
            <a:off x="5440680" y="1115568"/>
            <a:ext cx="619963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 Information Technology Consulting is an Abu Dhabi-based digital consultancy founded in 2019 by Rasha Aljalam. We take businesses from idea to impact — combining strategy, engineering, and design under one roof so our clients never have to stitch together a dozen vendors.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40680" y="2103120"/>
            <a:ext cx="61996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work side-by-side with founders launching their first product and with established organisations modernising their technology stack — across the UAE and the wider Gulf.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440680" y="2926080"/>
            <a:ext cx="61996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641848" y="3127248"/>
            <a:ext cx="50292" cy="98755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0" name="Shape 68"/>
          <p:cNvSpPr/>
          <p:nvPr/>
        </p:nvSpPr>
        <p:spPr>
          <a:xfrm>
            <a:off x="5641848" y="3224174"/>
            <a:ext cx="50292" cy="98755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71" name="Shape 69"/>
          <p:cNvSpPr/>
          <p:nvPr/>
        </p:nvSpPr>
        <p:spPr>
          <a:xfrm>
            <a:off x="5641848" y="3321101"/>
            <a:ext cx="50292" cy="98755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41848" y="3418027"/>
            <a:ext cx="50292" cy="98755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73" name="Shape 71"/>
          <p:cNvSpPr/>
          <p:nvPr/>
        </p:nvSpPr>
        <p:spPr>
          <a:xfrm>
            <a:off x="5641848" y="3514954"/>
            <a:ext cx="50292" cy="98755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41848" y="3611880"/>
            <a:ext cx="50292" cy="98755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75" name="Shape 73"/>
          <p:cNvSpPr/>
          <p:nvPr/>
        </p:nvSpPr>
        <p:spPr>
          <a:xfrm>
            <a:off x="5641848" y="3708806"/>
            <a:ext cx="50292" cy="98755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76" name="Shape 74"/>
          <p:cNvSpPr/>
          <p:nvPr/>
        </p:nvSpPr>
        <p:spPr>
          <a:xfrm>
            <a:off x="5641848" y="3805733"/>
            <a:ext cx="50292" cy="98755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77" name="Shape 75"/>
          <p:cNvSpPr/>
          <p:nvPr/>
        </p:nvSpPr>
        <p:spPr>
          <a:xfrm>
            <a:off x="5641848" y="3902659"/>
            <a:ext cx="50292" cy="98755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78" name="Shape 76"/>
          <p:cNvSpPr/>
          <p:nvPr/>
        </p:nvSpPr>
        <p:spPr>
          <a:xfrm>
            <a:off x="5641848" y="3999586"/>
            <a:ext cx="50292" cy="98755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9" name="Text 77"/>
          <p:cNvSpPr/>
          <p:nvPr/>
        </p:nvSpPr>
        <p:spPr>
          <a:xfrm>
            <a:off x="5852160" y="312724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Rasha Aljalam</a:t>
            </a:r>
            <a:endParaRPr lang="en-US" sz="1400" dirty="0"/>
          </a:p>
        </p:txBody>
      </p:sp>
      <p:sp>
        <p:nvSpPr>
          <p:cNvPr id="80" name="Text 78"/>
          <p:cNvSpPr/>
          <p:nvPr/>
        </p:nvSpPr>
        <p:spPr>
          <a:xfrm>
            <a:off x="5852160" y="343814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 &amp; Chief Executive Officer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5852160" y="3712464"/>
            <a:ext cx="5559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"We don't just advise — we execute, deliver, and stay accountable until you win."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440680" y="45720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&amp; Alignment</a:t>
            </a:r>
            <a:endParaRPr lang="en-US" sz="1800" dirty="0"/>
          </a:p>
        </p:txBody>
      </p:sp>
      <p:sp>
        <p:nvSpPr>
          <p:cNvPr id="83" name="Shape 81"/>
          <p:cNvSpPr/>
          <p:nvPr/>
        </p:nvSpPr>
        <p:spPr>
          <a:xfrm>
            <a:off x="5458968" y="5138928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4" name="Shape 82"/>
          <p:cNvSpPr/>
          <p:nvPr/>
        </p:nvSpPr>
        <p:spPr>
          <a:xfrm>
            <a:off x="5509260" y="5138928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85" name="Shape 83"/>
          <p:cNvSpPr/>
          <p:nvPr/>
        </p:nvSpPr>
        <p:spPr>
          <a:xfrm>
            <a:off x="5559552" y="5138928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86" name="Shape 84"/>
          <p:cNvSpPr/>
          <p:nvPr/>
        </p:nvSpPr>
        <p:spPr>
          <a:xfrm>
            <a:off x="5609844" y="5138928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87" name="Shape 85"/>
          <p:cNvSpPr/>
          <p:nvPr/>
        </p:nvSpPr>
        <p:spPr>
          <a:xfrm>
            <a:off x="5660136" y="5138928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88" name="Shape 86"/>
          <p:cNvSpPr/>
          <p:nvPr/>
        </p:nvSpPr>
        <p:spPr>
          <a:xfrm>
            <a:off x="5710428" y="5138928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89" name="Shape 87"/>
          <p:cNvSpPr/>
          <p:nvPr/>
        </p:nvSpPr>
        <p:spPr>
          <a:xfrm>
            <a:off x="5760720" y="5138928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90" name="Shape 88"/>
          <p:cNvSpPr/>
          <p:nvPr/>
        </p:nvSpPr>
        <p:spPr>
          <a:xfrm>
            <a:off x="5811012" y="5138928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91" name="Shape 89"/>
          <p:cNvSpPr/>
          <p:nvPr/>
        </p:nvSpPr>
        <p:spPr>
          <a:xfrm>
            <a:off x="5861304" y="5138928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92" name="Shape 90"/>
          <p:cNvSpPr/>
          <p:nvPr/>
        </p:nvSpPr>
        <p:spPr>
          <a:xfrm>
            <a:off x="5911596" y="5138928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3" name="Shape 91"/>
          <p:cNvSpPr/>
          <p:nvPr/>
        </p:nvSpPr>
        <p:spPr>
          <a:xfrm>
            <a:off x="5440680" y="53035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440680" y="5296205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Ready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7589520" y="53035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589520" y="5296205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NESA-aligned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9738360" y="53035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738360" y="5296205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Gov Compliant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5440680" y="57241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440680" y="5716829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Partner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89520" y="57241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589520" y="5716829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Azure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9738360" y="57241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9738360" y="5716829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PDPL Aware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502920" y="6473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ublic/profile-assets/tech-patter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37149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1"/>
          <p:cNvSpPr/>
          <p:nvPr/>
        </p:nvSpPr>
        <p:spPr>
          <a:xfrm>
            <a:off x="435320" y="0"/>
            <a:ext cx="437149" cy="54864"/>
          </a:xfrm>
          <a:prstGeom prst="rect">
            <a:avLst/>
          </a:prstGeom>
          <a:solidFill>
            <a:srgbClr val="18B3A9"/>
          </a:solidFill>
          <a:ln/>
        </p:spPr>
      </p:sp>
      <p:sp>
        <p:nvSpPr>
          <p:cNvPr id="5" name="Shape 2"/>
          <p:cNvSpPr/>
          <p:nvPr/>
        </p:nvSpPr>
        <p:spPr>
          <a:xfrm>
            <a:off x="870639" y="0"/>
            <a:ext cx="437149" cy="54864"/>
          </a:xfrm>
          <a:prstGeom prst="rect">
            <a:avLst/>
          </a:prstGeom>
          <a:solidFill>
            <a:srgbClr val="1CAFAB"/>
          </a:solidFill>
          <a:ln/>
        </p:spPr>
      </p:sp>
      <p:sp>
        <p:nvSpPr>
          <p:cNvPr id="6" name="Shape 3"/>
          <p:cNvSpPr/>
          <p:nvPr/>
        </p:nvSpPr>
        <p:spPr>
          <a:xfrm>
            <a:off x="1305959" y="0"/>
            <a:ext cx="437149" cy="54864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7" name="Shape 4"/>
          <p:cNvSpPr/>
          <p:nvPr/>
        </p:nvSpPr>
        <p:spPr>
          <a:xfrm>
            <a:off x="1741279" y="0"/>
            <a:ext cx="437149" cy="54864"/>
          </a:xfrm>
          <a:prstGeom prst="rect">
            <a:avLst/>
          </a:prstGeom>
          <a:solidFill>
            <a:srgbClr val="23A5B1"/>
          </a:solidFill>
          <a:ln/>
        </p:spPr>
      </p:sp>
      <p:sp>
        <p:nvSpPr>
          <p:cNvPr id="8" name="Shape 5"/>
          <p:cNvSpPr/>
          <p:nvPr/>
        </p:nvSpPr>
        <p:spPr>
          <a:xfrm>
            <a:off x="2176599" y="0"/>
            <a:ext cx="437149" cy="54864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9" name="Shape 6"/>
          <p:cNvSpPr/>
          <p:nvPr/>
        </p:nvSpPr>
        <p:spPr>
          <a:xfrm>
            <a:off x="2611918" y="0"/>
            <a:ext cx="437149" cy="54864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0" name="Shape 7"/>
          <p:cNvSpPr/>
          <p:nvPr/>
        </p:nvSpPr>
        <p:spPr>
          <a:xfrm>
            <a:off x="3047238" y="0"/>
            <a:ext cx="437149" cy="54864"/>
          </a:xfrm>
          <a:prstGeom prst="rect">
            <a:avLst/>
          </a:prstGeom>
          <a:solidFill>
            <a:srgbClr val="2F97B8"/>
          </a:solidFill>
          <a:ln/>
        </p:spPr>
      </p:sp>
      <p:sp>
        <p:nvSpPr>
          <p:cNvPr id="11" name="Shape 8"/>
          <p:cNvSpPr/>
          <p:nvPr/>
        </p:nvSpPr>
        <p:spPr>
          <a:xfrm>
            <a:off x="3482558" y="0"/>
            <a:ext cx="437149" cy="54864"/>
          </a:xfrm>
          <a:prstGeom prst="rect">
            <a:avLst/>
          </a:prstGeom>
          <a:solidFill>
            <a:srgbClr val="3393BB"/>
          </a:solidFill>
          <a:ln/>
        </p:spPr>
      </p:sp>
      <p:sp>
        <p:nvSpPr>
          <p:cNvPr id="12" name="Shape 9"/>
          <p:cNvSpPr/>
          <p:nvPr/>
        </p:nvSpPr>
        <p:spPr>
          <a:xfrm>
            <a:off x="3917877" y="0"/>
            <a:ext cx="437149" cy="54864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3" name="Shape 10"/>
          <p:cNvSpPr/>
          <p:nvPr/>
        </p:nvSpPr>
        <p:spPr>
          <a:xfrm>
            <a:off x="4353197" y="0"/>
            <a:ext cx="437149" cy="54864"/>
          </a:xfrm>
          <a:prstGeom prst="rect">
            <a:avLst/>
          </a:prstGeom>
          <a:solidFill>
            <a:srgbClr val="3B89C0"/>
          </a:solidFill>
          <a:ln/>
        </p:spPr>
      </p:sp>
      <p:sp>
        <p:nvSpPr>
          <p:cNvPr id="14" name="Shape 11"/>
          <p:cNvSpPr/>
          <p:nvPr/>
        </p:nvSpPr>
        <p:spPr>
          <a:xfrm>
            <a:off x="4788517" y="0"/>
            <a:ext cx="437149" cy="54864"/>
          </a:xfrm>
          <a:prstGeom prst="rect">
            <a:avLst/>
          </a:prstGeom>
          <a:solidFill>
            <a:srgbClr val="3E85C3"/>
          </a:solidFill>
          <a:ln/>
        </p:spPr>
      </p:sp>
      <p:sp>
        <p:nvSpPr>
          <p:cNvPr id="15" name="Shape 12"/>
          <p:cNvSpPr/>
          <p:nvPr/>
        </p:nvSpPr>
        <p:spPr>
          <a:xfrm>
            <a:off x="5223837" y="0"/>
            <a:ext cx="437149" cy="54864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6" name="Shape 13"/>
          <p:cNvSpPr/>
          <p:nvPr/>
        </p:nvSpPr>
        <p:spPr>
          <a:xfrm>
            <a:off x="5659156" y="0"/>
            <a:ext cx="437149" cy="54864"/>
          </a:xfrm>
          <a:prstGeom prst="rect">
            <a:avLst/>
          </a:prstGeom>
          <a:solidFill>
            <a:srgbClr val="467BC8"/>
          </a:solidFill>
          <a:ln/>
        </p:spPr>
      </p:sp>
      <p:sp>
        <p:nvSpPr>
          <p:cNvPr id="17" name="Shape 14"/>
          <p:cNvSpPr/>
          <p:nvPr/>
        </p:nvSpPr>
        <p:spPr>
          <a:xfrm>
            <a:off x="6094476" y="0"/>
            <a:ext cx="437149" cy="54864"/>
          </a:xfrm>
          <a:prstGeom prst="rect">
            <a:avLst/>
          </a:prstGeom>
          <a:solidFill>
            <a:srgbClr val="4A77CB"/>
          </a:solidFill>
          <a:ln/>
        </p:spPr>
      </p:sp>
      <p:sp>
        <p:nvSpPr>
          <p:cNvPr id="18" name="Shape 15"/>
          <p:cNvSpPr/>
          <p:nvPr/>
        </p:nvSpPr>
        <p:spPr>
          <a:xfrm>
            <a:off x="6529796" y="0"/>
            <a:ext cx="437149" cy="54864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19" name="Shape 16"/>
          <p:cNvSpPr/>
          <p:nvPr/>
        </p:nvSpPr>
        <p:spPr>
          <a:xfrm>
            <a:off x="6965115" y="0"/>
            <a:ext cx="437149" cy="54864"/>
          </a:xfrm>
          <a:prstGeom prst="rect">
            <a:avLst/>
          </a:prstGeom>
          <a:solidFill>
            <a:srgbClr val="526DD0"/>
          </a:solidFill>
          <a:ln/>
        </p:spPr>
      </p:sp>
      <p:sp>
        <p:nvSpPr>
          <p:cNvPr id="20" name="Shape 17"/>
          <p:cNvSpPr/>
          <p:nvPr/>
        </p:nvSpPr>
        <p:spPr>
          <a:xfrm>
            <a:off x="7400435" y="0"/>
            <a:ext cx="437149" cy="54864"/>
          </a:xfrm>
          <a:prstGeom prst="rect">
            <a:avLst/>
          </a:prstGeom>
          <a:solidFill>
            <a:srgbClr val="5569D3"/>
          </a:solidFill>
          <a:ln/>
        </p:spPr>
      </p:sp>
      <p:sp>
        <p:nvSpPr>
          <p:cNvPr id="21" name="Shape 18"/>
          <p:cNvSpPr/>
          <p:nvPr/>
        </p:nvSpPr>
        <p:spPr>
          <a:xfrm>
            <a:off x="7835755" y="0"/>
            <a:ext cx="437149" cy="54864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22" name="Shape 19"/>
          <p:cNvSpPr/>
          <p:nvPr/>
        </p:nvSpPr>
        <p:spPr>
          <a:xfrm>
            <a:off x="8271075" y="0"/>
            <a:ext cx="437149" cy="54864"/>
          </a:xfrm>
          <a:prstGeom prst="rect">
            <a:avLst/>
          </a:prstGeom>
          <a:solidFill>
            <a:srgbClr val="5D5FD8"/>
          </a:solidFill>
          <a:ln/>
        </p:spPr>
      </p:sp>
      <p:sp>
        <p:nvSpPr>
          <p:cNvPr id="23" name="Shape 20"/>
          <p:cNvSpPr/>
          <p:nvPr/>
        </p:nvSpPr>
        <p:spPr>
          <a:xfrm>
            <a:off x="8706394" y="0"/>
            <a:ext cx="437149" cy="54864"/>
          </a:xfrm>
          <a:prstGeom prst="rect">
            <a:avLst/>
          </a:prstGeom>
          <a:solidFill>
            <a:srgbClr val="615BDB"/>
          </a:solidFill>
          <a:ln/>
        </p:spPr>
      </p:sp>
      <p:sp>
        <p:nvSpPr>
          <p:cNvPr id="24" name="Shape 21"/>
          <p:cNvSpPr/>
          <p:nvPr/>
        </p:nvSpPr>
        <p:spPr>
          <a:xfrm>
            <a:off x="9141714" y="0"/>
            <a:ext cx="437149" cy="54864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25" name="Shape 22"/>
          <p:cNvSpPr/>
          <p:nvPr/>
        </p:nvSpPr>
        <p:spPr>
          <a:xfrm>
            <a:off x="9577034" y="0"/>
            <a:ext cx="437149" cy="54864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26" name="Shape 23"/>
          <p:cNvSpPr/>
          <p:nvPr/>
        </p:nvSpPr>
        <p:spPr>
          <a:xfrm>
            <a:off x="10012353" y="0"/>
            <a:ext cx="437149" cy="54864"/>
          </a:xfrm>
          <a:prstGeom prst="rect">
            <a:avLst/>
          </a:prstGeom>
          <a:solidFill>
            <a:srgbClr val="6D4DE2"/>
          </a:solidFill>
          <a:ln/>
        </p:spPr>
      </p:sp>
      <p:sp>
        <p:nvSpPr>
          <p:cNvPr id="27" name="Shape 24"/>
          <p:cNvSpPr/>
          <p:nvPr/>
        </p:nvSpPr>
        <p:spPr>
          <a:xfrm>
            <a:off x="10447673" y="0"/>
            <a:ext cx="437149" cy="54864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28" name="Shape 25"/>
          <p:cNvSpPr/>
          <p:nvPr/>
        </p:nvSpPr>
        <p:spPr>
          <a:xfrm>
            <a:off x="10882993" y="0"/>
            <a:ext cx="437149" cy="54864"/>
          </a:xfrm>
          <a:prstGeom prst="rect">
            <a:avLst/>
          </a:prstGeom>
          <a:solidFill>
            <a:srgbClr val="7443E8"/>
          </a:solidFill>
          <a:ln/>
        </p:spPr>
      </p:sp>
      <p:sp>
        <p:nvSpPr>
          <p:cNvPr id="29" name="Shape 26"/>
          <p:cNvSpPr/>
          <p:nvPr/>
        </p:nvSpPr>
        <p:spPr>
          <a:xfrm>
            <a:off x="11318313" y="0"/>
            <a:ext cx="437149" cy="54864"/>
          </a:xfrm>
          <a:prstGeom prst="rect">
            <a:avLst/>
          </a:prstGeom>
          <a:solidFill>
            <a:srgbClr val="783FEA"/>
          </a:solidFill>
          <a:ln/>
        </p:spPr>
      </p:sp>
      <p:sp>
        <p:nvSpPr>
          <p:cNvPr id="30" name="Shape 27"/>
          <p:cNvSpPr/>
          <p:nvPr/>
        </p:nvSpPr>
        <p:spPr>
          <a:xfrm>
            <a:off x="11753632" y="0"/>
            <a:ext cx="437149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8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Journey</a:t>
            </a:r>
            <a:endParaRPr lang="en-US" sz="2600" dirty="0"/>
          </a:p>
        </p:txBody>
      </p:sp>
      <p:sp>
        <p:nvSpPr>
          <p:cNvPr id="32" name="Shape 29"/>
          <p:cNvSpPr/>
          <p:nvPr/>
        </p:nvSpPr>
        <p:spPr>
          <a:xfrm>
            <a:off x="566928" y="1024128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Shape 30"/>
          <p:cNvSpPr/>
          <p:nvPr/>
        </p:nvSpPr>
        <p:spPr>
          <a:xfrm>
            <a:off x="617220" y="1024128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34" name="Shape 31"/>
          <p:cNvSpPr/>
          <p:nvPr/>
        </p:nvSpPr>
        <p:spPr>
          <a:xfrm>
            <a:off x="667512" y="1024128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35" name="Shape 32"/>
          <p:cNvSpPr/>
          <p:nvPr/>
        </p:nvSpPr>
        <p:spPr>
          <a:xfrm>
            <a:off x="717804" y="1024128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36" name="Shape 33"/>
          <p:cNvSpPr/>
          <p:nvPr/>
        </p:nvSpPr>
        <p:spPr>
          <a:xfrm>
            <a:off x="768096" y="1024128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37" name="Shape 34"/>
          <p:cNvSpPr/>
          <p:nvPr/>
        </p:nvSpPr>
        <p:spPr>
          <a:xfrm>
            <a:off x="818388" y="1024128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38" name="Shape 35"/>
          <p:cNvSpPr/>
          <p:nvPr/>
        </p:nvSpPr>
        <p:spPr>
          <a:xfrm>
            <a:off x="868680" y="1024128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39" name="Shape 36"/>
          <p:cNvSpPr/>
          <p:nvPr/>
        </p:nvSpPr>
        <p:spPr>
          <a:xfrm>
            <a:off x="918972" y="1024128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40" name="Shape 37"/>
          <p:cNvSpPr/>
          <p:nvPr/>
        </p:nvSpPr>
        <p:spPr>
          <a:xfrm>
            <a:off x="969264" y="1024128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41" name="Shape 38"/>
          <p:cNvSpPr/>
          <p:nvPr/>
        </p:nvSpPr>
        <p:spPr>
          <a:xfrm>
            <a:off x="1019556" y="1024128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2" name="Text 39"/>
          <p:cNvSpPr/>
          <p:nvPr/>
        </p:nvSpPr>
        <p:spPr>
          <a:xfrm>
            <a:off x="548640" y="11887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 started in 2019 as an entrepreneurial venture in Abu Dhabi. Since then it has grown into a full-spectrum digital consultancy — adding practice areas year on year while staying founder-led and delivery-obsessed.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594360" y="3945636"/>
            <a:ext cx="276835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4" name="Shape 41"/>
          <p:cNvSpPr/>
          <p:nvPr/>
        </p:nvSpPr>
        <p:spPr>
          <a:xfrm>
            <a:off x="869366" y="3945636"/>
            <a:ext cx="276835" cy="73152"/>
          </a:xfrm>
          <a:prstGeom prst="rect">
            <a:avLst/>
          </a:prstGeom>
          <a:solidFill>
            <a:srgbClr val="17B5A8"/>
          </a:solidFill>
          <a:ln/>
        </p:spPr>
      </p:sp>
      <p:sp>
        <p:nvSpPr>
          <p:cNvPr id="45" name="Shape 42"/>
          <p:cNvSpPr/>
          <p:nvPr/>
        </p:nvSpPr>
        <p:spPr>
          <a:xfrm>
            <a:off x="1144372" y="3945636"/>
            <a:ext cx="276835" cy="73152"/>
          </a:xfrm>
          <a:prstGeom prst="rect">
            <a:avLst/>
          </a:prstGeom>
          <a:solidFill>
            <a:srgbClr val="19B2AA"/>
          </a:solidFill>
          <a:ln/>
        </p:spPr>
      </p:sp>
      <p:sp>
        <p:nvSpPr>
          <p:cNvPr id="46" name="Shape 43"/>
          <p:cNvSpPr/>
          <p:nvPr/>
        </p:nvSpPr>
        <p:spPr>
          <a:xfrm>
            <a:off x="1419377" y="3945636"/>
            <a:ext cx="276835" cy="73152"/>
          </a:xfrm>
          <a:prstGeom prst="rect">
            <a:avLst/>
          </a:prstGeom>
          <a:solidFill>
            <a:srgbClr val="1CAEAB"/>
          </a:solidFill>
          <a:ln/>
        </p:spPr>
      </p:sp>
      <p:sp>
        <p:nvSpPr>
          <p:cNvPr id="47" name="Shape 44"/>
          <p:cNvSpPr/>
          <p:nvPr/>
        </p:nvSpPr>
        <p:spPr>
          <a:xfrm>
            <a:off x="1694383" y="3945636"/>
            <a:ext cx="276835" cy="73152"/>
          </a:xfrm>
          <a:prstGeom prst="rect">
            <a:avLst/>
          </a:prstGeom>
          <a:solidFill>
            <a:srgbClr val="1FABAD"/>
          </a:solidFill>
          <a:ln/>
        </p:spPr>
      </p:sp>
      <p:sp>
        <p:nvSpPr>
          <p:cNvPr id="48" name="Shape 45"/>
          <p:cNvSpPr/>
          <p:nvPr/>
        </p:nvSpPr>
        <p:spPr>
          <a:xfrm>
            <a:off x="1969389" y="3945636"/>
            <a:ext cx="276835" cy="73152"/>
          </a:xfrm>
          <a:prstGeom prst="rect">
            <a:avLst/>
          </a:prstGeom>
          <a:solidFill>
            <a:srgbClr val="21A8AF"/>
          </a:solidFill>
          <a:ln/>
        </p:spPr>
      </p:sp>
      <p:sp>
        <p:nvSpPr>
          <p:cNvPr id="49" name="Shape 46"/>
          <p:cNvSpPr/>
          <p:nvPr/>
        </p:nvSpPr>
        <p:spPr>
          <a:xfrm>
            <a:off x="2244395" y="3945636"/>
            <a:ext cx="276835" cy="73152"/>
          </a:xfrm>
          <a:prstGeom prst="rect">
            <a:avLst/>
          </a:prstGeom>
          <a:solidFill>
            <a:srgbClr val="24A5B1"/>
          </a:solidFill>
          <a:ln/>
        </p:spPr>
      </p:sp>
      <p:sp>
        <p:nvSpPr>
          <p:cNvPr id="50" name="Shape 47"/>
          <p:cNvSpPr/>
          <p:nvPr/>
        </p:nvSpPr>
        <p:spPr>
          <a:xfrm>
            <a:off x="2519401" y="3945636"/>
            <a:ext cx="276835" cy="73152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51" name="Shape 48"/>
          <p:cNvSpPr/>
          <p:nvPr/>
        </p:nvSpPr>
        <p:spPr>
          <a:xfrm>
            <a:off x="2794406" y="3945636"/>
            <a:ext cx="276835" cy="73152"/>
          </a:xfrm>
          <a:prstGeom prst="rect">
            <a:avLst/>
          </a:prstGeom>
          <a:solidFill>
            <a:srgbClr val="299EB5"/>
          </a:solidFill>
          <a:ln/>
        </p:spPr>
      </p:sp>
      <p:sp>
        <p:nvSpPr>
          <p:cNvPr id="52" name="Shape 49"/>
          <p:cNvSpPr/>
          <p:nvPr/>
        </p:nvSpPr>
        <p:spPr>
          <a:xfrm>
            <a:off x="3069412" y="3945636"/>
            <a:ext cx="276835" cy="73152"/>
          </a:xfrm>
          <a:prstGeom prst="rect">
            <a:avLst/>
          </a:prstGeom>
          <a:solidFill>
            <a:srgbClr val="2C9BB6"/>
          </a:solidFill>
          <a:ln/>
        </p:spPr>
      </p:sp>
      <p:sp>
        <p:nvSpPr>
          <p:cNvPr id="53" name="Shape 50"/>
          <p:cNvSpPr/>
          <p:nvPr/>
        </p:nvSpPr>
        <p:spPr>
          <a:xfrm>
            <a:off x="3344418" y="3945636"/>
            <a:ext cx="276835" cy="73152"/>
          </a:xfrm>
          <a:prstGeom prst="rect">
            <a:avLst/>
          </a:prstGeom>
          <a:solidFill>
            <a:srgbClr val="2F98B8"/>
          </a:solidFill>
          <a:ln/>
        </p:spPr>
      </p:sp>
      <p:sp>
        <p:nvSpPr>
          <p:cNvPr id="54" name="Shape 51"/>
          <p:cNvSpPr/>
          <p:nvPr/>
        </p:nvSpPr>
        <p:spPr>
          <a:xfrm>
            <a:off x="3619424" y="3945636"/>
            <a:ext cx="276835" cy="73152"/>
          </a:xfrm>
          <a:prstGeom prst="rect">
            <a:avLst/>
          </a:prstGeom>
          <a:solidFill>
            <a:srgbClr val="3194BA"/>
          </a:solidFill>
          <a:ln/>
        </p:spPr>
      </p:sp>
      <p:sp>
        <p:nvSpPr>
          <p:cNvPr id="55" name="Shape 52"/>
          <p:cNvSpPr/>
          <p:nvPr/>
        </p:nvSpPr>
        <p:spPr>
          <a:xfrm>
            <a:off x="3894430" y="3945636"/>
            <a:ext cx="276835" cy="73152"/>
          </a:xfrm>
          <a:prstGeom prst="rect">
            <a:avLst/>
          </a:prstGeom>
          <a:solidFill>
            <a:srgbClr val="3491BC"/>
          </a:solidFill>
          <a:ln/>
        </p:spPr>
      </p:sp>
      <p:sp>
        <p:nvSpPr>
          <p:cNvPr id="56" name="Shape 53"/>
          <p:cNvSpPr/>
          <p:nvPr/>
        </p:nvSpPr>
        <p:spPr>
          <a:xfrm>
            <a:off x="4169435" y="3945636"/>
            <a:ext cx="276835" cy="73152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57" name="Shape 54"/>
          <p:cNvSpPr/>
          <p:nvPr/>
        </p:nvSpPr>
        <p:spPr>
          <a:xfrm>
            <a:off x="4444441" y="3945636"/>
            <a:ext cx="276835" cy="73152"/>
          </a:xfrm>
          <a:prstGeom prst="rect">
            <a:avLst/>
          </a:prstGeom>
          <a:solidFill>
            <a:srgbClr val="398BBF"/>
          </a:solidFill>
          <a:ln/>
        </p:spPr>
      </p:sp>
      <p:sp>
        <p:nvSpPr>
          <p:cNvPr id="58" name="Shape 55"/>
          <p:cNvSpPr/>
          <p:nvPr/>
        </p:nvSpPr>
        <p:spPr>
          <a:xfrm>
            <a:off x="4719447" y="3945636"/>
            <a:ext cx="276835" cy="73152"/>
          </a:xfrm>
          <a:prstGeom prst="rect">
            <a:avLst/>
          </a:prstGeom>
          <a:solidFill>
            <a:srgbClr val="3C88C1"/>
          </a:solidFill>
          <a:ln/>
        </p:spPr>
      </p:sp>
      <p:sp>
        <p:nvSpPr>
          <p:cNvPr id="59" name="Shape 56"/>
          <p:cNvSpPr/>
          <p:nvPr/>
        </p:nvSpPr>
        <p:spPr>
          <a:xfrm>
            <a:off x="4994453" y="3945636"/>
            <a:ext cx="276835" cy="73152"/>
          </a:xfrm>
          <a:prstGeom prst="rect">
            <a:avLst/>
          </a:prstGeom>
          <a:solidFill>
            <a:srgbClr val="3F84C3"/>
          </a:solidFill>
          <a:ln/>
        </p:spPr>
      </p:sp>
      <p:sp>
        <p:nvSpPr>
          <p:cNvPr id="60" name="Shape 57"/>
          <p:cNvSpPr/>
          <p:nvPr/>
        </p:nvSpPr>
        <p:spPr>
          <a:xfrm>
            <a:off x="5269459" y="3945636"/>
            <a:ext cx="276835" cy="73152"/>
          </a:xfrm>
          <a:prstGeom prst="rect">
            <a:avLst/>
          </a:prstGeom>
          <a:solidFill>
            <a:srgbClr val="4181C5"/>
          </a:solidFill>
          <a:ln/>
        </p:spPr>
      </p:sp>
      <p:sp>
        <p:nvSpPr>
          <p:cNvPr id="61" name="Shape 58"/>
          <p:cNvSpPr/>
          <p:nvPr/>
        </p:nvSpPr>
        <p:spPr>
          <a:xfrm>
            <a:off x="5544464" y="3945636"/>
            <a:ext cx="276835" cy="73152"/>
          </a:xfrm>
          <a:prstGeom prst="rect">
            <a:avLst/>
          </a:prstGeom>
          <a:solidFill>
            <a:srgbClr val="447EC7"/>
          </a:solidFill>
          <a:ln/>
        </p:spPr>
      </p:sp>
      <p:sp>
        <p:nvSpPr>
          <p:cNvPr id="62" name="Shape 59"/>
          <p:cNvSpPr/>
          <p:nvPr/>
        </p:nvSpPr>
        <p:spPr>
          <a:xfrm>
            <a:off x="5819470" y="3945636"/>
            <a:ext cx="276835" cy="73152"/>
          </a:xfrm>
          <a:prstGeom prst="rect">
            <a:avLst/>
          </a:prstGeom>
          <a:solidFill>
            <a:srgbClr val="477BC9"/>
          </a:solidFill>
          <a:ln/>
        </p:spPr>
      </p:sp>
      <p:sp>
        <p:nvSpPr>
          <p:cNvPr id="63" name="Shape 60"/>
          <p:cNvSpPr/>
          <p:nvPr/>
        </p:nvSpPr>
        <p:spPr>
          <a:xfrm>
            <a:off x="6094476" y="3945636"/>
            <a:ext cx="276835" cy="73152"/>
          </a:xfrm>
          <a:prstGeom prst="rect">
            <a:avLst/>
          </a:prstGeom>
          <a:solidFill>
            <a:srgbClr val="4977CA"/>
          </a:solidFill>
          <a:ln/>
        </p:spPr>
      </p:sp>
      <p:sp>
        <p:nvSpPr>
          <p:cNvPr id="64" name="Shape 61"/>
          <p:cNvSpPr/>
          <p:nvPr/>
        </p:nvSpPr>
        <p:spPr>
          <a:xfrm>
            <a:off x="6369482" y="3945636"/>
            <a:ext cx="276835" cy="73152"/>
          </a:xfrm>
          <a:prstGeom prst="rect">
            <a:avLst/>
          </a:prstGeom>
          <a:solidFill>
            <a:srgbClr val="4C74CC"/>
          </a:solidFill>
          <a:ln/>
        </p:spPr>
      </p:sp>
      <p:sp>
        <p:nvSpPr>
          <p:cNvPr id="65" name="Shape 62"/>
          <p:cNvSpPr/>
          <p:nvPr/>
        </p:nvSpPr>
        <p:spPr>
          <a:xfrm>
            <a:off x="6644488" y="3945636"/>
            <a:ext cx="276835" cy="73152"/>
          </a:xfrm>
          <a:prstGeom prst="rect">
            <a:avLst/>
          </a:prstGeom>
          <a:solidFill>
            <a:srgbClr val="4F71CE"/>
          </a:solidFill>
          <a:ln/>
        </p:spPr>
      </p:sp>
      <p:sp>
        <p:nvSpPr>
          <p:cNvPr id="66" name="Shape 63"/>
          <p:cNvSpPr/>
          <p:nvPr/>
        </p:nvSpPr>
        <p:spPr>
          <a:xfrm>
            <a:off x="6919493" y="3945636"/>
            <a:ext cx="276835" cy="73152"/>
          </a:xfrm>
          <a:prstGeom prst="rect">
            <a:avLst/>
          </a:prstGeom>
          <a:solidFill>
            <a:srgbClr val="516ED0"/>
          </a:solidFill>
          <a:ln/>
        </p:spPr>
      </p:sp>
      <p:sp>
        <p:nvSpPr>
          <p:cNvPr id="67" name="Shape 64"/>
          <p:cNvSpPr/>
          <p:nvPr/>
        </p:nvSpPr>
        <p:spPr>
          <a:xfrm>
            <a:off x="7194499" y="3945636"/>
            <a:ext cx="276835" cy="73152"/>
          </a:xfrm>
          <a:prstGeom prst="rect">
            <a:avLst/>
          </a:prstGeom>
          <a:solidFill>
            <a:srgbClr val="546AD2"/>
          </a:solidFill>
          <a:ln/>
        </p:spPr>
      </p:sp>
      <p:sp>
        <p:nvSpPr>
          <p:cNvPr id="68" name="Shape 65"/>
          <p:cNvSpPr/>
          <p:nvPr/>
        </p:nvSpPr>
        <p:spPr>
          <a:xfrm>
            <a:off x="7469505" y="3945636"/>
            <a:ext cx="276835" cy="73152"/>
          </a:xfrm>
          <a:prstGeom prst="rect">
            <a:avLst/>
          </a:prstGeom>
          <a:solidFill>
            <a:srgbClr val="5767D4"/>
          </a:solidFill>
          <a:ln/>
        </p:spPr>
      </p:sp>
      <p:sp>
        <p:nvSpPr>
          <p:cNvPr id="69" name="Shape 66"/>
          <p:cNvSpPr/>
          <p:nvPr/>
        </p:nvSpPr>
        <p:spPr>
          <a:xfrm>
            <a:off x="7744511" y="3945636"/>
            <a:ext cx="276835" cy="73152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70" name="Shape 67"/>
          <p:cNvSpPr/>
          <p:nvPr/>
        </p:nvSpPr>
        <p:spPr>
          <a:xfrm>
            <a:off x="8019517" y="3945636"/>
            <a:ext cx="276835" cy="73152"/>
          </a:xfrm>
          <a:prstGeom prst="rect">
            <a:avLst/>
          </a:prstGeom>
          <a:solidFill>
            <a:srgbClr val="5C61D7"/>
          </a:solidFill>
          <a:ln/>
        </p:spPr>
      </p:sp>
      <p:sp>
        <p:nvSpPr>
          <p:cNvPr id="71" name="Shape 68"/>
          <p:cNvSpPr/>
          <p:nvPr/>
        </p:nvSpPr>
        <p:spPr>
          <a:xfrm>
            <a:off x="8294522" y="3945636"/>
            <a:ext cx="276835" cy="73152"/>
          </a:xfrm>
          <a:prstGeom prst="rect">
            <a:avLst/>
          </a:prstGeom>
          <a:solidFill>
            <a:srgbClr val="5F5ED9"/>
          </a:solidFill>
          <a:ln/>
        </p:spPr>
      </p:sp>
      <p:sp>
        <p:nvSpPr>
          <p:cNvPr id="72" name="Shape 69"/>
          <p:cNvSpPr/>
          <p:nvPr/>
        </p:nvSpPr>
        <p:spPr>
          <a:xfrm>
            <a:off x="8569528" y="3945636"/>
            <a:ext cx="276835" cy="73152"/>
          </a:xfrm>
          <a:prstGeom prst="rect">
            <a:avLst/>
          </a:prstGeom>
          <a:solidFill>
            <a:srgbClr val="615ADB"/>
          </a:solidFill>
          <a:ln/>
        </p:spPr>
      </p:sp>
      <p:sp>
        <p:nvSpPr>
          <p:cNvPr id="73" name="Shape 70"/>
          <p:cNvSpPr/>
          <p:nvPr/>
        </p:nvSpPr>
        <p:spPr>
          <a:xfrm>
            <a:off x="8844534" y="3945636"/>
            <a:ext cx="276835" cy="73152"/>
          </a:xfrm>
          <a:prstGeom prst="rect">
            <a:avLst/>
          </a:prstGeom>
          <a:solidFill>
            <a:srgbClr val="6457DD"/>
          </a:solidFill>
          <a:ln/>
        </p:spPr>
      </p:sp>
      <p:sp>
        <p:nvSpPr>
          <p:cNvPr id="74" name="Shape 71"/>
          <p:cNvSpPr/>
          <p:nvPr/>
        </p:nvSpPr>
        <p:spPr>
          <a:xfrm>
            <a:off x="9119540" y="3945636"/>
            <a:ext cx="276835" cy="73152"/>
          </a:xfrm>
          <a:prstGeom prst="rect">
            <a:avLst/>
          </a:prstGeom>
          <a:solidFill>
            <a:srgbClr val="6754DE"/>
          </a:solidFill>
          <a:ln/>
        </p:spPr>
      </p:sp>
      <p:sp>
        <p:nvSpPr>
          <p:cNvPr id="75" name="Shape 72"/>
          <p:cNvSpPr/>
          <p:nvPr/>
        </p:nvSpPr>
        <p:spPr>
          <a:xfrm>
            <a:off x="9394546" y="3945636"/>
            <a:ext cx="276835" cy="73152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76" name="Shape 73"/>
          <p:cNvSpPr/>
          <p:nvPr/>
        </p:nvSpPr>
        <p:spPr>
          <a:xfrm>
            <a:off x="9669551" y="3945636"/>
            <a:ext cx="276835" cy="73152"/>
          </a:xfrm>
          <a:prstGeom prst="rect">
            <a:avLst/>
          </a:prstGeom>
          <a:solidFill>
            <a:srgbClr val="6C4DE2"/>
          </a:solidFill>
          <a:ln/>
        </p:spPr>
      </p:sp>
      <p:sp>
        <p:nvSpPr>
          <p:cNvPr id="77" name="Shape 74"/>
          <p:cNvSpPr/>
          <p:nvPr/>
        </p:nvSpPr>
        <p:spPr>
          <a:xfrm>
            <a:off x="9944557" y="3945636"/>
            <a:ext cx="276835" cy="73152"/>
          </a:xfrm>
          <a:prstGeom prst="rect">
            <a:avLst/>
          </a:prstGeom>
          <a:solidFill>
            <a:srgbClr val="6F4AE4"/>
          </a:solidFill>
          <a:ln/>
        </p:spPr>
      </p:sp>
      <p:sp>
        <p:nvSpPr>
          <p:cNvPr id="78" name="Shape 75"/>
          <p:cNvSpPr/>
          <p:nvPr/>
        </p:nvSpPr>
        <p:spPr>
          <a:xfrm>
            <a:off x="10219563" y="3945636"/>
            <a:ext cx="276835" cy="73152"/>
          </a:xfrm>
          <a:prstGeom prst="rect">
            <a:avLst/>
          </a:prstGeom>
          <a:solidFill>
            <a:srgbClr val="7147E6"/>
          </a:solidFill>
          <a:ln/>
        </p:spPr>
      </p:sp>
      <p:sp>
        <p:nvSpPr>
          <p:cNvPr id="79" name="Shape 76"/>
          <p:cNvSpPr/>
          <p:nvPr/>
        </p:nvSpPr>
        <p:spPr>
          <a:xfrm>
            <a:off x="10494569" y="3945636"/>
            <a:ext cx="276835" cy="73152"/>
          </a:xfrm>
          <a:prstGeom prst="rect">
            <a:avLst/>
          </a:prstGeom>
          <a:solidFill>
            <a:srgbClr val="7444E8"/>
          </a:solidFill>
          <a:ln/>
        </p:spPr>
      </p:sp>
      <p:sp>
        <p:nvSpPr>
          <p:cNvPr id="80" name="Shape 77"/>
          <p:cNvSpPr/>
          <p:nvPr/>
        </p:nvSpPr>
        <p:spPr>
          <a:xfrm>
            <a:off x="10769575" y="3945636"/>
            <a:ext cx="276835" cy="73152"/>
          </a:xfrm>
          <a:prstGeom prst="rect">
            <a:avLst/>
          </a:prstGeom>
          <a:solidFill>
            <a:srgbClr val="7740E9"/>
          </a:solidFill>
          <a:ln/>
        </p:spPr>
      </p:sp>
      <p:sp>
        <p:nvSpPr>
          <p:cNvPr id="81" name="Shape 78"/>
          <p:cNvSpPr/>
          <p:nvPr/>
        </p:nvSpPr>
        <p:spPr>
          <a:xfrm>
            <a:off x="11044580" y="3945636"/>
            <a:ext cx="276835" cy="73152"/>
          </a:xfrm>
          <a:prstGeom prst="rect">
            <a:avLst/>
          </a:prstGeom>
          <a:solidFill>
            <a:srgbClr val="793DEB"/>
          </a:solidFill>
          <a:ln/>
        </p:spPr>
      </p:sp>
      <p:sp>
        <p:nvSpPr>
          <p:cNvPr id="82" name="Shape 79"/>
          <p:cNvSpPr/>
          <p:nvPr/>
        </p:nvSpPr>
        <p:spPr>
          <a:xfrm>
            <a:off x="11319586" y="3945636"/>
            <a:ext cx="276835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3" name="Shape 80"/>
          <p:cNvSpPr/>
          <p:nvPr/>
        </p:nvSpPr>
        <p:spPr>
          <a:xfrm>
            <a:off x="530352" y="3913632"/>
            <a:ext cx="155448" cy="15544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84" name="Shape 81"/>
          <p:cNvSpPr/>
          <p:nvPr/>
        </p:nvSpPr>
        <p:spPr>
          <a:xfrm>
            <a:off x="11503152" y="3913632"/>
            <a:ext cx="155448" cy="1554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5" name="Shape 82"/>
          <p:cNvSpPr/>
          <p:nvPr/>
        </p:nvSpPr>
        <p:spPr>
          <a:xfrm>
            <a:off x="721462" y="3593592"/>
            <a:ext cx="20117" cy="384048"/>
          </a:xfrm>
          <a:prstGeom prst="rect">
            <a:avLst/>
          </a:prstGeom>
          <a:solidFill>
            <a:srgbClr val="0E9384">
              <a:alpha val="88000"/>
            </a:srgbClr>
          </a:solidFill>
          <a:ln/>
        </p:spPr>
      </p:sp>
      <p:sp>
        <p:nvSpPr>
          <p:cNvPr id="86" name="Shape 83"/>
          <p:cNvSpPr/>
          <p:nvPr/>
        </p:nvSpPr>
        <p:spPr>
          <a:xfrm>
            <a:off x="649224" y="3909060"/>
            <a:ext cx="164592" cy="16459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E9384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347472" y="326440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0E938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347472" y="3246120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200" dirty="0"/>
          </a:p>
        </p:txBody>
      </p:sp>
      <p:sp>
        <p:nvSpPr>
          <p:cNvPr id="89" name="Text 86"/>
          <p:cNvSpPr/>
          <p:nvPr/>
        </p:nvSpPr>
        <p:spPr>
          <a:xfrm>
            <a:off x="64008" y="1828800"/>
            <a:ext cx="1335024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 founded in Abu Dhabi — IT consulting and web delivery for local businesses</a:t>
            </a:r>
            <a:endParaRPr lang="en-US" sz="850" dirty="0"/>
          </a:p>
        </p:txBody>
      </p:sp>
      <p:sp>
        <p:nvSpPr>
          <p:cNvPr id="90" name="Shape 87"/>
          <p:cNvSpPr/>
          <p:nvPr/>
        </p:nvSpPr>
        <p:spPr>
          <a:xfrm>
            <a:off x="2253735" y="4032504"/>
            <a:ext cx="20117" cy="384048"/>
          </a:xfrm>
          <a:prstGeom prst="rect">
            <a:avLst/>
          </a:prstGeom>
          <a:solidFill>
            <a:srgbClr val="0E9384">
              <a:alpha val="88000"/>
            </a:srgbClr>
          </a:solidFill>
          <a:ln/>
        </p:spPr>
      </p:sp>
      <p:sp>
        <p:nvSpPr>
          <p:cNvPr id="91" name="Shape 88"/>
          <p:cNvSpPr/>
          <p:nvPr/>
        </p:nvSpPr>
        <p:spPr>
          <a:xfrm>
            <a:off x="2181497" y="3909060"/>
            <a:ext cx="164592" cy="16459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E9384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879745" y="4379976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0E938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1879745" y="436168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200" dirty="0"/>
          </a:p>
        </p:txBody>
      </p:sp>
      <p:sp>
        <p:nvSpPr>
          <p:cNvPr id="94" name="Text 91"/>
          <p:cNvSpPr/>
          <p:nvPr/>
        </p:nvSpPr>
        <p:spPr>
          <a:xfrm>
            <a:off x="1596281" y="4764024"/>
            <a:ext cx="133502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practice launched: AWS and Azure migrations for UAE SMEs</a:t>
            </a:r>
            <a:endParaRPr lang="en-US" sz="850" dirty="0"/>
          </a:p>
        </p:txBody>
      </p:sp>
      <p:sp>
        <p:nvSpPr>
          <p:cNvPr id="95" name="Shape 92"/>
          <p:cNvSpPr/>
          <p:nvPr/>
        </p:nvSpPr>
        <p:spPr>
          <a:xfrm>
            <a:off x="3786008" y="3593592"/>
            <a:ext cx="20117" cy="384048"/>
          </a:xfrm>
          <a:prstGeom prst="rect">
            <a:avLst/>
          </a:prstGeom>
          <a:solidFill>
            <a:srgbClr val="0E9384">
              <a:alpha val="88000"/>
            </a:srgbClr>
          </a:solidFill>
          <a:ln/>
        </p:spPr>
      </p:sp>
      <p:sp>
        <p:nvSpPr>
          <p:cNvPr id="96" name="Shape 93"/>
          <p:cNvSpPr/>
          <p:nvPr/>
        </p:nvSpPr>
        <p:spPr>
          <a:xfrm>
            <a:off x="3713770" y="3909060"/>
            <a:ext cx="164592" cy="16459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E9384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412018" y="326440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0E938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8" name="Text 95"/>
          <p:cNvSpPr/>
          <p:nvPr/>
        </p:nvSpPr>
        <p:spPr>
          <a:xfrm>
            <a:off x="3412018" y="3246120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200" dirty="0"/>
          </a:p>
        </p:txBody>
      </p:sp>
      <p:sp>
        <p:nvSpPr>
          <p:cNvPr id="99" name="Text 96"/>
          <p:cNvSpPr/>
          <p:nvPr/>
        </p:nvSpPr>
        <p:spPr>
          <a:xfrm>
            <a:off x="3128554" y="1828800"/>
            <a:ext cx="1335024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 practice added — ISO 27001 and NESA-aligned programmes</a:t>
            </a:r>
            <a:endParaRPr lang="en-US" sz="850" dirty="0"/>
          </a:p>
        </p:txBody>
      </p:sp>
      <p:sp>
        <p:nvSpPr>
          <p:cNvPr id="100" name="Shape 97"/>
          <p:cNvSpPr/>
          <p:nvPr/>
        </p:nvSpPr>
        <p:spPr>
          <a:xfrm>
            <a:off x="5318281" y="4032504"/>
            <a:ext cx="20117" cy="384048"/>
          </a:xfrm>
          <a:prstGeom prst="rect">
            <a:avLst/>
          </a:prstGeom>
          <a:solidFill>
            <a:srgbClr val="0E9384">
              <a:alpha val="88000"/>
            </a:srgbClr>
          </a:solidFill>
          <a:ln/>
        </p:spPr>
      </p:sp>
      <p:sp>
        <p:nvSpPr>
          <p:cNvPr id="101" name="Shape 98"/>
          <p:cNvSpPr/>
          <p:nvPr/>
        </p:nvSpPr>
        <p:spPr>
          <a:xfrm>
            <a:off x="5246043" y="3909060"/>
            <a:ext cx="164592" cy="16459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E9384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4944291" y="4379976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0E938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4944291" y="436168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200" dirty="0"/>
          </a:p>
        </p:txBody>
      </p:sp>
      <p:sp>
        <p:nvSpPr>
          <p:cNvPr id="104" name="Text 101"/>
          <p:cNvSpPr/>
          <p:nvPr/>
        </p:nvSpPr>
        <p:spPr>
          <a:xfrm>
            <a:off x="4660827" y="4764024"/>
            <a:ext cx="133502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 studio formed: web, mobile, and API engineering</a:t>
            </a:r>
            <a:endParaRPr lang="en-US" sz="850" dirty="0"/>
          </a:p>
        </p:txBody>
      </p:sp>
      <p:sp>
        <p:nvSpPr>
          <p:cNvPr id="105" name="Shape 102"/>
          <p:cNvSpPr/>
          <p:nvPr/>
        </p:nvSpPr>
        <p:spPr>
          <a:xfrm>
            <a:off x="6850554" y="3593592"/>
            <a:ext cx="20117" cy="384048"/>
          </a:xfrm>
          <a:prstGeom prst="rect">
            <a:avLst/>
          </a:prstGeom>
          <a:solidFill>
            <a:srgbClr val="7C3AED">
              <a:alpha val="88000"/>
            </a:srgbClr>
          </a:solidFill>
          <a:ln/>
        </p:spPr>
      </p:sp>
      <p:sp>
        <p:nvSpPr>
          <p:cNvPr id="106" name="Shape 103"/>
          <p:cNvSpPr/>
          <p:nvPr/>
        </p:nvSpPr>
        <p:spPr>
          <a:xfrm>
            <a:off x="6778317" y="3909060"/>
            <a:ext cx="164592" cy="16459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7C3AED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6476565" y="326440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8" name="Text 105"/>
          <p:cNvSpPr/>
          <p:nvPr/>
        </p:nvSpPr>
        <p:spPr>
          <a:xfrm>
            <a:off x="6476565" y="3246120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200" dirty="0"/>
          </a:p>
        </p:txBody>
      </p:sp>
      <p:sp>
        <p:nvSpPr>
          <p:cNvPr id="109" name="Text 106"/>
          <p:cNvSpPr/>
          <p:nvPr/>
        </p:nvSpPr>
        <p:spPr>
          <a:xfrm>
            <a:off x="6193101" y="1828800"/>
            <a:ext cx="1335024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AI practice: BI dashboards, analytics, and ML-assisted tooling</a:t>
            </a:r>
            <a:endParaRPr lang="en-US" sz="850" dirty="0"/>
          </a:p>
        </p:txBody>
      </p:sp>
      <p:sp>
        <p:nvSpPr>
          <p:cNvPr id="110" name="Shape 107"/>
          <p:cNvSpPr/>
          <p:nvPr/>
        </p:nvSpPr>
        <p:spPr>
          <a:xfrm>
            <a:off x="8382827" y="4032504"/>
            <a:ext cx="20117" cy="384048"/>
          </a:xfrm>
          <a:prstGeom prst="rect">
            <a:avLst/>
          </a:prstGeom>
          <a:solidFill>
            <a:srgbClr val="7C3AED">
              <a:alpha val="88000"/>
            </a:srgbClr>
          </a:solidFill>
          <a:ln/>
        </p:spPr>
      </p:sp>
      <p:sp>
        <p:nvSpPr>
          <p:cNvPr id="111" name="Shape 108"/>
          <p:cNvSpPr/>
          <p:nvPr/>
        </p:nvSpPr>
        <p:spPr>
          <a:xfrm>
            <a:off x="8310590" y="3909060"/>
            <a:ext cx="164592" cy="16459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7C3AED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8008838" y="4379976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3" name="Text 110"/>
          <p:cNvSpPr/>
          <p:nvPr/>
        </p:nvSpPr>
        <p:spPr>
          <a:xfrm>
            <a:off x="8008838" y="436168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200" dirty="0"/>
          </a:p>
        </p:txBody>
      </p:sp>
      <p:sp>
        <p:nvSpPr>
          <p:cNvPr id="114" name="Text 111"/>
          <p:cNvSpPr/>
          <p:nvPr/>
        </p:nvSpPr>
        <p:spPr>
          <a:xfrm>
            <a:off x="7725374" y="4764024"/>
            <a:ext cx="133502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Pre-launch venture programme — building brands from idea to market</a:t>
            </a:r>
            <a:endParaRPr lang="en-US" sz="850" dirty="0"/>
          </a:p>
        </p:txBody>
      </p:sp>
      <p:sp>
        <p:nvSpPr>
          <p:cNvPr id="115" name="Shape 112"/>
          <p:cNvSpPr/>
          <p:nvPr/>
        </p:nvSpPr>
        <p:spPr>
          <a:xfrm>
            <a:off x="9915100" y="3593592"/>
            <a:ext cx="20117" cy="384048"/>
          </a:xfrm>
          <a:prstGeom prst="rect">
            <a:avLst/>
          </a:prstGeom>
          <a:solidFill>
            <a:srgbClr val="7C3AED">
              <a:alpha val="88000"/>
            </a:srgbClr>
          </a:solidFill>
          <a:ln/>
        </p:spPr>
      </p:sp>
      <p:sp>
        <p:nvSpPr>
          <p:cNvPr id="116" name="Shape 113"/>
          <p:cNvSpPr/>
          <p:nvPr/>
        </p:nvSpPr>
        <p:spPr>
          <a:xfrm>
            <a:off x="9842863" y="3909060"/>
            <a:ext cx="164592" cy="16459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7C3AED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9541111" y="326440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8" name="Text 115"/>
          <p:cNvSpPr/>
          <p:nvPr/>
        </p:nvSpPr>
        <p:spPr>
          <a:xfrm>
            <a:off x="9541111" y="3246120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200" dirty="0"/>
          </a:p>
        </p:txBody>
      </p:sp>
      <p:sp>
        <p:nvSpPr>
          <p:cNvPr id="119" name="Text 116"/>
          <p:cNvSpPr/>
          <p:nvPr/>
        </p:nvSpPr>
        <p:spPr>
          <a:xfrm>
            <a:off x="9257647" y="1828800"/>
            <a:ext cx="1335024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venture launches delivered; digital business card and app initiatives</a:t>
            </a:r>
            <a:endParaRPr lang="en-US" sz="850" dirty="0"/>
          </a:p>
        </p:txBody>
      </p:sp>
      <p:sp>
        <p:nvSpPr>
          <p:cNvPr id="120" name="Shape 117"/>
          <p:cNvSpPr/>
          <p:nvPr/>
        </p:nvSpPr>
        <p:spPr>
          <a:xfrm>
            <a:off x="11447374" y="4032504"/>
            <a:ext cx="20117" cy="384048"/>
          </a:xfrm>
          <a:prstGeom prst="rect">
            <a:avLst/>
          </a:prstGeom>
          <a:solidFill>
            <a:srgbClr val="7C3AED">
              <a:alpha val="88000"/>
            </a:srgbClr>
          </a:solidFill>
          <a:ln/>
        </p:spPr>
      </p:sp>
      <p:sp>
        <p:nvSpPr>
          <p:cNvPr id="121" name="Shape 118"/>
          <p:cNvSpPr/>
          <p:nvPr/>
        </p:nvSpPr>
        <p:spPr>
          <a:xfrm>
            <a:off x="11375136" y="3909060"/>
            <a:ext cx="164592" cy="16459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7C3AED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11073384" y="4379976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3" name="Text 120"/>
          <p:cNvSpPr/>
          <p:nvPr/>
        </p:nvSpPr>
        <p:spPr>
          <a:xfrm>
            <a:off x="11073384" y="436168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200" dirty="0"/>
          </a:p>
        </p:txBody>
      </p:sp>
      <p:sp>
        <p:nvSpPr>
          <p:cNvPr id="124" name="Text 121"/>
          <p:cNvSpPr/>
          <p:nvPr/>
        </p:nvSpPr>
        <p:spPr>
          <a:xfrm>
            <a:off x="10789920" y="4764024"/>
            <a:ext cx="133502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brand identity and expanded portfolio across the Gulf</a:t>
            </a:r>
            <a:endParaRPr lang="en-US" sz="850" dirty="0"/>
          </a:p>
        </p:txBody>
      </p:sp>
      <p:sp>
        <p:nvSpPr>
          <p:cNvPr id="125" name="Text 12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126" name="Text 12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7149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435320" y="0"/>
            <a:ext cx="437149" cy="54864"/>
          </a:xfrm>
          <a:prstGeom prst="rect">
            <a:avLst/>
          </a:prstGeom>
          <a:solidFill>
            <a:srgbClr val="18B3A9"/>
          </a:solidFill>
          <a:ln/>
        </p:spPr>
      </p:sp>
      <p:sp>
        <p:nvSpPr>
          <p:cNvPr id="5" name="Shape 3"/>
          <p:cNvSpPr/>
          <p:nvPr/>
        </p:nvSpPr>
        <p:spPr>
          <a:xfrm>
            <a:off x="870639" y="0"/>
            <a:ext cx="437149" cy="54864"/>
          </a:xfrm>
          <a:prstGeom prst="rect">
            <a:avLst/>
          </a:prstGeom>
          <a:solidFill>
            <a:srgbClr val="1CAFAB"/>
          </a:solidFill>
          <a:ln/>
        </p:spPr>
      </p:sp>
      <p:sp>
        <p:nvSpPr>
          <p:cNvPr id="6" name="Shape 4"/>
          <p:cNvSpPr/>
          <p:nvPr/>
        </p:nvSpPr>
        <p:spPr>
          <a:xfrm>
            <a:off x="1305959" y="0"/>
            <a:ext cx="437149" cy="54864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7" name="Shape 5"/>
          <p:cNvSpPr/>
          <p:nvPr/>
        </p:nvSpPr>
        <p:spPr>
          <a:xfrm>
            <a:off x="1741279" y="0"/>
            <a:ext cx="437149" cy="54864"/>
          </a:xfrm>
          <a:prstGeom prst="rect">
            <a:avLst/>
          </a:prstGeom>
          <a:solidFill>
            <a:srgbClr val="23A5B1"/>
          </a:solidFill>
          <a:ln/>
        </p:spPr>
      </p:sp>
      <p:sp>
        <p:nvSpPr>
          <p:cNvPr id="8" name="Shape 6"/>
          <p:cNvSpPr/>
          <p:nvPr/>
        </p:nvSpPr>
        <p:spPr>
          <a:xfrm>
            <a:off x="2176599" y="0"/>
            <a:ext cx="437149" cy="54864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9" name="Shape 7"/>
          <p:cNvSpPr/>
          <p:nvPr/>
        </p:nvSpPr>
        <p:spPr>
          <a:xfrm>
            <a:off x="2611918" y="0"/>
            <a:ext cx="437149" cy="54864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238" y="0"/>
            <a:ext cx="437149" cy="54864"/>
          </a:xfrm>
          <a:prstGeom prst="rect">
            <a:avLst/>
          </a:prstGeom>
          <a:solidFill>
            <a:srgbClr val="2F97B8"/>
          </a:solidFill>
          <a:ln/>
        </p:spPr>
      </p:sp>
      <p:sp>
        <p:nvSpPr>
          <p:cNvPr id="11" name="Shape 9"/>
          <p:cNvSpPr/>
          <p:nvPr/>
        </p:nvSpPr>
        <p:spPr>
          <a:xfrm>
            <a:off x="3482558" y="0"/>
            <a:ext cx="437149" cy="54864"/>
          </a:xfrm>
          <a:prstGeom prst="rect">
            <a:avLst/>
          </a:prstGeom>
          <a:solidFill>
            <a:srgbClr val="3393B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17877" y="0"/>
            <a:ext cx="437149" cy="54864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3" name="Shape 11"/>
          <p:cNvSpPr/>
          <p:nvPr/>
        </p:nvSpPr>
        <p:spPr>
          <a:xfrm>
            <a:off x="4353197" y="0"/>
            <a:ext cx="437149" cy="54864"/>
          </a:xfrm>
          <a:prstGeom prst="rect">
            <a:avLst/>
          </a:prstGeom>
          <a:solidFill>
            <a:srgbClr val="3B89C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8517" y="0"/>
            <a:ext cx="437149" cy="54864"/>
          </a:xfrm>
          <a:prstGeom prst="rect">
            <a:avLst/>
          </a:prstGeom>
          <a:solidFill>
            <a:srgbClr val="3E85C3"/>
          </a:solidFill>
          <a:ln/>
        </p:spPr>
      </p:sp>
      <p:sp>
        <p:nvSpPr>
          <p:cNvPr id="15" name="Shape 13"/>
          <p:cNvSpPr/>
          <p:nvPr/>
        </p:nvSpPr>
        <p:spPr>
          <a:xfrm>
            <a:off x="5223837" y="0"/>
            <a:ext cx="437149" cy="54864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6" name="Shape 14"/>
          <p:cNvSpPr/>
          <p:nvPr/>
        </p:nvSpPr>
        <p:spPr>
          <a:xfrm>
            <a:off x="5659156" y="0"/>
            <a:ext cx="437149" cy="54864"/>
          </a:xfrm>
          <a:prstGeom prst="rect">
            <a:avLst/>
          </a:prstGeom>
          <a:solidFill>
            <a:srgbClr val="467BC8"/>
          </a:solidFill>
          <a:ln/>
        </p:spPr>
      </p:sp>
      <p:sp>
        <p:nvSpPr>
          <p:cNvPr id="17" name="Shape 15"/>
          <p:cNvSpPr/>
          <p:nvPr/>
        </p:nvSpPr>
        <p:spPr>
          <a:xfrm>
            <a:off x="6094476" y="0"/>
            <a:ext cx="437149" cy="54864"/>
          </a:xfrm>
          <a:prstGeom prst="rect">
            <a:avLst/>
          </a:prstGeom>
          <a:solidFill>
            <a:srgbClr val="4A77C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29796" y="0"/>
            <a:ext cx="437149" cy="54864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19" name="Shape 17"/>
          <p:cNvSpPr/>
          <p:nvPr/>
        </p:nvSpPr>
        <p:spPr>
          <a:xfrm>
            <a:off x="6965115" y="0"/>
            <a:ext cx="437149" cy="54864"/>
          </a:xfrm>
          <a:prstGeom prst="rect">
            <a:avLst/>
          </a:prstGeom>
          <a:solidFill>
            <a:srgbClr val="526D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00435" y="0"/>
            <a:ext cx="437149" cy="54864"/>
          </a:xfrm>
          <a:prstGeom prst="rect">
            <a:avLst/>
          </a:prstGeom>
          <a:solidFill>
            <a:srgbClr val="5569D3"/>
          </a:solidFill>
          <a:ln/>
        </p:spPr>
      </p:sp>
      <p:sp>
        <p:nvSpPr>
          <p:cNvPr id="21" name="Shape 19"/>
          <p:cNvSpPr/>
          <p:nvPr/>
        </p:nvSpPr>
        <p:spPr>
          <a:xfrm>
            <a:off x="7835755" y="0"/>
            <a:ext cx="437149" cy="54864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22" name="Shape 20"/>
          <p:cNvSpPr/>
          <p:nvPr/>
        </p:nvSpPr>
        <p:spPr>
          <a:xfrm>
            <a:off x="8271075" y="0"/>
            <a:ext cx="437149" cy="54864"/>
          </a:xfrm>
          <a:prstGeom prst="rect">
            <a:avLst/>
          </a:prstGeom>
          <a:solidFill>
            <a:srgbClr val="5D5FD8"/>
          </a:solidFill>
          <a:ln/>
        </p:spPr>
      </p:sp>
      <p:sp>
        <p:nvSpPr>
          <p:cNvPr id="23" name="Shape 21"/>
          <p:cNvSpPr/>
          <p:nvPr/>
        </p:nvSpPr>
        <p:spPr>
          <a:xfrm>
            <a:off x="8706394" y="0"/>
            <a:ext cx="437149" cy="54864"/>
          </a:xfrm>
          <a:prstGeom prst="rect">
            <a:avLst/>
          </a:prstGeom>
          <a:solidFill>
            <a:srgbClr val="615BDB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1714" y="0"/>
            <a:ext cx="437149" cy="54864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25" name="Shape 23"/>
          <p:cNvSpPr/>
          <p:nvPr/>
        </p:nvSpPr>
        <p:spPr>
          <a:xfrm>
            <a:off x="9577034" y="0"/>
            <a:ext cx="437149" cy="54864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12353" y="0"/>
            <a:ext cx="437149" cy="54864"/>
          </a:xfrm>
          <a:prstGeom prst="rect">
            <a:avLst/>
          </a:prstGeom>
          <a:solidFill>
            <a:srgbClr val="6D4DE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47673" y="0"/>
            <a:ext cx="437149" cy="54864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2993" y="0"/>
            <a:ext cx="437149" cy="54864"/>
          </a:xfrm>
          <a:prstGeom prst="rect">
            <a:avLst/>
          </a:prstGeom>
          <a:solidFill>
            <a:srgbClr val="7443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18313" y="0"/>
            <a:ext cx="437149" cy="54864"/>
          </a:xfrm>
          <a:prstGeom prst="rect">
            <a:avLst/>
          </a:prstGeom>
          <a:solidFill>
            <a:srgbClr val="783FEA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53632" y="0"/>
            <a:ext cx="437149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Mission, Vision &amp; Values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566928" y="1024128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617220" y="1024128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34" name="Shape 32"/>
          <p:cNvSpPr/>
          <p:nvPr/>
        </p:nvSpPr>
        <p:spPr>
          <a:xfrm>
            <a:off x="667512" y="1024128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35" name="Shape 33"/>
          <p:cNvSpPr/>
          <p:nvPr/>
        </p:nvSpPr>
        <p:spPr>
          <a:xfrm>
            <a:off x="717804" y="1024128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36" name="Shape 34"/>
          <p:cNvSpPr/>
          <p:nvPr/>
        </p:nvSpPr>
        <p:spPr>
          <a:xfrm>
            <a:off x="768096" y="1024128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37" name="Shape 35"/>
          <p:cNvSpPr/>
          <p:nvPr/>
        </p:nvSpPr>
        <p:spPr>
          <a:xfrm>
            <a:off x="818388" y="1024128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38" name="Shape 36"/>
          <p:cNvSpPr/>
          <p:nvPr/>
        </p:nvSpPr>
        <p:spPr>
          <a:xfrm>
            <a:off x="868680" y="1024128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39" name="Shape 37"/>
          <p:cNvSpPr/>
          <p:nvPr/>
        </p:nvSpPr>
        <p:spPr>
          <a:xfrm>
            <a:off x="918972" y="1024128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40" name="Shape 38"/>
          <p:cNvSpPr/>
          <p:nvPr/>
        </p:nvSpPr>
        <p:spPr>
          <a:xfrm>
            <a:off x="969264" y="1024128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19556" y="1024128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640" y="1371600"/>
            <a:ext cx="3468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1371600"/>
            <a:ext cx="3468624" cy="640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4" name="Text 42"/>
          <p:cNvSpPr/>
          <p:nvPr/>
        </p:nvSpPr>
        <p:spPr>
          <a:xfrm>
            <a:off x="777240" y="1572768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Mission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77240" y="2011680"/>
            <a:ext cx="301142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transform ideas into impactful realities — giving UAE businesses and founders the strategy, engineering, and momentum they need to compete in the digital age.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245864" y="1371600"/>
            <a:ext cx="3468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245864" y="1371600"/>
            <a:ext cx="3468624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8" name="Text 46"/>
          <p:cNvSpPr/>
          <p:nvPr/>
        </p:nvSpPr>
        <p:spPr>
          <a:xfrm>
            <a:off x="4474464" y="1572768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Vision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4474464" y="2011680"/>
            <a:ext cx="301142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be the Gulf's most trusted end-to-end digital partner: the first call for anyone who wants technology delivered right the first time.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943088" y="1371600"/>
            <a:ext cx="3468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43088" y="1371600"/>
            <a:ext cx="3468624" cy="640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2" name="Text 50"/>
          <p:cNvSpPr/>
          <p:nvPr/>
        </p:nvSpPr>
        <p:spPr>
          <a:xfrm>
            <a:off x="8171688" y="1572768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Promise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8171688" y="2011680"/>
            <a:ext cx="301142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partner, every layer. We stay accountable from the first workshop to long after launch — with radical transparency at every step.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48640" y="40233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Values We Work By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66928" y="4590288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6" name="Shape 54"/>
          <p:cNvSpPr/>
          <p:nvPr/>
        </p:nvSpPr>
        <p:spPr>
          <a:xfrm>
            <a:off x="617220" y="4590288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57" name="Shape 55"/>
          <p:cNvSpPr/>
          <p:nvPr/>
        </p:nvSpPr>
        <p:spPr>
          <a:xfrm>
            <a:off x="667512" y="4590288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58" name="Shape 56"/>
          <p:cNvSpPr/>
          <p:nvPr/>
        </p:nvSpPr>
        <p:spPr>
          <a:xfrm>
            <a:off x="717804" y="4590288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59" name="Shape 57"/>
          <p:cNvSpPr/>
          <p:nvPr/>
        </p:nvSpPr>
        <p:spPr>
          <a:xfrm>
            <a:off x="768096" y="4590288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60" name="Shape 58"/>
          <p:cNvSpPr/>
          <p:nvPr/>
        </p:nvSpPr>
        <p:spPr>
          <a:xfrm>
            <a:off x="818388" y="4590288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61" name="Shape 59"/>
          <p:cNvSpPr/>
          <p:nvPr/>
        </p:nvSpPr>
        <p:spPr>
          <a:xfrm>
            <a:off x="868680" y="4590288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62" name="Shape 60"/>
          <p:cNvSpPr/>
          <p:nvPr/>
        </p:nvSpPr>
        <p:spPr>
          <a:xfrm>
            <a:off x="918972" y="4590288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63" name="Shape 61"/>
          <p:cNvSpPr/>
          <p:nvPr/>
        </p:nvSpPr>
        <p:spPr>
          <a:xfrm>
            <a:off x="969264" y="4590288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64" name="Shape 62"/>
          <p:cNvSpPr/>
          <p:nvPr/>
        </p:nvSpPr>
        <p:spPr>
          <a:xfrm>
            <a:off x="1019556" y="4590288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5" name="Shape 63"/>
          <p:cNvSpPr/>
          <p:nvPr/>
        </p:nvSpPr>
        <p:spPr>
          <a:xfrm>
            <a:off x="548640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4944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694944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Understand deeply before building anything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2766974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913278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250" dirty="0"/>
          </a:p>
        </p:txBody>
      </p:sp>
      <p:sp>
        <p:nvSpPr>
          <p:cNvPr id="70" name="Text 68"/>
          <p:cNvSpPr/>
          <p:nvPr/>
        </p:nvSpPr>
        <p:spPr>
          <a:xfrm>
            <a:off x="2913278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roadmaps — never templates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985309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31613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</a:t>
            </a:r>
            <a:endParaRPr lang="en-US" sz="1250" dirty="0"/>
          </a:p>
        </p:txBody>
      </p:sp>
      <p:sp>
        <p:nvSpPr>
          <p:cNvPr id="73" name="Text 71"/>
          <p:cNvSpPr/>
          <p:nvPr/>
        </p:nvSpPr>
        <p:spPr>
          <a:xfrm>
            <a:off x="5131613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Ship, measure, and keep improving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7203643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349947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It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7349947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Accountable until the outcome lands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9421978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568282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Human</a:t>
            </a:r>
            <a:endParaRPr lang="en-US" sz="1250" dirty="0"/>
          </a:p>
        </p:txBody>
      </p:sp>
      <p:sp>
        <p:nvSpPr>
          <p:cNvPr id="79" name="Text 77"/>
          <p:cNvSpPr/>
          <p:nvPr/>
        </p:nvSpPr>
        <p:spPr>
          <a:xfrm>
            <a:off x="9568282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Founder-level attention on every account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7149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435320" y="0"/>
            <a:ext cx="437149" cy="54864"/>
          </a:xfrm>
          <a:prstGeom prst="rect">
            <a:avLst/>
          </a:prstGeom>
          <a:solidFill>
            <a:srgbClr val="18B3A9"/>
          </a:solidFill>
          <a:ln/>
        </p:spPr>
      </p:sp>
      <p:sp>
        <p:nvSpPr>
          <p:cNvPr id="5" name="Shape 3"/>
          <p:cNvSpPr/>
          <p:nvPr/>
        </p:nvSpPr>
        <p:spPr>
          <a:xfrm>
            <a:off x="870639" y="0"/>
            <a:ext cx="437149" cy="54864"/>
          </a:xfrm>
          <a:prstGeom prst="rect">
            <a:avLst/>
          </a:prstGeom>
          <a:solidFill>
            <a:srgbClr val="1CAFAB"/>
          </a:solidFill>
          <a:ln/>
        </p:spPr>
      </p:sp>
      <p:sp>
        <p:nvSpPr>
          <p:cNvPr id="6" name="Shape 4"/>
          <p:cNvSpPr/>
          <p:nvPr/>
        </p:nvSpPr>
        <p:spPr>
          <a:xfrm>
            <a:off x="1305959" y="0"/>
            <a:ext cx="437149" cy="54864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7" name="Shape 5"/>
          <p:cNvSpPr/>
          <p:nvPr/>
        </p:nvSpPr>
        <p:spPr>
          <a:xfrm>
            <a:off x="1741279" y="0"/>
            <a:ext cx="437149" cy="54864"/>
          </a:xfrm>
          <a:prstGeom prst="rect">
            <a:avLst/>
          </a:prstGeom>
          <a:solidFill>
            <a:srgbClr val="23A5B1"/>
          </a:solidFill>
          <a:ln/>
        </p:spPr>
      </p:sp>
      <p:sp>
        <p:nvSpPr>
          <p:cNvPr id="8" name="Shape 6"/>
          <p:cNvSpPr/>
          <p:nvPr/>
        </p:nvSpPr>
        <p:spPr>
          <a:xfrm>
            <a:off x="2176599" y="0"/>
            <a:ext cx="437149" cy="54864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9" name="Shape 7"/>
          <p:cNvSpPr/>
          <p:nvPr/>
        </p:nvSpPr>
        <p:spPr>
          <a:xfrm>
            <a:off x="2611918" y="0"/>
            <a:ext cx="437149" cy="54864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238" y="0"/>
            <a:ext cx="437149" cy="54864"/>
          </a:xfrm>
          <a:prstGeom prst="rect">
            <a:avLst/>
          </a:prstGeom>
          <a:solidFill>
            <a:srgbClr val="2F97B8"/>
          </a:solidFill>
          <a:ln/>
        </p:spPr>
      </p:sp>
      <p:sp>
        <p:nvSpPr>
          <p:cNvPr id="11" name="Shape 9"/>
          <p:cNvSpPr/>
          <p:nvPr/>
        </p:nvSpPr>
        <p:spPr>
          <a:xfrm>
            <a:off x="3482558" y="0"/>
            <a:ext cx="437149" cy="54864"/>
          </a:xfrm>
          <a:prstGeom prst="rect">
            <a:avLst/>
          </a:prstGeom>
          <a:solidFill>
            <a:srgbClr val="3393B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17877" y="0"/>
            <a:ext cx="437149" cy="54864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3" name="Shape 11"/>
          <p:cNvSpPr/>
          <p:nvPr/>
        </p:nvSpPr>
        <p:spPr>
          <a:xfrm>
            <a:off x="4353197" y="0"/>
            <a:ext cx="437149" cy="54864"/>
          </a:xfrm>
          <a:prstGeom prst="rect">
            <a:avLst/>
          </a:prstGeom>
          <a:solidFill>
            <a:srgbClr val="3B89C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8517" y="0"/>
            <a:ext cx="437149" cy="54864"/>
          </a:xfrm>
          <a:prstGeom prst="rect">
            <a:avLst/>
          </a:prstGeom>
          <a:solidFill>
            <a:srgbClr val="3E85C3"/>
          </a:solidFill>
          <a:ln/>
        </p:spPr>
      </p:sp>
      <p:sp>
        <p:nvSpPr>
          <p:cNvPr id="15" name="Shape 13"/>
          <p:cNvSpPr/>
          <p:nvPr/>
        </p:nvSpPr>
        <p:spPr>
          <a:xfrm>
            <a:off x="5223837" y="0"/>
            <a:ext cx="437149" cy="54864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6" name="Shape 14"/>
          <p:cNvSpPr/>
          <p:nvPr/>
        </p:nvSpPr>
        <p:spPr>
          <a:xfrm>
            <a:off x="5659156" y="0"/>
            <a:ext cx="437149" cy="54864"/>
          </a:xfrm>
          <a:prstGeom prst="rect">
            <a:avLst/>
          </a:prstGeom>
          <a:solidFill>
            <a:srgbClr val="467BC8"/>
          </a:solidFill>
          <a:ln/>
        </p:spPr>
      </p:sp>
      <p:sp>
        <p:nvSpPr>
          <p:cNvPr id="17" name="Shape 15"/>
          <p:cNvSpPr/>
          <p:nvPr/>
        </p:nvSpPr>
        <p:spPr>
          <a:xfrm>
            <a:off x="6094476" y="0"/>
            <a:ext cx="437149" cy="54864"/>
          </a:xfrm>
          <a:prstGeom prst="rect">
            <a:avLst/>
          </a:prstGeom>
          <a:solidFill>
            <a:srgbClr val="4A77C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29796" y="0"/>
            <a:ext cx="437149" cy="54864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19" name="Shape 17"/>
          <p:cNvSpPr/>
          <p:nvPr/>
        </p:nvSpPr>
        <p:spPr>
          <a:xfrm>
            <a:off x="6965115" y="0"/>
            <a:ext cx="437149" cy="54864"/>
          </a:xfrm>
          <a:prstGeom prst="rect">
            <a:avLst/>
          </a:prstGeom>
          <a:solidFill>
            <a:srgbClr val="526D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00435" y="0"/>
            <a:ext cx="437149" cy="54864"/>
          </a:xfrm>
          <a:prstGeom prst="rect">
            <a:avLst/>
          </a:prstGeom>
          <a:solidFill>
            <a:srgbClr val="5569D3"/>
          </a:solidFill>
          <a:ln/>
        </p:spPr>
      </p:sp>
      <p:sp>
        <p:nvSpPr>
          <p:cNvPr id="21" name="Shape 19"/>
          <p:cNvSpPr/>
          <p:nvPr/>
        </p:nvSpPr>
        <p:spPr>
          <a:xfrm>
            <a:off x="7835755" y="0"/>
            <a:ext cx="437149" cy="54864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22" name="Shape 20"/>
          <p:cNvSpPr/>
          <p:nvPr/>
        </p:nvSpPr>
        <p:spPr>
          <a:xfrm>
            <a:off x="8271075" y="0"/>
            <a:ext cx="437149" cy="54864"/>
          </a:xfrm>
          <a:prstGeom prst="rect">
            <a:avLst/>
          </a:prstGeom>
          <a:solidFill>
            <a:srgbClr val="5D5FD8"/>
          </a:solidFill>
          <a:ln/>
        </p:spPr>
      </p:sp>
      <p:sp>
        <p:nvSpPr>
          <p:cNvPr id="23" name="Shape 21"/>
          <p:cNvSpPr/>
          <p:nvPr/>
        </p:nvSpPr>
        <p:spPr>
          <a:xfrm>
            <a:off x="8706394" y="0"/>
            <a:ext cx="437149" cy="54864"/>
          </a:xfrm>
          <a:prstGeom prst="rect">
            <a:avLst/>
          </a:prstGeom>
          <a:solidFill>
            <a:srgbClr val="615BDB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1714" y="0"/>
            <a:ext cx="437149" cy="54864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25" name="Shape 23"/>
          <p:cNvSpPr/>
          <p:nvPr/>
        </p:nvSpPr>
        <p:spPr>
          <a:xfrm>
            <a:off x="9577034" y="0"/>
            <a:ext cx="437149" cy="54864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12353" y="0"/>
            <a:ext cx="437149" cy="54864"/>
          </a:xfrm>
          <a:prstGeom prst="rect">
            <a:avLst/>
          </a:prstGeom>
          <a:solidFill>
            <a:srgbClr val="6D4DE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47673" y="0"/>
            <a:ext cx="437149" cy="54864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2993" y="0"/>
            <a:ext cx="437149" cy="54864"/>
          </a:xfrm>
          <a:prstGeom prst="rect">
            <a:avLst/>
          </a:prstGeom>
          <a:solidFill>
            <a:srgbClr val="7443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18313" y="0"/>
            <a:ext cx="437149" cy="54864"/>
          </a:xfrm>
          <a:prstGeom prst="rect">
            <a:avLst/>
          </a:prstGeom>
          <a:solidFill>
            <a:srgbClr val="783FEA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53632" y="0"/>
            <a:ext cx="437149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36576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Services  —  1 of 2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566928" y="896112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617220" y="896112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34" name="Shape 32"/>
          <p:cNvSpPr/>
          <p:nvPr/>
        </p:nvSpPr>
        <p:spPr>
          <a:xfrm>
            <a:off x="667512" y="896112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35" name="Shape 33"/>
          <p:cNvSpPr/>
          <p:nvPr/>
        </p:nvSpPr>
        <p:spPr>
          <a:xfrm>
            <a:off x="717804" y="896112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36" name="Shape 34"/>
          <p:cNvSpPr/>
          <p:nvPr/>
        </p:nvSpPr>
        <p:spPr>
          <a:xfrm>
            <a:off x="768096" y="896112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37" name="Shape 35"/>
          <p:cNvSpPr/>
          <p:nvPr/>
        </p:nvSpPr>
        <p:spPr>
          <a:xfrm>
            <a:off x="818388" y="896112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38" name="Shape 36"/>
          <p:cNvSpPr/>
          <p:nvPr/>
        </p:nvSpPr>
        <p:spPr>
          <a:xfrm>
            <a:off x="868680" y="896112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39" name="Shape 37"/>
          <p:cNvSpPr/>
          <p:nvPr/>
        </p:nvSpPr>
        <p:spPr>
          <a:xfrm>
            <a:off x="918972" y="896112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40" name="Shape 38"/>
          <p:cNvSpPr/>
          <p:nvPr/>
        </p:nvSpPr>
        <p:spPr>
          <a:xfrm>
            <a:off x="969264" y="896112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19556" y="896112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640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4672" y="1554480"/>
            <a:ext cx="128016" cy="3840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4" name="Text 42"/>
          <p:cNvSpPr/>
          <p:nvPr/>
        </p:nvSpPr>
        <p:spPr>
          <a:xfrm>
            <a:off x="1051560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Transformation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1051560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overhaul of business processes, culture, and technology — aligned with UAE Vision 2031.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51560" y="28254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7" name="Text 45"/>
          <p:cNvSpPr/>
          <p:nvPr/>
        </p:nvSpPr>
        <p:spPr>
          <a:xfrm>
            <a:off x="1197864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 Design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207258" y="28254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9" name="Text 47"/>
          <p:cNvSpPr/>
          <p:nvPr/>
        </p:nvSpPr>
        <p:spPr>
          <a:xfrm>
            <a:off x="3353562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Management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051560" y="32095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1" name="Text 49"/>
          <p:cNvSpPr/>
          <p:nvPr/>
        </p:nvSpPr>
        <p:spPr>
          <a:xfrm>
            <a:off x="1197864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Roadmaps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07258" y="32095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3" name="Text 51"/>
          <p:cNvSpPr/>
          <p:nvPr/>
        </p:nvSpPr>
        <p:spPr>
          <a:xfrm>
            <a:off x="3353562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Legacy Modernisation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185916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441948" y="1554480"/>
            <a:ext cx="128016" cy="3840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6" name="Text 54"/>
          <p:cNvSpPr/>
          <p:nvPr/>
        </p:nvSpPr>
        <p:spPr>
          <a:xfrm>
            <a:off x="6688836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Consulting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6688836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Data-driven strategy and C-suite advisory that turns complexity into competitive advantage.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88836" y="282549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9" name="Text 57"/>
          <p:cNvSpPr/>
          <p:nvPr/>
        </p:nvSpPr>
        <p:spPr>
          <a:xfrm>
            <a:off x="6835140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Roadmaps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8844534" y="282549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1" name="Text 59"/>
          <p:cNvSpPr/>
          <p:nvPr/>
        </p:nvSpPr>
        <p:spPr>
          <a:xfrm>
            <a:off x="8990838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C-Suite Advisory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688836" y="3209544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3" name="Text 61"/>
          <p:cNvSpPr/>
          <p:nvPr/>
        </p:nvSpPr>
        <p:spPr>
          <a:xfrm>
            <a:off x="6835140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OKRs &amp; Governance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844534" y="3209544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5" name="Text 63"/>
          <p:cNvSpPr/>
          <p:nvPr/>
        </p:nvSpPr>
        <p:spPr>
          <a:xfrm>
            <a:off x="8990838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Selection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48640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04672" y="4069080"/>
            <a:ext cx="128016" cy="3840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8" name="Text 66"/>
          <p:cNvSpPr/>
          <p:nvPr/>
        </p:nvSpPr>
        <p:spPr>
          <a:xfrm>
            <a:off x="1051560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Services</a:t>
            </a:r>
            <a:endParaRPr lang="en-US" sz="1700" dirty="0"/>
          </a:p>
        </p:txBody>
      </p:sp>
      <p:sp>
        <p:nvSpPr>
          <p:cNvPr id="69" name="Text 67"/>
          <p:cNvSpPr/>
          <p:nvPr/>
        </p:nvSpPr>
        <p:spPr>
          <a:xfrm>
            <a:off x="1051560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Multi-cloud architecture, migration, and optimisation on AWS, Azure, and GCP.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1051560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1" name="Text 69"/>
          <p:cNvSpPr/>
          <p:nvPr/>
        </p:nvSpPr>
        <p:spPr>
          <a:xfrm>
            <a:off x="1197864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Architecture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3207258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3" name="Text 71"/>
          <p:cNvSpPr/>
          <p:nvPr/>
        </p:nvSpPr>
        <p:spPr>
          <a:xfrm>
            <a:off x="3353562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1051560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5" name="Text 73"/>
          <p:cNvSpPr/>
          <p:nvPr/>
        </p:nvSpPr>
        <p:spPr>
          <a:xfrm>
            <a:off x="1197864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Operations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3207258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7" name="Text 75"/>
          <p:cNvSpPr/>
          <p:nvPr/>
        </p:nvSpPr>
        <p:spPr>
          <a:xfrm>
            <a:off x="3353562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FinOps &amp; Cost Control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185916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441948" y="4069080"/>
            <a:ext cx="128016" cy="38404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0" name="Text 78"/>
          <p:cNvSpPr/>
          <p:nvPr/>
        </p:nvSpPr>
        <p:spPr>
          <a:xfrm>
            <a:off x="6688836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</a:t>
            </a:r>
            <a:endParaRPr lang="en-US" sz="1700" dirty="0"/>
          </a:p>
        </p:txBody>
      </p:sp>
      <p:sp>
        <p:nvSpPr>
          <p:cNvPr id="81" name="Text 79"/>
          <p:cNvSpPr/>
          <p:nvPr/>
        </p:nvSpPr>
        <p:spPr>
          <a:xfrm>
            <a:off x="6688836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assessments, threat monitoring, and compliance frameworks that protect critical assets.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6688836" y="534009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3" name="Text 81"/>
          <p:cNvSpPr/>
          <p:nvPr/>
        </p:nvSpPr>
        <p:spPr>
          <a:xfrm>
            <a:off x="6835140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Zero-Trust Design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8844534" y="534009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5" name="Text 83"/>
          <p:cNvSpPr/>
          <p:nvPr/>
        </p:nvSpPr>
        <p:spPr>
          <a:xfrm>
            <a:off x="8990838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Programmes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6688836" y="5724144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7" name="Text 85"/>
          <p:cNvSpPr/>
          <p:nvPr/>
        </p:nvSpPr>
        <p:spPr>
          <a:xfrm>
            <a:off x="6835140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NESA Alignment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8844534" y="5724144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9" name="Text 87"/>
          <p:cNvSpPr/>
          <p:nvPr/>
        </p:nvSpPr>
        <p:spPr>
          <a:xfrm>
            <a:off x="8990838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 Monitoring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7149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435320" y="0"/>
            <a:ext cx="437149" cy="54864"/>
          </a:xfrm>
          <a:prstGeom prst="rect">
            <a:avLst/>
          </a:prstGeom>
          <a:solidFill>
            <a:srgbClr val="18B3A9"/>
          </a:solidFill>
          <a:ln/>
        </p:spPr>
      </p:sp>
      <p:sp>
        <p:nvSpPr>
          <p:cNvPr id="5" name="Shape 3"/>
          <p:cNvSpPr/>
          <p:nvPr/>
        </p:nvSpPr>
        <p:spPr>
          <a:xfrm>
            <a:off x="870639" y="0"/>
            <a:ext cx="437149" cy="54864"/>
          </a:xfrm>
          <a:prstGeom prst="rect">
            <a:avLst/>
          </a:prstGeom>
          <a:solidFill>
            <a:srgbClr val="1CAFAB"/>
          </a:solidFill>
          <a:ln/>
        </p:spPr>
      </p:sp>
      <p:sp>
        <p:nvSpPr>
          <p:cNvPr id="6" name="Shape 4"/>
          <p:cNvSpPr/>
          <p:nvPr/>
        </p:nvSpPr>
        <p:spPr>
          <a:xfrm>
            <a:off x="1305959" y="0"/>
            <a:ext cx="437149" cy="54864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7" name="Shape 5"/>
          <p:cNvSpPr/>
          <p:nvPr/>
        </p:nvSpPr>
        <p:spPr>
          <a:xfrm>
            <a:off x="1741279" y="0"/>
            <a:ext cx="437149" cy="54864"/>
          </a:xfrm>
          <a:prstGeom prst="rect">
            <a:avLst/>
          </a:prstGeom>
          <a:solidFill>
            <a:srgbClr val="23A5B1"/>
          </a:solidFill>
          <a:ln/>
        </p:spPr>
      </p:sp>
      <p:sp>
        <p:nvSpPr>
          <p:cNvPr id="8" name="Shape 6"/>
          <p:cNvSpPr/>
          <p:nvPr/>
        </p:nvSpPr>
        <p:spPr>
          <a:xfrm>
            <a:off x="2176599" y="0"/>
            <a:ext cx="437149" cy="54864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9" name="Shape 7"/>
          <p:cNvSpPr/>
          <p:nvPr/>
        </p:nvSpPr>
        <p:spPr>
          <a:xfrm>
            <a:off x="2611918" y="0"/>
            <a:ext cx="437149" cy="54864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238" y="0"/>
            <a:ext cx="437149" cy="54864"/>
          </a:xfrm>
          <a:prstGeom prst="rect">
            <a:avLst/>
          </a:prstGeom>
          <a:solidFill>
            <a:srgbClr val="2F97B8"/>
          </a:solidFill>
          <a:ln/>
        </p:spPr>
      </p:sp>
      <p:sp>
        <p:nvSpPr>
          <p:cNvPr id="11" name="Shape 9"/>
          <p:cNvSpPr/>
          <p:nvPr/>
        </p:nvSpPr>
        <p:spPr>
          <a:xfrm>
            <a:off x="3482558" y="0"/>
            <a:ext cx="437149" cy="54864"/>
          </a:xfrm>
          <a:prstGeom prst="rect">
            <a:avLst/>
          </a:prstGeom>
          <a:solidFill>
            <a:srgbClr val="3393B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17877" y="0"/>
            <a:ext cx="437149" cy="54864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3" name="Shape 11"/>
          <p:cNvSpPr/>
          <p:nvPr/>
        </p:nvSpPr>
        <p:spPr>
          <a:xfrm>
            <a:off x="4353197" y="0"/>
            <a:ext cx="437149" cy="54864"/>
          </a:xfrm>
          <a:prstGeom prst="rect">
            <a:avLst/>
          </a:prstGeom>
          <a:solidFill>
            <a:srgbClr val="3B89C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8517" y="0"/>
            <a:ext cx="437149" cy="54864"/>
          </a:xfrm>
          <a:prstGeom prst="rect">
            <a:avLst/>
          </a:prstGeom>
          <a:solidFill>
            <a:srgbClr val="3E85C3"/>
          </a:solidFill>
          <a:ln/>
        </p:spPr>
      </p:sp>
      <p:sp>
        <p:nvSpPr>
          <p:cNvPr id="15" name="Shape 13"/>
          <p:cNvSpPr/>
          <p:nvPr/>
        </p:nvSpPr>
        <p:spPr>
          <a:xfrm>
            <a:off x="5223837" y="0"/>
            <a:ext cx="437149" cy="54864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6" name="Shape 14"/>
          <p:cNvSpPr/>
          <p:nvPr/>
        </p:nvSpPr>
        <p:spPr>
          <a:xfrm>
            <a:off x="5659156" y="0"/>
            <a:ext cx="437149" cy="54864"/>
          </a:xfrm>
          <a:prstGeom prst="rect">
            <a:avLst/>
          </a:prstGeom>
          <a:solidFill>
            <a:srgbClr val="467BC8"/>
          </a:solidFill>
          <a:ln/>
        </p:spPr>
      </p:sp>
      <p:sp>
        <p:nvSpPr>
          <p:cNvPr id="17" name="Shape 15"/>
          <p:cNvSpPr/>
          <p:nvPr/>
        </p:nvSpPr>
        <p:spPr>
          <a:xfrm>
            <a:off x="6094476" y="0"/>
            <a:ext cx="437149" cy="54864"/>
          </a:xfrm>
          <a:prstGeom prst="rect">
            <a:avLst/>
          </a:prstGeom>
          <a:solidFill>
            <a:srgbClr val="4A77C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29796" y="0"/>
            <a:ext cx="437149" cy="54864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19" name="Shape 17"/>
          <p:cNvSpPr/>
          <p:nvPr/>
        </p:nvSpPr>
        <p:spPr>
          <a:xfrm>
            <a:off x="6965115" y="0"/>
            <a:ext cx="437149" cy="54864"/>
          </a:xfrm>
          <a:prstGeom prst="rect">
            <a:avLst/>
          </a:prstGeom>
          <a:solidFill>
            <a:srgbClr val="526D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00435" y="0"/>
            <a:ext cx="437149" cy="54864"/>
          </a:xfrm>
          <a:prstGeom prst="rect">
            <a:avLst/>
          </a:prstGeom>
          <a:solidFill>
            <a:srgbClr val="5569D3"/>
          </a:solidFill>
          <a:ln/>
        </p:spPr>
      </p:sp>
      <p:sp>
        <p:nvSpPr>
          <p:cNvPr id="21" name="Shape 19"/>
          <p:cNvSpPr/>
          <p:nvPr/>
        </p:nvSpPr>
        <p:spPr>
          <a:xfrm>
            <a:off x="7835755" y="0"/>
            <a:ext cx="437149" cy="54864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22" name="Shape 20"/>
          <p:cNvSpPr/>
          <p:nvPr/>
        </p:nvSpPr>
        <p:spPr>
          <a:xfrm>
            <a:off x="8271075" y="0"/>
            <a:ext cx="437149" cy="54864"/>
          </a:xfrm>
          <a:prstGeom prst="rect">
            <a:avLst/>
          </a:prstGeom>
          <a:solidFill>
            <a:srgbClr val="5D5FD8"/>
          </a:solidFill>
          <a:ln/>
        </p:spPr>
      </p:sp>
      <p:sp>
        <p:nvSpPr>
          <p:cNvPr id="23" name="Shape 21"/>
          <p:cNvSpPr/>
          <p:nvPr/>
        </p:nvSpPr>
        <p:spPr>
          <a:xfrm>
            <a:off x="8706394" y="0"/>
            <a:ext cx="437149" cy="54864"/>
          </a:xfrm>
          <a:prstGeom prst="rect">
            <a:avLst/>
          </a:prstGeom>
          <a:solidFill>
            <a:srgbClr val="615BDB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1714" y="0"/>
            <a:ext cx="437149" cy="54864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25" name="Shape 23"/>
          <p:cNvSpPr/>
          <p:nvPr/>
        </p:nvSpPr>
        <p:spPr>
          <a:xfrm>
            <a:off x="9577034" y="0"/>
            <a:ext cx="437149" cy="54864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12353" y="0"/>
            <a:ext cx="437149" cy="54864"/>
          </a:xfrm>
          <a:prstGeom prst="rect">
            <a:avLst/>
          </a:prstGeom>
          <a:solidFill>
            <a:srgbClr val="6D4DE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47673" y="0"/>
            <a:ext cx="437149" cy="54864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2993" y="0"/>
            <a:ext cx="437149" cy="54864"/>
          </a:xfrm>
          <a:prstGeom prst="rect">
            <a:avLst/>
          </a:prstGeom>
          <a:solidFill>
            <a:srgbClr val="7443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18313" y="0"/>
            <a:ext cx="437149" cy="54864"/>
          </a:xfrm>
          <a:prstGeom prst="rect">
            <a:avLst/>
          </a:prstGeom>
          <a:solidFill>
            <a:srgbClr val="783FEA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53632" y="0"/>
            <a:ext cx="437149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36576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Services  —  2 of 2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566928" y="896112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617220" y="896112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34" name="Shape 32"/>
          <p:cNvSpPr/>
          <p:nvPr/>
        </p:nvSpPr>
        <p:spPr>
          <a:xfrm>
            <a:off x="667512" y="896112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35" name="Shape 33"/>
          <p:cNvSpPr/>
          <p:nvPr/>
        </p:nvSpPr>
        <p:spPr>
          <a:xfrm>
            <a:off x="717804" y="896112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36" name="Shape 34"/>
          <p:cNvSpPr/>
          <p:nvPr/>
        </p:nvSpPr>
        <p:spPr>
          <a:xfrm>
            <a:off x="768096" y="896112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37" name="Shape 35"/>
          <p:cNvSpPr/>
          <p:nvPr/>
        </p:nvSpPr>
        <p:spPr>
          <a:xfrm>
            <a:off x="818388" y="896112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38" name="Shape 36"/>
          <p:cNvSpPr/>
          <p:nvPr/>
        </p:nvSpPr>
        <p:spPr>
          <a:xfrm>
            <a:off x="868680" y="896112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39" name="Shape 37"/>
          <p:cNvSpPr/>
          <p:nvPr/>
        </p:nvSpPr>
        <p:spPr>
          <a:xfrm>
            <a:off x="918972" y="896112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40" name="Shape 38"/>
          <p:cNvSpPr/>
          <p:nvPr/>
        </p:nvSpPr>
        <p:spPr>
          <a:xfrm>
            <a:off x="969264" y="896112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19556" y="896112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640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4672" y="1554480"/>
            <a:ext cx="128016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4" name="Text 42"/>
          <p:cNvSpPr/>
          <p:nvPr/>
        </p:nvSpPr>
        <p:spPr>
          <a:xfrm>
            <a:off x="1051560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1051560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Bespoke web, mobile, and enterprise applications engineered from the ground up.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51560" y="2825496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7" name="Text 45"/>
          <p:cNvSpPr/>
          <p:nvPr/>
        </p:nvSpPr>
        <p:spPr>
          <a:xfrm>
            <a:off x="1197864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&amp; Mobile Apps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207258" y="2825496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9" name="Text 47"/>
          <p:cNvSpPr/>
          <p:nvPr/>
        </p:nvSpPr>
        <p:spPr>
          <a:xfrm>
            <a:off x="3353562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Engineering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051560" y="3209544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51" name="Text 49"/>
          <p:cNvSpPr/>
          <p:nvPr/>
        </p:nvSpPr>
        <p:spPr>
          <a:xfrm>
            <a:off x="1197864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Platforms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07258" y="3209544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53" name="Text 51"/>
          <p:cNvSpPr/>
          <p:nvPr/>
        </p:nvSpPr>
        <p:spPr>
          <a:xfrm>
            <a:off x="3353562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MVPs in 8–12 Weeks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185916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441948" y="1554480"/>
            <a:ext cx="128016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6" name="Text 54"/>
          <p:cNvSpPr/>
          <p:nvPr/>
        </p:nvSpPr>
        <p:spPr>
          <a:xfrm>
            <a:off x="6688836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Analytics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6688836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Dashboards, predictive models, and BI platforms that turn raw data into decisions.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88836" y="2825496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9" name="Text 57"/>
          <p:cNvSpPr/>
          <p:nvPr/>
        </p:nvSpPr>
        <p:spPr>
          <a:xfrm>
            <a:off x="6835140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Dashboards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8844534" y="2825496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1" name="Text 59"/>
          <p:cNvSpPr/>
          <p:nvPr/>
        </p:nvSpPr>
        <p:spPr>
          <a:xfrm>
            <a:off x="8990838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Warehousing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688836" y="3209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3" name="Text 61"/>
          <p:cNvSpPr/>
          <p:nvPr/>
        </p:nvSpPr>
        <p:spPr>
          <a:xfrm>
            <a:off x="6835140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Models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844534" y="3209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5" name="Text 63"/>
          <p:cNvSpPr/>
          <p:nvPr/>
        </p:nvSpPr>
        <p:spPr>
          <a:xfrm>
            <a:off x="8990838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Reporting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48640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04672" y="4069080"/>
            <a:ext cx="128016" cy="3840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8" name="Text 66"/>
          <p:cNvSpPr/>
          <p:nvPr/>
        </p:nvSpPr>
        <p:spPr>
          <a:xfrm>
            <a:off x="1051560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Solutions</a:t>
            </a:r>
            <a:endParaRPr lang="en-US" sz="1700" dirty="0"/>
          </a:p>
        </p:txBody>
      </p:sp>
      <p:sp>
        <p:nvSpPr>
          <p:cNvPr id="69" name="Text 67"/>
          <p:cNvSpPr/>
          <p:nvPr/>
        </p:nvSpPr>
        <p:spPr>
          <a:xfrm>
            <a:off x="1051560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infrastructure, systems integration, and managed IT that scales with ambition.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1051560" y="53400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1" name="Text 69"/>
          <p:cNvSpPr/>
          <p:nvPr/>
        </p:nvSpPr>
        <p:spPr>
          <a:xfrm>
            <a:off x="1197864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3207258" y="53400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3" name="Text 71"/>
          <p:cNvSpPr/>
          <p:nvPr/>
        </p:nvSpPr>
        <p:spPr>
          <a:xfrm>
            <a:off x="3353562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Systems Integration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1051560" y="57241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5" name="Text 73"/>
          <p:cNvSpPr/>
          <p:nvPr/>
        </p:nvSpPr>
        <p:spPr>
          <a:xfrm>
            <a:off x="1197864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IT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3207258" y="57241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7" name="Text 75"/>
          <p:cNvSpPr/>
          <p:nvPr/>
        </p:nvSpPr>
        <p:spPr>
          <a:xfrm>
            <a:off x="3353562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99.98% Uptime Targets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185916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441948" y="4069080"/>
            <a:ext cx="128016" cy="3840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0" name="Text 78"/>
          <p:cNvSpPr/>
          <p:nvPr/>
        </p:nvSpPr>
        <p:spPr>
          <a:xfrm>
            <a:off x="6688836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Management</a:t>
            </a:r>
            <a:endParaRPr lang="en-US" sz="1700" dirty="0"/>
          </a:p>
        </p:txBody>
      </p:sp>
      <p:sp>
        <p:nvSpPr>
          <p:cNvPr id="81" name="Text 79"/>
          <p:cNvSpPr/>
          <p:nvPr/>
        </p:nvSpPr>
        <p:spPr>
          <a:xfrm>
            <a:off x="6688836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Agile, structured delivery that keeps complex technology projects on time and on scope.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6688836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3" name="Text 81"/>
          <p:cNvSpPr/>
          <p:nvPr/>
        </p:nvSpPr>
        <p:spPr>
          <a:xfrm>
            <a:off x="6835140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 Delivery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8844534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5" name="Text 83"/>
          <p:cNvSpPr/>
          <p:nvPr/>
        </p:nvSpPr>
        <p:spPr>
          <a:xfrm>
            <a:off x="8990838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PMO Governance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6688836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7" name="Text 85"/>
          <p:cNvSpPr/>
          <p:nvPr/>
        </p:nvSpPr>
        <p:spPr>
          <a:xfrm>
            <a:off x="6835140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Stakeholder Management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8844534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9" name="Text 87"/>
          <p:cNvSpPr/>
          <p:nvPr/>
        </p:nvSpPr>
        <p:spPr>
          <a:xfrm>
            <a:off x="8990838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On-Time Delivery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7149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435320" y="0"/>
            <a:ext cx="437149" cy="54864"/>
          </a:xfrm>
          <a:prstGeom prst="rect">
            <a:avLst/>
          </a:prstGeom>
          <a:solidFill>
            <a:srgbClr val="18B3A9"/>
          </a:solidFill>
          <a:ln/>
        </p:spPr>
      </p:sp>
      <p:sp>
        <p:nvSpPr>
          <p:cNvPr id="5" name="Shape 3"/>
          <p:cNvSpPr/>
          <p:nvPr/>
        </p:nvSpPr>
        <p:spPr>
          <a:xfrm>
            <a:off x="870639" y="0"/>
            <a:ext cx="437149" cy="54864"/>
          </a:xfrm>
          <a:prstGeom prst="rect">
            <a:avLst/>
          </a:prstGeom>
          <a:solidFill>
            <a:srgbClr val="1CAFAB"/>
          </a:solidFill>
          <a:ln/>
        </p:spPr>
      </p:sp>
      <p:sp>
        <p:nvSpPr>
          <p:cNvPr id="6" name="Shape 4"/>
          <p:cNvSpPr/>
          <p:nvPr/>
        </p:nvSpPr>
        <p:spPr>
          <a:xfrm>
            <a:off x="1305959" y="0"/>
            <a:ext cx="437149" cy="54864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7" name="Shape 5"/>
          <p:cNvSpPr/>
          <p:nvPr/>
        </p:nvSpPr>
        <p:spPr>
          <a:xfrm>
            <a:off x="1741279" y="0"/>
            <a:ext cx="437149" cy="54864"/>
          </a:xfrm>
          <a:prstGeom prst="rect">
            <a:avLst/>
          </a:prstGeom>
          <a:solidFill>
            <a:srgbClr val="23A5B1"/>
          </a:solidFill>
          <a:ln/>
        </p:spPr>
      </p:sp>
      <p:sp>
        <p:nvSpPr>
          <p:cNvPr id="8" name="Shape 6"/>
          <p:cNvSpPr/>
          <p:nvPr/>
        </p:nvSpPr>
        <p:spPr>
          <a:xfrm>
            <a:off x="2176599" y="0"/>
            <a:ext cx="437149" cy="54864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9" name="Shape 7"/>
          <p:cNvSpPr/>
          <p:nvPr/>
        </p:nvSpPr>
        <p:spPr>
          <a:xfrm>
            <a:off x="2611918" y="0"/>
            <a:ext cx="437149" cy="54864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238" y="0"/>
            <a:ext cx="437149" cy="54864"/>
          </a:xfrm>
          <a:prstGeom prst="rect">
            <a:avLst/>
          </a:prstGeom>
          <a:solidFill>
            <a:srgbClr val="2F97B8"/>
          </a:solidFill>
          <a:ln/>
        </p:spPr>
      </p:sp>
      <p:sp>
        <p:nvSpPr>
          <p:cNvPr id="11" name="Shape 9"/>
          <p:cNvSpPr/>
          <p:nvPr/>
        </p:nvSpPr>
        <p:spPr>
          <a:xfrm>
            <a:off x="3482558" y="0"/>
            <a:ext cx="437149" cy="54864"/>
          </a:xfrm>
          <a:prstGeom prst="rect">
            <a:avLst/>
          </a:prstGeom>
          <a:solidFill>
            <a:srgbClr val="3393B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17877" y="0"/>
            <a:ext cx="437149" cy="54864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3" name="Shape 11"/>
          <p:cNvSpPr/>
          <p:nvPr/>
        </p:nvSpPr>
        <p:spPr>
          <a:xfrm>
            <a:off x="4353197" y="0"/>
            <a:ext cx="437149" cy="54864"/>
          </a:xfrm>
          <a:prstGeom prst="rect">
            <a:avLst/>
          </a:prstGeom>
          <a:solidFill>
            <a:srgbClr val="3B89C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8517" y="0"/>
            <a:ext cx="437149" cy="54864"/>
          </a:xfrm>
          <a:prstGeom prst="rect">
            <a:avLst/>
          </a:prstGeom>
          <a:solidFill>
            <a:srgbClr val="3E85C3"/>
          </a:solidFill>
          <a:ln/>
        </p:spPr>
      </p:sp>
      <p:sp>
        <p:nvSpPr>
          <p:cNvPr id="15" name="Shape 13"/>
          <p:cNvSpPr/>
          <p:nvPr/>
        </p:nvSpPr>
        <p:spPr>
          <a:xfrm>
            <a:off x="5223837" y="0"/>
            <a:ext cx="437149" cy="54864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6" name="Shape 14"/>
          <p:cNvSpPr/>
          <p:nvPr/>
        </p:nvSpPr>
        <p:spPr>
          <a:xfrm>
            <a:off x="5659156" y="0"/>
            <a:ext cx="437149" cy="54864"/>
          </a:xfrm>
          <a:prstGeom prst="rect">
            <a:avLst/>
          </a:prstGeom>
          <a:solidFill>
            <a:srgbClr val="467BC8"/>
          </a:solidFill>
          <a:ln/>
        </p:spPr>
      </p:sp>
      <p:sp>
        <p:nvSpPr>
          <p:cNvPr id="17" name="Shape 15"/>
          <p:cNvSpPr/>
          <p:nvPr/>
        </p:nvSpPr>
        <p:spPr>
          <a:xfrm>
            <a:off x="6094476" y="0"/>
            <a:ext cx="437149" cy="54864"/>
          </a:xfrm>
          <a:prstGeom prst="rect">
            <a:avLst/>
          </a:prstGeom>
          <a:solidFill>
            <a:srgbClr val="4A77C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29796" y="0"/>
            <a:ext cx="437149" cy="54864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19" name="Shape 17"/>
          <p:cNvSpPr/>
          <p:nvPr/>
        </p:nvSpPr>
        <p:spPr>
          <a:xfrm>
            <a:off x="6965115" y="0"/>
            <a:ext cx="437149" cy="54864"/>
          </a:xfrm>
          <a:prstGeom prst="rect">
            <a:avLst/>
          </a:prstGeom>
          <a:solidFill>
            <a:srgbClr val="526D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00435" y="0"/>
            <a:ext cx="437149" cy="54864"/>
          </a:xfrm>
          <a:prstGeom prst="rect">
            <a:avLst/>
          </a:prstGeom>
          <a:solidFill>
            <a:srgbClr val="5569D3"/>
          </a:solidFill>
          <a:ln/>
        </p:spPr>
      </p:sp>
      <p:sp>
        <p:nvSpPr>
          <p:cNvPr id="21" name="Shape 19"/>
          <p:cNvSpPr/>
          <p:nvPr/>
        </p:nvSpPr>
        <p:spPr>
          <a:xfrm>
            <a:off x="7835755" y="0"/>
            <a:ext cx="437149" cy="54864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22" name="Shape 20"/>
          <p:cNvSpPr/>
          <p:nvPr/>
        </p:nvSpPr>
        <p:spPr>
          <a:xfrm>
            <a:off x="8271075" y="0"/>
            <a:ext cx="437149" cy="54864"/>
          </a:xfrm>
          <a:prstGeom prst="rect">
            <a:avLst/>
          </a:prstGeom>
          <a:solidFill>
            <a:srgbClr val="5D5FD8"/>
          </a:solidFill>
          <a:ln/>
        </p:spPr>
      </p:sp>
      <p:sp>
        <p:nvSpPr>
          <p:cNvPr id="23" name="Shape 21"/>
          <p:cNvSpPr/>
          <p:nvPr/>
        </p:nvSpPr>
        <p:spPr>
          <a:xfrm>
            <a:off x="8706394" y="0"/>
            <a:ext cx="437149" cy="54864"/>
          </a:xfrm>
          <a:prstGeom prst="rect">
            <a:avLst/>
          </a:prstGeom>
          <a:solidFill>
            <a:srgbClr val="615BDB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1714" y="0"/>
            <a:ext cx="437149" cy="54864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25" name="Shape 23"/>
          <p:cNvSpPr/>
          <p:nvPr/>
        </p:nvSpPr>
        <p:spPr>
          <a:xfrm>
            <a:off x="9577034" y="0"/>
            <a:ext cx="437149" cy="54864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12353" y="0"/>
            <a:ext cx="437149" cy="54864"/>
          </a:xfrm>
          <a:prstGeom prst="rect">
            <a:avLst/>
          </a:prstGeom>
          <a:solidFill>
            <a:srgbClr val="6D4DE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47673" y="0"/>
            <a:ext cx="437149" cy="54864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2993" y="0"/>
            <a:ext cx="437149" cy="54864"/>
          </a:xfrm>
          <a:prstGeom prst="rect">
            <a:avLst/>
          </a:prstGeom>
          <a:solidFill>
            <a:srgbClr val="7443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18313" y="0"/>
            <a:ext cx="437149" cy="54864"/>
          </a:xfrm>
          <a:prstGeom prst="rect">
            <a:avLst/>
          </a:prstGeom>
          <a:solidFill>
            <a:srgbClr val="783FEA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53632" y="0"/>
            <a:ext cx="437149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We Work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566928" y="1024128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617220" y="1024128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34" name="Shape 32"/>
          <p:cNvSpPr/>
          <p:nvPr/>
        </p:nvSpPr>
        <p:spPr>
          <a:xfrm>
            <a:off x="667512" y="1024128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35" name="Shape 33"/>
          <p:cNvSpPr/>
          <p:nvPr/>
        </p:nvSpPr>
        <p:spPr>
          <a:xfrm>
            <a:off x="717804" y="1024128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36" name="Shape 34"/>
          <p:cNvSpPr/>
          <p:nvPr/>
        </p:nvSpPr>
        <p:spPr>
          <a:xfrm>
            <a:off x="768096" y="1024128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37" name="Shape 35"/>
          <p:cNvSpPr/>
          <p:nvPr/>
        </p:nvSpPr>
        <p:spPr>
          <a:xfrm>
            <a:off x="818388" y="1024128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38" name="Shape 36"/>
          <p:cNvSpPr/>
          <p:nvPr/>
        </p:nvSpPr>
        <p:spPr>
          <a:xfrm>
            <a:off x="868680" y="1024128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39" name="Shape 37"/>
          <p:cNvSpPr/>
          <p:nvPr/>
        </p:nvSpPr>
        <p:spPr>
          <a:xfrm>
            <a:off x="918972" y="1024128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40" name="Shape 38"/>
          <p:cNvSpPr/>
          <p:nvPr/>
        </p:nvSpPr>
        <p:spPr>
          <a:xfrm>
            <a:off x="969264" y="1024128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19556" y="1024128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don't push templates. Every engagement starts with your challenges, gets a tailored roadmap, and is delivered against it — with radical transparency at every step.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48640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8640" y="2011680"/>
            <a:ext cx="2017166" cy="640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5" name="Text 43"/>
          <p:cNvSpPr/>
          <p:nvPr/>
        </p:nvSpPr>
        <p:spPr>
          <a:xfrm>
            <a:off x="713232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600" dirty="0"/>
          </a:p>
        </p:txBody>
      </p:sp>
      <p:sp>
        <p:nvSpPr>
          <p:cNvPr id="46" name="Text 44"/>
          <p:cNvSpPr/>
          <p:nvPr/>
        </p:nvSpPr>
        <p:spPr>
          <a:xfrm>
            <a:off x="713232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</a:t>
            </a:r>
            <a:endParaRPr lang="en-US" sz="1450" dirty="0"/>
          </a:p>
        </p:txBody>
      </p:sp>
      <p:sp>
        <p:nvSpPr>
          <p:cNvPr id="47" name="Text 45"/>
          <p:cNvSpPr/>
          <p:nvPr/>
        </p:nvSpPr>
        <p:spPr>
          <a:xfrm>
            <a:off x="713232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Deep-dive workshops to map challenges, goals, and current-state technology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766974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66974" y="2011680"/>
            <a:ext cx="2017166" cy="640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0" name="Text 48"/>
          <p:cNvSpPr/>
          <p:nvPr/>
        </p:nvSpPr>
        <p:spPr>
          <a:xfrm>
            <a:off x="2931566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2931566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450" dirty="0"/>
          </a:p>
        </p:txBody>
      </p:sp>
      <p:sp>
        <p:nvSpPr>
          <p:cNvPr id="52" name="Text 50"/>
          <p:cNvSpPr/>
          <p:nvPr/>
        </p:nvSpPr>
        <p:spPr>
          <a:xfrm>
            <a:off x="2931566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blueprints and a phased delivery plan built for your budget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985309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985309" y="2011680"/>
            <a:ext cx="2017166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5" name="Text 53"/>
          <p:cNvSpPr/>
          <p:nvPr/>
        </p:nvSpPr>
        <p:spPr>
          <a:xfrm>
            <a:off x="5149901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600" dirty="0"/>
          </a:p>
        </p:txBody>
      </p:sp>
      <p:sp>
        <p:nvSpPr>
          <p:cNvPr id="56" name="Text 54"/>
          <p:cNvSpPr/>
          <p:nvPr/>
        </p:nvSpPr>
        <p:spPr>
          <a:xfrm>
            <a:off x="5149901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</a:t>
            </a:r>
            <a:endParaRPr lang="en-US" sz="1450" dirty="0"/>
          </a:p>
        </p:txBody>
      </p:sp>
      <p:sp>
        <p:nvSpPr>
          <p:cNvPr id="57" name="Text 55"/>
          <p:cNvSpPr/>
          <p:nvPr/>
        </p:nvSpPr>
        <p:spPr>
          <a:xfrm>
            <a:off x="5149901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 sprints, dedicated PMs, and weekly progress reports — on time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7203643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03643" y="2011680"/>
            <a:ext cx="2017166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0" name="Text 58"/>
          <p:cNvSpPr/>
          <p:nvPr/>
        </p:nvSpPr>
        <p:spPr>
          <a:xfrm>
            <a:off x="7368235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600" dirty="0"/>
          </a:p>
        </p:txBody>
      </p:sp>
      <p:sp>
        <p:nvSpPr>
          <p:cNvPr id="61" name="Text 59"/>
          <p:cNvSpPr/>
          <p:nvPr/>
        </p:nvSpPr>
        <p:spPr>
          <a:xfrm>
            <a:off x="7368235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450" dirty="0"/>
          </a:p>
        </p:txBody>
      </p:sp>
      <p:sp>
        <p:nvSpPr>
          <p:cNvPr id="62" name="Text 60"/>
          <p:cNvSpPr/>
          <p:nvPr/>
        </p:nvSpPr>
        <p:spPr>
          <a:xfrm>
            <a:off x="7368235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Zero-downtime rollouts with full testing, security sign-off, and training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9421978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421978" y="2011680"/>
            <a:ext cx="2017166" cy="6400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65" name="Text 63"/>
          <p:cNvSpPr/>
          <p:nvPr/>
        </p:nvSpPr>
        <p:spPr>
          <a:xfrm>
            <a:off x="9586570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2600" dirty="0"/>
          </a:p>
        </p:txBody>
      </p:sp>
      <p:sp>
        <p:nvSpPr>
          <p:cNvPr id="66" name="Text 64"/>
          <p:cNvSpPr/>
          <p:nvPr/>
        </p:nvSpPr>
        <p:spPr>
          <a:xfrm>
            <a:off x="9586570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</a:t>
            </a:r>
            <a:endParaRPr lang="en-US" sz="1450" dirty="0"/>
          </a:p>
        </p:txBody>
      </p:sp>
      <p:sp>
        <p:nvSpPr>
          <p:cNvPr id="67" name="Text 65"/>
          <p:cNvSpPr/>
          <p:nvPr/>
        </p:nvSpPr>
        <p:spPr>
          <a:xfrm>
            <a:off x="9586570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Post-launch monitoring, optimisation, and long-term partnership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48640" y="5074920"/>
            <a:ext cx="110916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2960" y="5230368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Engagement models: 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retainers (Essentials · Growth · Enterprise), fixed-scope projects, and dedicated-team arrangements — in AED, with no hidden fees.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7149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435320" y="0"/>
            <a:ext cx="437149" cy="54864"/>
          </a:xfrm>
          <a:prstGeom prst="rect">
            <a:avLst/>
          </a:prstGeom>
          <a:solidFill>
            <a:srgbClr val="18B3A9"/>
          </a:solidFill>
          <a:ln/>
        </p:spPr>
      </p:sp>
      <p:sp>
        <p:nvSpPr>
          <p:cNvPr id="5" name="Shape 3"/>
          <p:cNvSpPr/>
          <p:nvPr/>
        </p:nvSpPr>
        <p:spPr>
          <a:xfrm>
            <a:off x="870639" y="0"/>
            <a:ext cx="437149" cy="54864"/>
          </a:xfrm>
          <a:prstGeom prst="rect">
            <a:avLst/>
          </a:prstGeom>
          <a:solidFill>
            <a:srgbClr val="1CAFAB"/>
          </a:solidFill>
          <a:ln/>
        </p:spPr>
      </p:sp>
      <p:sp>
        <p:nvSpPr>
          <p:cNvPr id="6" name="Shape 4"/>
          <p:cNvSpPr/>
          <p:nvPr/>
        </p:nvSpPr>
        <p:spPr>
          <a:xfrm>
            <a:off x="1305959" y="0"/>
            <a:ext cx="437149" cy="54864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7" name="Shape 5"/>
          <p:cNvSpPr/>
          <p:nvPr/>
        </p:nvSpPr>
        <p:spPr>
          <a:xfrm>
            <a:off x="1741279" y="0"/>
            <a:ext cx="437149" cy="54864"/>
          </a:xfrm>
          <a:prstGeom prst="rect">
            <a:avLst/>
          </a:prstGeom>
          <a:solidFill>
            <a:srgbClr val="23A5B1"/>
          </a:solidFill>
          <a:ln/>
        </p:spPr>
      </p:sp>
      <p:sp>
        <p:nvSpPr>
          <p:cNvPr id="8" name="Shape 6"/>
          <p:cNvSpPr/>
          <p:nvPr/>
        </p:nvSpPr>
        <p:spPr>
          <a:xfrm>
            <a:off x="2176599" y="0"/>
            <a:ext cx="437149" cy="54864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9" name="Shape 7"/>
          <p:cNvSpPr/>
          <p:nvPr/>
        </p:nvSpPr>
        <p:spPr>
          <a:xfrm>
            <a:off x="2611918" y="0"/>
            <a:ext cx="437149" cy="54864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238" y="0"/>
            <a:ext cx="437149" cy="54864"/>
          </a:xfrm>
          <a:prstGeom prst="rect">
            <a:avLst/>
          </a:prstGeom>
          <a:solidFill>
            <a:srgbClr val="2F97B8"/>
          </a:solidFill>
          <a:ln/>
        </p:spPr>
      </p:sp>
      <p:sp>
        <p:nvSpPr>
          <p:cNvPr id="11" name="Shape 9"/>
          <p:cNvSpPr/>
          <p:nvPr/>
        </p:nvSpPr>
        <p:spPr>
          <a:xfrm>
            <a:off x="3482558" y="0"/>
            <a:ext cx="437149" cy="54864"/>
          </a:xfrm>
          <a:prstGeom prst="rect">
            <a:avLst/>
          </a:prstGeom>
          <a:solidFill>
            <a:srgbClr val="3393B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17877" y="0"/>
            <a:ext cx="437149" cy="54864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3" name="Shape 11"/>
          <p:cNvSpPr/>
          <p:nvPr/>
        </p:nvSpPr>
        <p:spPr>
          <a:xfrm>
            <a:off x="4353197" y="0"/>
            <a:ext cx="437149" cy="54864"/>
          </a:xfrm>
          <a:prstGeom prst="rect">
            <a:avLst/>
          </a:prstGeom>
          <a:solidFill>
            <a:srgbClr val="3B89C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8517" y="0"/>
            <a:ext cx="437149" cy="54864"/>
          </a:xfrm>
          <a:prstGeom prst="rect">
            <a:avLst/>
          </a:prstGeom>
          <a:solidFill>
            <a:srgbClr val="3E85C3"/>
          </a:solidFill>
          <a:ln/>
        </p:spPr>
      </p:sp>
      <p:sp>
        <p:nvSpPr>
          <p:cNvPr id="15" name="Shape 13"/>
          <p:cNvSpPr/>
          <p:nvPr/>
        </p:nvSpPr>
        <p:spPr>
          <a:xfrm>
            <a:off x="5223837" y="0"/>
            <a:ext cx="437149" cy="54864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6" name="Shape 14"/>
          <p:cNvSpPr/>
          <p:nvPr/>
        </p:nvSpPr>
        <p:spPr>
          <a:xfrm>
            <a:off x="5659156" y="0"/>
            <a:ext cx="437149" cy="54864"/>
          </a:xfrm>
          <a:prstGeom prst="rect">
            <a:avLst/>
          </a:prstGeom>
          <a:solidFill>
            <a:srgbClr val="467BC8"/>
          </a:solidFill>
          <a:ln/>
        </p:spPr>
      </p:sp>
      <p:sp>
        <p:nvSpPr>
          <p:cNvPr id="17" name="Shape 15"/>
          <p:cNvSpPr/>
          <p:nvPr/>
        </p:nvSpPr>
        <p:spPr>
          <a:xfrm>
            <a:off x="6094476" y="0"/>
            <a:ext cx="437149" cy="54864"/>
          </a:xfrm>
          <a:prstGeom prst="rect">
            <a:avLst/>
          </a:prstGeom>
          <a:solidFill>
            <a:srgbClr val="4A77C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29796" y="0"/>
            <a:ext cx="437149" cy="54864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19" name="Shape 17"/>
          <p:cNvSpPr/>
          <p:nvPr/>
        </p:nvSpPr>
        <p:spPr>
          <a:xfrm>
            <a:off x="6965115" y="0"/>
            <a:ext cx="437149" cy="54864"/>
          </a:xfrm>
          <a:prstGeom prst="rect">
            <a:avLst/>
          </a:prstGeom>
          <a:solidFill>
            <a:srgbClr val="526D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00435" y="0"/>
            <a:ext cx="437149" cy="54864"/>
          </a:xfrm>
          <a:prstGeom prst="rect">
            <a:avLst/>
          </a:prstGeom>
          <a:solidFill>
            <a:srgbClr val="5569D3"/>
          </a:solidFill>
          <a:ln/>
        </p:spPr>
      </p:sp>
      <p:sp>
        <p:nvSpPr>
          <p:cNvPr id="21" name="Shape 19"/>
          <p:cNvSpPr/>
          <p:nvPr/>
        </p:nvSpPr>
        <p:spPr>
          <a:xfrm>
            <a:off x="7835755" y="0"/>
            <a:ext cx="437149" cy="54864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22" name="Shape 20"/>
          <p:cNvSpPr/>
          <p:nvPr/>
        </p:nvSpPr>
        <p:spPr>
          <a:xfrm>
            <a:off x="8271075" y="0"/>
            <a:ext cx="437149" cy="54864"/>
          </a:xfrm>
          <a:prstGeom prst="rect">
            <a:avLst/>
          </a:prstGeom>
          <a:solidFill>
            <a:srgbClr val="5D5FD8"/>
          </a:solidFill>
          <a:ln/>
        </p:spPr>
      </p:sp>
      <p:sp>
        <p:nvSpPr>
          <p:cNvPr id="23" name="Shape 21"/>
          <p:cNvSpPr/>
          <p:nvPr/>
        </p:nvSpPr>
        <p:spPr>
          <a:xfrm>
            <a:off x="8706394" y="0"/>
            <a:ext cx="437149" cy="54864"/>
          </a:xfrm>
          <a:prstGeom prst="rect">
            <a:avLst/>
          </a:prstGeom>
          <a:solidFill>
            <a:srgbClr val="615BDB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1714" y="0"/>
            <a:ext cx="437149" cy="54864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25" name="Shape 23"/>
          <p:cNvSpPr/>
          <p:nvPr/>
        </p:nvSpPr>
        <p:spPr>
          <a:xfrm>
            <a:off x="9577034" y="0"/>
            <a:ext cx="437149" cy="54864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12353" y="0"/>
            <a:ext cx="437149" cy="54864"/>
          </a:xfrm>
          <a:prstGeom prst="rect">
            <a:avLst/>
          </a:prstGeom>
          <a:solidFill>
            <a:srgbClr val="6D4DE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47673" y="0"/>
            <a:ext cx="437149" cy="54864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2993" y="0"/>
            <a:ext cx="437149" cy="54864"/>
          </a:xfrm>
          <a:prstGeom prst="rect">
            <a:avLst/>
          </a:prstGeom>
          <a:solidFill>
            <a:srgbClr val="7443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18313" y="0"/>
            <a:ext cx="437149" cy="54864"/>
          </a:xfrm>
          <a:prstGeom prst="rect">
            <a:avLst/>
          </a:prstGeom>
          <a:solidFill>
            <a:srgbClr val="783FEA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53632" y="0"/>
            <a:ext cx="437149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Ventures We Helped Launch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566928" y="1024128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617220" y="1024128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34" name="Shape 32"/>
          <p:cNvSpPr/>
          <p:nvPr/>
        </p:nvSpPr>
        <p:spPr>
          <a:xfrm>
            <a:off x="667512" y="1024128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35" name="Shape 33"/>
          <p:cNvSpPr/>
          <p:nvPr/>
        </p:nvSpPr>
        <p:spPr>
          <a:xfrm>
            <a:off x="717804" y="1024128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36" name="Shape 34"/>
          <p:cNvSpPr/>
          <p:nvPr/>
        </p:nvSpPr>
        <p:spPr>
          <a:xfrm>
            <a:off x="768096" y="1024128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37" name="Shape 35"/>
          <p:cNvSpPr/>
          <p:nvPr/>
        </p:nvSpPr>
        <p:spPr>
          <a:xfrm>
            <a:off x="818388" y="1024128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38" name="Shape 36"/>
          <p:cNvSpPr/>
          <p:nvPr/>
        </p:nvSpPr>
        <p:spPr>
          <a:xfrm>
            <a:off x="868680" y="1024128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39" name="Shape 37"/>
          <p:cNvSpPr/>
          <p:nvPr/>
        </p:nvSpPr>
        <p:spPr>
          <a:xfrm>
            <a:off x="918972" y="1024128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40" name="Shape 38"/>
          <p:cNvSpPr/>
          <p:nvPr/>
        </p:nvSpPr>
        <p:spPr>
          <a:xfrm>
            <a:off x="969264" y="1024128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19556" y="1024128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1152144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our pre-launch venture programme we build brands from idea to market — product, engineering, and identity under one roof.</a:t>
            </a:r>
            <a:endParaRPr lang="en-US" sz="1100" dirty="0"/>
          </a:p>
        </p:txBody>
      </p:sp>
      <p:pic>
        <p:nvPicPr>
          <p:cNvPr id="43" name="Image 0" descr="public/profile-assets/nexa-pay-t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3544824" cy="1737318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548640" y="3410670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Nexa Pay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548640" y="365755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Payments app — idea to pilot in 8 weeks</a:t>
            </a:r>
            <a:endParaRPr lang="en-US" sz="850" dirty="0"/>
          </a:p>
        </p:txBody>
      </p:sp>
      <p:pic>
        <p:nvPicPr>
          <p:cNvPr id="46" name="Image 1" descr="public/profile-assets/cargoflow-ti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064" y="1645920"/>
            <a:ext cx="3544824" cy="1737318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4322064" y="3410670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CargoFlow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4322064" y="365755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Shipment tracking SaaS — 40% less manual dispatch</a:t>
            </a:r>
            <a:endParaRPr lang="en-US" sz="850" dirty="0"/>
          </a:p>
        </p:txBody>
      </p:sp>
      <p:pic>
        <p:nvPicPr>
          <p:cNvPr id="49" name="Image 2" descr="public/profile-assets/lumora-t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5488" y="1645920"/>
            <a:ext cx="3544824" cy="1737318"/>
          </a:xfrm>
          <a:prstGeom prst="rect">
            <a:avLst/>
          </a:prstGeom>
        </p:spPr>
      </p:pic>
      <p:sp>
        <p:nvSpPr>
          <p:cNvPr id="50" name="Text 45"/>
          <p:cNvSpPr/>
          <p:nvPr/>
        </p:nvSpPr>
        <p:spPr>
          <a:xfrm>
            <a:off x="8095488" y="3410670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Lumora</a:t>
            </a:r>
            <a:endParaRPr lang="en-US" sz="1200" dirty="0"/>
          </a:p>
        </p:txBody>
      </p:sp>
      <p:sp>
        <p:nvSpPr>
          <p:cNvPr id="51" name="Text 46"/>
          <p:cNvSpPr/>
          <p:nvPr/>
        </p:nvSpPr>
        <p:spPr>
          <a:xfrm>
            <a:off x="8095488" y="365755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D2C skincare launch — 3× launch-month ROAS</a:t>
            </a:r>
            <a:endParaRPr lang="en-US" sz="850" dirty="0"/>
          </a:p>
        </p:txBody>
      </p:sp>
      <p:pic>
        <p:nvPicPr>
          <p:cNvPr id="52" name="Image 3" descr="public/profile-assets/pulse-loop-ti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41648"/>
            <a:ext cx="3544824" cy="1737318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548640" y="580639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Loop</a:t>
            </a:r>
            <a:endParaRPr lang="en-US" sz="1200" dirty="0"/>
          </a:p>
        </p:txBody>
      </p:sp>
      <p:sp>
        <p:nvSpPr>
          <p:cNvPr id="54" name="Text 48"/>
          <p:cNvSpPr/>
          <p:nvPr/>
        </p:nvSpPr>
        <p:spPr>
          <a:xfrm>
            <a:off x="548640" y="6053286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Wellness app MVP — app-store beta in 12 weeks</a:t>
            </a:r>
            <a:endParaRPr lang="en-US" sz="850" dirty="0"/>
          </a:p>
        </p:txBody>
      </p:sp>
      <p:pic>
        <p:nvPicPr>
          <p:cNvPr id="55" name="Image 4" descr="public/profile-assets/masakin-til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2064" y="4041648"/>
            <a:ext cx="3544824" cy="1737318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4322064" y="580639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Masakin مساكن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4322064" y="6053286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property portal — 2.5K monthly leads</a:t>
            </a:r>
            <a:endParaRPr lang="en-US" sz="850" dirty="0"/>
          </a:p>
        </p:txBody>
      </p:sp>
      <p:pic>
        <p:nvPicPr>
          <p:cNvPr id="58" name="Image 5" descr="public/profile-assets/kidiverse-til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4041648"/>
            <a:ext cx="3544824" cy="1737318"/>
          </a:xfrm>
          <a:prstGeom prst="rect">
            <a:avLst/>
          </a:prstGeom>
        </p:spPr>
      </p:pic>
      <p:sp>
        <p:nvSpPr>
          <p:cNvPr id="59" name="Text 51"/>
          <p:cNvSpPr/>
          <p:nvPr/>
        </p:nvSpPr>
        <p:spPr>
          <a:xfrm>
            <a:off x="8095488" y="580639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KidiVerse</a:t>
            </a:r>
            <a:endParaRPr lang="en-US" sz="1200" dirty="0"/>
          </a:p>
        </p:txBody>
      </p:sp>
      <p:sp>
        <p:nvSpPr>
          <p:cNvPr id="60" name="Text 52"/>
          <p:cNvSpPr/>
          <p:nvPr/>
        </p:nvSpPr>
        <p:spPr>
          <a:xfrm>
            <a:off x="8095488" y="6053286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Kids-safe streaming — full parental-control layer</a:t>
            </a:r>
            <a:endParaRPr lang="en-US" sz="850" dirty="0"/>
          </a:p>
        </p:txBody>
      </p:sp>
      <p:sp>
        <p:nvSpPr>
          <p:cNvPr id="61" name="Text 5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62" name="Text 54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7149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435320" y="0"/>
            <a:ext cx="437149" cy="54864"/>
          </a:xfrm>
          <a:prstGeom prst="rect">
            <a:avLst/>
          </a:prstGeom>
          <a:solidFill>
            <a:srgbClr val="18B3A9"/>
          </a:solidFill>
          <a:ln/>
        </p:spPr>
      </p:sp>
      <p:sp>
        <p:nvSpPr>
          <p:cNvPr id="5" name="Shape 3"/>
          <p:cNvSpPr/>
          <p:nvPr/>
        </p:nvSpPr>
        <p:spPr>
          <a:xfrm>
            <a:off x="870639" y="0"/>
            <a:ext cx="437149" cy="54864"/>
          </a:xfrm>
          <a:prstGeom prst="rect">
            <a:avLst/>
          </a:prstGeom>
          <a:solidFill>
            <a:srgbClr val="1CAFAB"/>
          </a:solidFill>
          <a:ln/>
        </p:spPr>
      </p:sp>
      <p:sp>
        <p:nvSpPr>
          <p:cNvPr id="6" name="Shape 4"/>
          <p:cNvSpPr/>
          <p:nvPr/>
        </p:nvSpPr>
        <p:spPr>
          <a:xfrm>
            <a:off x="1305959" y="0"/>
            <a:ext cx="437149" cy="54864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7" name="Shape 5"/>
          <p:cNvSpPr/>
          <p:nvPr/>
        </p:nvSpPr>
        <p:spPr>
          <a:xfrm>
            <a:off x="1741279" y="0"/>
            <a:ext cx="437149" cy="54864"/>
          </a:xfrm>
          <a:prstGeom prst="rect">
            <a:avLst/>
          </a:prstGeom>
          <a:solidFill>
            <a:srgbClr val="23A5B1"/>
          </a:solidFill>
          <a:ln/>
        </p:spPr>
      </p:sp>
      <p:sp>
        <p:nvSpPr>
          <p:cNvPr id="8" name="Shape 6"/>
          <p:cNvSpPr/>
          <p:nvPr/>
        </p:nvSpPr>
        <p:spPr>
          <a:xfrm>
            <a:off x="2176599" y="0"/>
            <a:ext cx="437149" cy="54864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9" name="Shape 7"/>
          <p:cNvSpPr/>
          <p:nvPr/>
        </p:nvSpPr>
        <p:spPr>
          <a:xfrm>
            <a:off x="2611918" y="0"/>
            <a:ext cx="437149" cy="54864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238" y="0"/>
            <a:ext cx="437149" cy="54864"/>
          </a:xfrm>
          <a:prstGeom prst="rect">
            <a:avLst/>
          </a:prstGeom>
          <a:solidFill>
            <a:srgbClr val="2F97B8"/>
          </a:solidFill>
          <a:ln/>
        </p:spPr>
      </p:sp>
      <p:sp>
        <p:nvSpPr>
          <p:cNvPr id="11" name="Shape 9"/>
          <p:cNvSpPr/>
          <p:nvPr/>
        </p:nvSpPr>
        <p:spPr>
          <a:xfrm>
            <a:off x="3482558" y="0"/>
            <a:ext cx="437149" cy="54864"/>
          </a:xfrm>
          <a:prstGeom prst="rect">
            <a:avLst/>
          </a:prstGeom>
          <a:solidFill>
            <a:srgbClr val="3393B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17877" y="0"/>
            <a:ext cx="437149" cy="54864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3" name="Shape 11"/>
          <p:cNvSpPr/>
          <p:nvPr/>
        </p:nvSpPr>
        <p:spPr>
          <a:xfrm>
            <a:off x="4353197" y="0"/>
            <a:ext cx="437149" cy="54864"/>
          </a:xfrm>
          <a:prstGeom prst="rect">
            <a:avLst/>
          </a:prstGeom>
          <a:solidFill>
            <a:srgbClr val="3B89C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8517" y="0"/>
            <a:ext cx="437149" cy="54864"/>
          </a:xfrm>
          <a:prstGeom prst="rect">
            <a:avLst/>
          </a:prstGeom>
          <a:solidFill>
            <a:srgbClr val="3E85C3"/>
          </a:solidFill>
          <a:ln/>
        </p:spPr>
      </p:sp>
      <p:sp>
        <p:nvSpPr>
          <p:cNvPr id="15" name="Shape 13"/>
          <p:cNvSpPr/>
          <p:nvPr/>
        </p:nvSpPr>
        <p:spPr>
          <a:xfrm>
            <a:off x="5223837" y="0"/>
            <a:ext cx="437149" cy="54864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6" name="Shape 14"/>
          <p:cNvSpPr/>
          <p:nvPr/>
        </p:nvSpPr>
        <p:spPr>
          <a:xfrm>
            <a:off x="5659156" y="0"/>
            <a:ext cx="437149" cy="54864"/>
          </a:xfrm>
          <a:prstGeom prst="rect">
            <a:avLst/>
          </a:prstGeom>
          <a:solidFill>
            <a:srgbClr val="467BC8"/>
          </a:solidFill>
          <a:ln/>
        </p:spPr>
      </p:sp>
      <p:sp>
        <p:nvSpPr>
          <p:cNvPr id="17" name="Shape 15"/>
          <p:cNvSpPr/>
          <p:nvPr/>
        </p:nvSpPr>
        <p:spPr>
          <a:xfrm>
            <a:off x="6094476" y="0"/>
            <a:ext cx="437149" cy="54864"/>
          </a:xfrm>
          <a:prstGeom prst="rect">
            <a:avLst/>
          </a:prstGeom>
          <a:solidFill>
            <a:srgbClr val="4A77C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29796" y="0"/>
            <a:ext cx="437149" cy="54864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19" name="Shape 17"/>
          <p:cNvSpPr/>
          <p:nvPr/>
        </p:nvSpPr>
        <p:spPr>
          <a:xfrm>
            <a:off x="6965115" y="0"/>
            <a:ext cx="437149" cy="54864"/>
          </a:xfrm>
          <a:prstGeom prst="rect">
            <a:avLst/>
          </a:prstGeom>
          <a:solidFill>
            <a:srgbClr val="526D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00435" y="0"/>
            <a:ext cx="437149" cy="54864"/>
          </a:xfrm>
          <a:prstGeom prst="rect">
            <a:avLst/>
          </a:prstGeom>
          <a:solidFill>
            <a:srgbClr val="5569D3"/>
          </a:solidFill>
          <a:ln/>
        </p:spPr>
      </p:sp>
      <p:sp>
        <p:nvSpPr>
          <p:cNvPr id="21" name="Shape 19"/>
          <p:cNvSpPr/>
          <p:nvPr/>
        </p:nvSpPr>
        <p:spPr>
          <a:xfrm>
            <a:off x="7835755" y="0"/>
            <a:ext cx="437149" cy="54864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22" name="Shape 20"/>
          <p:cNvSpPr/>
          <p:nvPr/>
        </p:nvSpPr>
        <p:spPr>
          <a:xfrm>
            <a:off x="8271075" y="0"/>
            <a:ext cx="437149" cy="54864"/>
          </a:xfrm>
          <a:prstGeom prst="rect">
            <a:avLst/>
          </a:prstGeom>
          <a:solidFill>
            <a:srgbClr val="5D5FD8"/>
          </a:solidFill>
          <a:ln/>
        </p:spPr>
      </p:sp>
      <p:sp>
        <p:nvSpPr>
          <p:cNvPr id="23" name="Shape 21"/>
          <p:cNvSpPr/>
          <p:nvPr/>
        </p:nvSpPr>
        <p:spPr>
          <a:xfrm>
            <a:off x="8706394" y="0"/>
            <a:ext cx="437149" cy="54864"/>
          </a:xfrm>
          <a:prstGeom prst="rect">
            <a:avLst/>
          </a:prstGeom>
          <a:solidFill>
            <a:srgbClr val="615BDB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1714" y="0"/>
            <a:ext cx="437149" cy="54864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25" name="Shape 23"/>
          <p:cNvSpPr/>
          <p:nvPr/>
        </p:nvSpPr>
        <p:spPr>
          <a:xfrm>
            <a:off x="9577034" y="0"/>
            <a:ext cx="437149" cy="54864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12353" y="0"/>
            <a:ext cx="437149" cy="54864"/>
          </a:xfrm>
          <a:prstGeom prst="rect">
            <a:avLst/>
          </a:prstGeom>
          <a:solidFill>
            <a:srgbClr val="6D4DE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47673" y="0"/>
            <a:ext cx="437149" cy="54864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2993" y="0"/>
            <a:ext cx="437149" cy="54864"/>
          </a:xfrm>
          <a:prstGeom prst="rect">
            <a:avLst/>
          </a:prstGeom>
          <a:solidFill>
            <a:srgbClr val="7443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18313" y="0"/>
            <a:ext cx="437149" cy="54864"/>
          </a:xfrm>
          <a:prstGeom prst="rect">
            <a:avLst/>
          </a:prstGeom>
          <a:solidFill>
            <a:srgbClr val="783FEA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53632" y="0"/>
            <a:ext cx="437149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Featured Cases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566928" y="1024128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617220" y="1024128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34" name="Shape 32"/>
          <p:cNvSpPr/>
          <p:nvPr/>
        </p:nvSpPr>
        <p:spPr>
          <a:xfrm>
            <a:off x="667512" y="1024128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35" name="Shape 33"/>
          <p:cNvSpPr/>
          <p:nvPr/>
        </p:nvSpPr>
        <p:spPr>
          <a:xfrm>
            <a:off x="717804" y="1024128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36" name="Shape 34"/>
          <p:cNvSpPr/>
          <p:nvPr/>
        </p:nvSpPr>
        <p:spPr>
          <a:xfrm>
            <a:off x="768096" y="1024128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37" name="Shape 35"/>
          <p:cNvSpPr/>
          <p:nvPr/>
        </p:nvSpPr>
        <p:spPr>
          <a:xfrm>
            <a:off x="818388" y="1024128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38" name="Shape 36"/>
          <p:cNvSpPr/>
          <p:nvPr/>
        </p:nvSpPr>
        <p:spPr>
          <a:xfrm>
            <a:off x="868680" y="1024128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39" name="Shape 37"/>
          <p:cNvSpPr/>
          <p:nvPr/>
        </p:nvSpPr>
        <p:spPr>
          <a:xfrm>
            <a:off x="918972" y="1024128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40" name="Shape 38"/>
          <p:cNvSpPr/>
          <p:nvPr/>
        </p:nvSpPr>
        <p:spPr>
          <a:xfrm>
            <a:off x="969264" y="1024128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19556" y="1024128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1078992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MOST RECENT &amp; MOST CREATIVE WORK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8640" y="1463040"/>
            <a:ext cx="3468624" cy="47091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8640" y="1463040"/>
            <a:ext cx="3468624" cy="64008"/>
          </a:xfrm>
          <a:prstGeom prst="rect">
            <a:avLst/>
          </a:prstGeom>
          <a:solidFill>
            <a:srgbClr val="14B8A6"/>
          </a:solidFill>
          <a:ln/>
        </p:spPr>
      </p:sp>
      <p:pic>
        <p:nvPicPr>
          <p:cNvPr id="45" name="Image 0" descr="public/logos/albina-alare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4272" y="1691640"/>
            <a:ext cx="1737360" cy="104241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777240" y="2816352"/>
            <a:ext cx="3011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CONTRACTING · ABU DHABI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777240" y="3072384"/>
            <a:ext cx="30114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Albina Alareeq Contracting — Digital Transformation</a:t>
            </a:r>
            <a:endParaRPr lang="en-US" sz="1350" dirty="0"/>
          </a:p>
        </p:txBody>
      </p:sp>
      <p:sp>
        <p:nvSpPr>
          <p:cNvPr id="48" name="Text 45"/>
          <p:cNvSpPr/>
          <p:nvPr/>
        </p:nvSpPr>
        <p:spPr>
          <a:xfrm>
            <a:off x="777240" y="3803904"/>
            <a:ext cx="301142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transformation for Albina Alareeq Contracting &amp; General Maintenance — a corporate website plus a project-management portal unifying field reporting and head-office visibility.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868680" y="5074920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68680" y="5067605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Corporate platform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868680" y="5422392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68680" y="5415077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portal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868680" y="5769864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68680" y="5762549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Unified reporting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245864" y="1463040"/>
            <a:ext cx="3468624" cy="47091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245864" y="1463040"/>
            <a:ext cx="3468624" cy="64008"/>
          </a:xfrm>
          <a:prstGeom prst="rect">
            <a:avLst/>
          </a:prstGeom>
          <a:solidFill>
            <a:srgbClr val="F87171"/>
          </a:solidFill>
          <a:ln/>
        </p:spPr>
      </p:sp>
      <p:pic>
        <p:nvPicPr>
          <p:cNvPr id="57" name="Image 1" descr="public/logos/nabe-eldiyaf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496" y="1691640"/>
            <a:ext cx="1737360" cy="1042416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4474464" y="2816352"/>
            <a:ext cx="3011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HOSPITALITY · ABU DHABI</a:t>
            </a:r>
            <a:endParaRPr lang="en-US" sz="800" dirty="0"/>
          </a:p>
        </p:txBody>
      </p:sp>
      <p:sp>
        <p:nvSpPr>
          <p:cNvPr id="59" name="Text 55"/>
          <p:cNvSpPr/>
          <p:nvPr/>
        </p:nvSpPr>
        <p:spPr>
          <a:xfrm>
            <a:off x="4474464" y="3072384"/>
            <a:ext cx="30114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Nabe Eldiyafa Brand &amp; Digital Ecosystem</a:t>
            </a:r>
            <a:endParaRPr lang="en-US" sz="1350" dirty="0"/>
          </a:p>
        </p:txBody>
      </p:sp>
      <p:sp>
        <p:nvSpPr>
          <p:cNvPr id="60" name="Text 56"/>
          <p:cNvSpPr/>
          <p:nvPr/>
        </p:nvSpPr>
        <p:spPr>
          <a:xfrm>
            <a:off x="4474464" y="3803904"/>
            <a:ext cx="301142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digital launch for a heritage Damascene restaurant — brand identity refresh, a bilingual reservations website, and a 12-month social media programme that filled weekend covers.</a:t>
            </a:r>
            <a:endParaRPr lang="en-US" sz="950" dirty="0"/>
          </a:p>
        </p:txBody>
      </p:sp>
      <p:sp>
        <p:nvSpPr>
          <p:cNvPr id="61" name="Shape 57"/>
          <p:cNvSpPr/>
          <p:nvPr/>
        </p:nvSpPr>
        <p:spPr>
          <a:xfrm>
            <a:off x="4565904" y="5074920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4565904" y="5067605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identity</a:t>
            </a:r>
            <a:endParaRPr lang="en-US" sz="850" dirty="0"/>
          </a:p>
        </p:txBody>
      </p:sp>
      <p:sp>
        <p:nvSpPr>
          <p:cNvPr id="63" name="Shape 59"/>
          <p:cNvSpPr/>
          <p:nvPr/>
        </p:nvSpPr>
        <p:spPr>
          <a:xfrm>
            <a:off x="4565904" y="5422392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4565904" y="5415077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site</a:t>
            </a:r>
            <a:endParaRPr lang="en-US" sz="850" dirty="0"/>
          </a:p>
        </p:txBody>
      </p:sp>
      <p:sp>
        <p:nvSpPr>
          <p:cNvPr id="65" name="Shape 61"/>
          <p:cNvSpPr/>
          <p:nvPr/>
        </p:nvSpPr>
        <p:spPr>
          <a:xfrm>
            <a:off x="4565904" y="5769864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4565904" y="5762549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campaign</a:t>
            </a:r>
            <a:endParaRPr lang="en-US" sz="850" dirty="0"/>
          </a:p>
        </p:txBody>
      </p:sp>
      <p:sp>
        <p:nvSpPr>
          <p:cNvPr id="67" name="Shape 63"/>
          <p:cNvSpPr/>
          <p:nvPr/>
        </p:nvSpPr>
        <p:spPr>
          <a:xfrm>
            <a:off x="7943088" y="1463040"/>
            <a:ext cx="3468624" cy="47091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7943088" y="1463040"/>
            <a:ext cx="3468624" cy="64008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69" name="Image 2" descr="public/logos/diamond-ev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720" y="1691640"/>
            <a:ext cx="1737360" cy="1042416"/>
          </a:xfrm>
          <a:prstGeom prst="rect">
            <a:avLst/>
          </a:prstGeom>
        </p:spPr>
      </p:pic>
      <p:sp>
        <p:nvSpPr>
          <p:cNvPr id="70" name="Text 65"/>
          <p:cNvSpPr/>
          <p:nvPr/>
        </p:nvSpPr>
        <p:spPr>
          <a:xfrm>
            <a:off x="8171688" y="2816352"/>
            <a:ext cx="3011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EVENTS · UAE</a:t>
            </a:r>
            <a:endParaRPr lang="en-US" sz="800" dirty="0"/>
          </a:p>
        </p:txBody>
      </p:sp>
      <p:sp>
        <p:nvSpPr>
          <p:cNvPr id="71" name="Text 66"/>
          <p:cNvSpPr/>
          <p:nvPr/>
        </p:nvSpPr>
        <p:spPr>
          <a:xfrm>
            <a:off x="8171688" y="3072384"/>
            <a:ext cx="30114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Diamond Events — Weddings &amp; Flowers</a:t>
            </a:r>
            <a:endParaRPr lang="en-US" sz="1350" dirty="0"/>
          </a:p>
        </p:txBody>
      </p:sp>
      <p:sp>
        <p:nvSpPr>
          <p:cNvPr id="72" name="Text 67"/>
          <p:cNvSpPr/>
          <p:nvPr/>
        </p:nvSpPr>
        <p:spPr>
          <a:xfrm>
            <a:off x="8171688" y="3803904"/>
            <a:ext cx="301142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luxury identity and digital launch for a weddings-and-flowers studio — gold-standard branding, a portfolio website with enquiry and booking flows, and an Instagram-first content system.</a:t>
            </a:r>
            <a:endParaRPr lang="en-US" sz="950" dirty="0"/>
          </a:p>
        </p:txBody>
      </p:sp>
      <p:sp>
        <p:nvSpPr>
          <p:cNvPr id="73" name="Shape 68"/>
          <p:cNvSpPr/>
          <p:nvPr/>
        </p:nvSpPr>
        <p:spPr>
          <a:xfrm>
            <a:off x="8263128" y="5074920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74" name="Text 69"/>
          <p:cNvSpPr/>
          <p:nvPr/>
        </p:nvSpPr>
        <p:spPr>
          <a:xfrm>
            <a:off x="8263128" y="5067605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Luxury brand identity</a:t>
            </a:r>
            <a:endParaRPr lang="en-US" sz="850" dirty="0"/>
          </a:p>
        </p:txBody>
      </p:sp>
      <p:sp>
        <p:nvSpPr>
          <p:cNvPr id="75" name="Shape 70"/>
          <p:cNvSpPr/>
          <p:nvPr/>
        </p:nvSpPr>
        <p:spPr>
          <a:xfrm>
            <a:off x="8263128" y="5422392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76" name="Text 71"/>
          <p:cNvSpPr/>
          <p:nvPr/>
        </p:nvSpPr>
        <p:spPr>
          <a:xfrm>
            <a:off x="8263128" y="5415077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Booking website</a:t>
            </a:r>
            <a:endParaRPr lang="en-US" sz="850" dirty="0"/>
          </a:p>
        </p:txBody>
      </p:sp>
      <p:sp>
        <p:nvSpPr>
          <p:cNvPr id="77" name="Shape 72"/>
          <p:cNvSpPr/>
          <p:nvPr/>
        </p:nvSpPr>
        <p:spPr>
          <a:xfrm>
            <a:off x="8263128" y="5769864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78" name="Text 73"/>
          <p:cNvSpPr/>
          <p:nvPr/>
        </p:nvSpPr>
        <p:spPr>
          <a:xfrm>
            <a:off x="8263128" y="5762549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Content system</a:t>
            </a:r>
            <a:endParaRPr lang="en-US" sz="850" dirty="0"/>
          </a:p>
        </p:txBody>
      </p:sp>
      <p:sp>
        <p:nvSpPr>
          <p:cNvPr id="79" name="Text 7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80" name="Text 75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7149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435320" y="0"/>
            <a:ext cx="437149" cy="54864"/>
          </a:xfrm>
          <a:prstGeom prst="rect">
            <a:avLst/>
          </a:prstGeom>
          <a:solidFill>
            <a:srgbClr val="18B3A9"/>
          </a:solidFill>
          <a:ln/>
        </p:spPr>
      </p:sp>
      <p:sp>
        <p:nvSpPr>
          <p:cNvPr id="5" name="Shape 3"/>
          <p:cNvSpPr/>
          <p:nvPr/>
        </p:nvSpPr>
        <p:spPr>
          <a:xfrm>
            <a:off x="870639" y="0"/>
            <a:ext cx="437149" cy="54864"/>
          </a:xfrm>
          <a:prstGeom prst="rect">
            <a:avLst/>
          </a:prstGeom>
          <a:solidFill>
            <a:srgbClr val="1CAFAB"/>
          </a:solidFill>
          <a:ln/>
        </p:spPr>
      </p:sp>
      <p:sp>
        <p:nvSpPr>
          <p:cNvPr id="6" name="Shape 4"/>
          <p:cNvSpPr/>
          <p:nvPr/>
        </p:nvSpPr>
        <p:spPr>
          <a:xfrm>
            <a:off x="1305959" y="0"/>
            <a:ext cx="437149" cy="54864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7" name="Shape 5"/>
          <p:cNvSpPr/>
          <p:nvPr/>
        </p:nvSpPr>
        <p:spPr>
          <a:xfrm>
            <a:off x="1741279" y="0"/>
            <a:ext cx="437149" cy="54864"/>
          </a:xfrm>
          <a:prstGeom prst="rect">
            <a:avLst/>
          </a:prstGeom>
          <a:solidFill>
            <a:srgbClr val="23A5B1"/>
          </a:solidFill>
          <a:ln/>
        </p:spPr>
      </p:sp>
      <p:sp>
        <p:nvSpPr>
          <p:cNvPr id="8" name="Shape 6"/>
          <p:cNvSpPr/>
          <p:nvPr/>
        </p:nvSpPr>
        <p:spPr>
          <a:xfrm>
            <a:off x="2176599" y="0"/>
            <a:ext cx="437149" cy="54864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9" name="Shape 7"/>
          <p:cNvSpPr/>
          <p:nvPr/>
        </p:nvSpPr>
        <p:spPr>
          <a:xfrm>
            <a:off x="2611918" y="0"/>
            <a:ext cx="437149" cy="54864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238" y="0"/>
            <a:ext cx="437149" cy="54864"/>
          </a:xfrm>
          <a:prstGeom prst="rect">
            <a:avLst/>
          </a:prstGeom>
          <a:solidFill>
            <a:srgbClr val="2F97B8"/>
          </a:solidFill>
          <a:ln/>
        </p:spPr>
      </p:sp>
      <p:sp>
        <p:nvSpPr>
          <p:cNvPr id="11" name="Shape 9"/>
          <p:cNvSpPr/>
          <p:nvPr/>
        </p:nvSpPr>
        <p:spPr>
          <a:xfrm>
            <a:off x="3482558" y="0"/>
            <a:ext cx="437149" cy="54864"/>
          </a:xfrm>
          <a:prstGeom prst="rect">
            <a:avLst/>
          </a:prstGeom>
          <a:solidFill>
            <a:srgbClr val="3393B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17877" y="0"/>
            <a:ext cx="437149" cy="54864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3" name="Shape 11"/>
          <p:cNvSpPr/>
          <p:nvPr/>
        </p:nvSpPr>
        <p:spPr>
          <a:xfrm>
            <a:off x="4353197" y="0"/>
            <a:ext cx="437149" cy="54864"/>
          </a:xfrm>
          <a:prstGeom prst="rect">
            <a:avLst/>
          </a:prstGeom>
          <a:solidFill>
            <a:srgbClr val="3B89C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8517" y="0"/>
            <a:ext cx="437149" cy="54864"/>
          </a:xfrm>
          <a:prstGeom prst="rect">
            <a:avLst/>
          </a:prstGeom>
          <a:solidFill>
            <a:srgbClr val="3E85C3"/>
          </a:solidFill>
          <a:ln/>
        </p:spPr>
      </p:sp>
      <p:sp>
        <p:nvSpPr>
          <p:cNvPr id="15" name="Shape 13"/>
          <p:cNvSpPr/>
          <p:nvPr/>
        </p:nvSpPr>
        <p:spPr>
          <a:xfrm>
            <a:off x="5223837" y="0"/>
            <a:ext cx="437149" cy="54864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6" name="Shape 14"/>
          <p:cNvSpPr/>
          <p:nvPr/>
        </p:nvSpPr>
        <p:spPr>
          <a:xfrm>
            <a:off x="5659156" y="0"/>
            <a:ext cx="437149" cy="54864"/>
          </a:xfrm>
          <a:prstGeom prst="rect">
            <a:avLst/>
          </a:prstGeom>
          <a:solidFill>
            <a:srgbClr val="467BC8"/>
          </a:solidFill>
          <a:ln/>
        </p:spPr>
      </p:sp>
      <p:sp>
        <p:nvSpPr>
          <p:cNvPr id="17" name="Shape 15"/>
          <p:cNvSpPr/>
          <p:nvPr/>
        </p:nvSpPr>
        <p:spPr>
          <a:xfrm>
            <a:off x="6094476" y="0"/>
            <a:ext cx="437149" cy="54864"/>
          </a:xfrm>
          <a:prstGeom prst="rect">
            <a:avLst/>
          </a:prstGeom>
          <a:solidFill>
            <a:srgbClr val="4A77C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29796" y="0"/>
            <a:ext cx="437149" cy="54864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19" name="Shape 17"/>
          <p:cNvSpPr/>
          <p:nvPr/>
        </p:nvSpPr>
        <p:spPr>
          <a:xfrm>
            <a:off x="6965115" y="0"/>
            <a:ext cx="437149" cy="54864"/>
          </a:xfrm>
          <a:prstGeom prst="rect">
            <a:avLst/>
          </a:prstGeom>
          <a:solidFill>
            <a:srgbClr val="526D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00435" y="0"/>
            <a:ext cx="437149" cy="54864"/>
          </a:xfrm>
          <a:prstGeom prst="rect">
            <a:avLst/>
          </a:prstGeom>
          <a:solidFill>
            <a:srgbClr val="5569D3"/>
          </a:solidFill>
          <a:ln/>
        </p:spPr>
      </p:sp>
      <p:sp>
        <p:nvSpPr>
          <p:cNvPr id="21" name="Shape 19"/>
          <p:cNvSpPr/>
          <p:nvPr/>
        </p:nvSpPr>
        <p:spPr>
          <a:xfrm>
            <a:off x="7835755" y="0"/>
            <a:ext cx="437149" cy="54864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22" name="Shape 20"/>
          <p:cNvSpPr/>
          <p:nvPr/>
        </p:nvSpPr>
        <p:spPr>
          <a:xfrm>
            <a:off x="8271075" y="0"/>
            <a:ext cx="437149" cy="54864"/>
          </a:xfrm>
          <a:prstGeom prst="rect">
            <a:avLst/>
          </a:prstGeom>
          <a:solidFill>
            <a:srgbClr val="5D5FD8"/>
          </a:solidFill>
          <a:ln/>
        </p:spPr>
      </p:sp>
      <p:sp>
        <p:nvSpPr>
          <p:cNvPr id="23" name="Shape 21"/>
          <p:cNvSpPr/>
          <p:nvPr/>
        </p:nvSpPr>
        <p:spPr>
          <a:xfrm>
            <a:off x="8706394" y="0"/>
            <a:ext cx="437149" cy="54864"/>
          </a:xfrm>
          <a:prstGeom prst="rect">
            <a:avLst/>
          </a:prstGeom>
          <a:solidFill>
            <a:srgbClr val="615BDB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1714" y="0"/>
            <a:ext cx="437149" cy="54864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25" name="Shape 23"/>
          <p:cNvSpPr/>
          <p:nvPr/>
        </p:nvSpPr>
        <p:spPr>
          <a:xfrm>
            <a:off x="9577034" y="0"/>
            <a:ext cx="437149" cy="54864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12353" y="0"/>
            <a:ext cx="437149" cy="54864"/>
          </a:xfrm>
          <a:prstGeom prst="rect">
            <a:avLst/>
          </a:prstGeom>
          <a:solidFill>
            <a:srgbClr val="6D4DE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47673" y="0"/>
            <a:ext cx="437149" cy="54864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2993" y="0"/>
            <a:ext cx="437149" cy="54864"/>
          </a:xfrm>
          <a:prstGeom prst="rect">
            <a:avLst/>
          </a:prstGeom>
          <a:solidFill>
            <a:srgbClr val="7443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18313" y="0"/>
            <a:ext cx="437149" cy="54864"/>
          </a:xfrm>
          <a:prstGeom prst="rect">
            <a:avLst/>
          </a:prstGeom>
          <a:solidFill>
            <a:srgbClr val="783FEA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53632" y="0"/>
            <a:ext cx="437149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384048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Choose WeThink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566928" y="914400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617220" y="914400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34" name="Shape 32"/>
          <p:cNvSpPr/>
          <p:nvPr/>
        </p:nvSpPr>
        <p:spPr>
          <a:xfrm>
            <a:off x="667512" y="914400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35" name="Shape 33"/>
          <p:cNvSpPr/>
          <p:nvPr/>
        </p:nvSpPr>
        <p:spPr>
          <a:xfrm>
            <a:off x="717804" y="914400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36" name="Shape 34"/>
          <p:cNvSpPr/>
          <p:nvPr/>
        </p:nvSpPr>
        <p:spPr>
          <a:xfrm>
            <a:off x="768096" y="914400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37" name="Shape 35"/>
          <p:cNvSpPr/>
          <p:nvPr/>
        </p:nvSpPr>
        <p:spPr>
          <a:xfrm>
            <a:off x="818388" y="914400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38" name="Shape 36"/>
          <p:cNvSpPr/>
          <p:nvPr/>
        </p:nvSpPr>
        <p:spPr>
          <a:xfrm>
            <a:off x="868680" y="914400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39" name="Shape 37"/>
          <p:cNvSpPr/>
          <p:nvPr/>
        </p:nvSpPr>
        <p:spPr>
          <a:xfrm>
            <a:off x="918972" y="914400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40" name="Shape 38"/>
          <p:cNvSpPr/>
          <p:nvPr/>
        </p:nvSpPr>
        <p:spPr>
          <a:xfrm>
            <a:off x="969264" y="914400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19556" y="914400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640" y="137160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15361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777240" y="201168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Partner, Every Layer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777240" y="239572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Strategy, engineering, design, and operations under one roof — no vendor patchwork, no finger-pointing.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245864" y="137160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74464" y="15361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4474464" y="201168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Founder-Level Attention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4474464" y="239572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Founder-led and delivery-obsessed. Senior people stay on your account from kickoff to long after launch.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943088" y="137160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71688" y="15361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71688" y="201168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UAE-Rooted, Gulf-Ready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8171688" y="239572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Arabic/English delivery, UAE Vision 2031 alignment, and local regulatory awareness (NESA, PDPL).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48640" y="379476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7240" y="39593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777240" y="443484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By Default</a:t>
            </a:r>
            <a:endParaRPr lang="en-US" sz="1350" dirty="0"/>
          </a:p>
        </p:txBody>
      </p:sp>
      <p:sp>
        <p:nvSpPr>
          <p:cNvPr id="57" name="Text 55"/>
          <p:cNvSpPr/>
          <p:nvPr/>
        </p:nvSpPr>
        <p:spPr>
          <a:xfrm>
            <a:off x="777240" y="481888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27001-aligned practices and zero-trust thinking baked into every build — not bolted on afterwards.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245864" y="379476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74464" y="39593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4474464" y="443484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 Without Chaos</a:t>
            </a:r>
            <a:endParaRPr lang="en-US" sz="1350" dirty="0"/>
          </a:p>
        </p:txBody>
      </p:sp>
      <p:sp>
        <p:nvSpPr>
          <p:cNvPr id="61" name="Text 59"/>
          <p:cNvSpPr/>
          <p:nvPr/>
        </p:nvSpPr>
        <p:spPr>
          <a:xfrm>
            <a:off x="4474464" y="481888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MVPs in 8–12 weeks with agile governance: weekly demos, transparent backlogs, no surprises.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7943088" y="379476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71688" y="39593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8171688" y="443484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Commercials</a:t>
            </a:r>
            <a:endParaRPr lang="en-US" sz="1350" dirty="0"/>
          </a:p>
        </p:txBody>
      </p:sp>
      <p:sp>
        <p:nvSpPr>
          <p:cNvPr id="65" name="Text 63"/>
          <p:cNvSpPr/>
          <p:nvPr/>
        </p:nvSpPr>
        <p:spPr>
          <a:xfrm>
            <a:off x="8171688" y="481888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AED pricing, published retainers, and fixed-scope options. No hidden fees, cancel anytime.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7149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435320" y="0"/>
            <a:ext cx="437149" cy="54864"/>
          </a:xfrm>
          <a:prstGeom prst="rect">
            <a:avLst/>
          </a:prstGeom>
          <a:solidFill>
            <a:srgbClr val="18B3A9"/>
          </a:solidFill>
          <a:ln/>
        </p:spPr>
      </p:sp>
      <p:sp>
        <p:nvSpPr>
          <p:cNvPr id="5" name="Shape 3"/>
          <p:cNvSpPr/>
          <p:nvPr/>
        </p:nvSpPr>
        <p:spPr>
          <a:xfrm>
            <a:off x="870639" y="0"/>
            <a:ext cx="437149" cy="54864"/>
          </a:xfrm>
          <a:prstGeom prst="rect">
            <a:avLst/>
          </a:prstGeom>
          <a:solidFill>
            <a:srgbClr val="1CAFAB"/>
          </a:solidFill>
          <a:ln/>
        </p:spPr>
      </p:sp>
      <p:sp>
        <p:nvSpPr>
          <p:cNvPr id="6" name="Shape 4"/>
          <p:cNvSpPr/>
          <p:nvPr/>
        </p:nvSpPr>
        <p:spPr>
          <a:xfrm>
            <a:off x="1305959" y="0"/>
            <a:ext cx="437149" cy="54864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7" name="Shape 5"/>
          <p:cNvSpPr/>
          <p:nvPr/>
        </p:nvSpPr>
        <p:spPr>
          <a:xfrm>
            <a:off x="1741279" y="0"/>
            <a:ext cx="437149" cy="54864"/>
          </a:xfrm>
          <a:prstGeom prst="rect">
            <a:avLst/>
          </a:prstGeom>
          <a:solidFill>
            <a:srgbClr val="23A5B1"/>
          </a:solidFill>
          <a:ln/>
        </p:spPr>
      </p:sp>
      <p:sp>
        <p:nvSpPr>
          <p:cNvPr id="8" name="Shape 6"/>
          <p:cNvSpPr/>
          <p:nvPr/>
        </p:nvSpPr>
        <p:spPr>
          <a:xfrm>
            <a:off x="2176599" y="0"/>
            <a:ext cx="437149" cy="54864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9" name="Shape 7"/>
          <p:cNvSpPr/>
          <p:nvPr/>
        </p:nvSpPr>
        <p:spPr>
          <a:xfrm>
            <a:off x="2611918" y="0"/>
            <a:ext cx="437149" cy="54864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238" y="0"/>
            <a:ext cx="437149" cy="54864"/>
          </a:xfrm>
          <a:prstGeom prst="rect">
            <a:avLst/>
          </a:prstGeom>
          <a:solidFill>
            <a:srgbClr val="2F97B8"/>
          </a:solidFill>
          <a:ln/>
        </p:spPr>
      </p:sp>
      <p:sp>
        <p:nvSpPr>
          <p:cNvPr id="11" name="Shape 9"/>
          <p:cNvSpPr/>
          <p:nvPr/>
        </p:nvSpPr>
        <p:spPr>
          <a:xfrm>
            <a:off x="3482558" y="0"/>
            <a:ext cx="437149" cy="54864"/>
          </a:xfrm>
          <a:prstGeom prst="rect">
            <a:avLst/>
          </a:prstGeom>
          <a:solidFill>
            <a:srgbClr val="3393B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17877" y="0"/>
            <a:ext cx="437149" cy="54864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3" name="Shape 11"/>
          <p:cNvSpPr/>
          <p:nvPr/>
        </p:nvSpPr>
        <p:spPr>
          <a:xfrm>
            <a:off x="4353197" y="0"/>
            <a:ext cx="437149" cy="54864"/>
          </a:xfrm>
          <a:prstGeom prst="rect">
            <a:avLst/>
          </a:prstGeom>
          <a:solidFill>
            <a:srgbClr val="3B89C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8517" y="0"/>
            <a:ext cx="437149" cy="54864"/>
          </a:xfrm>
          <a:prstGeom prst="rect">
            <a:avLst/>
          </a:prstGeom>
          <a:solidFill>
            <a:srgbClr val="3E85C3"/>
          </a:solidFill>
          <a:ln/>
        </p:spPr>
      </p:sp>
      <p:sp>
        <p:nvSpPr>
          <p:cNvPr id="15" name="Shape 13"/>
          <p:cNvSpPr/>
          <p:nvPr/>
        </p:nvSpPr>
        <p:spPr>
          <a:xfrm>
            <a:off x="5223837" y="0"/>
            <a:ext cx="437149" cy="54864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6" name="Shape 14"/>
          <p:cNvSpPr/>
          <p:nvPr/>
        </p:nvSpPr>
        <p:spPr>
          <a:xfrm>
            <a:off x="5659156" y="0"/>
            <a:ext cx="437149" cy="54864"/>
          </a:xfrm>
          <a:prstGeom prst="rect">
            <a:avLst/>
          </a:prstGeom>
          <a:solidFill>
            <a:srgbClr val="467BC8"/>
          </a:solidFill>
          <a:ln/>
        </p:spPr>
      </p:sp>
      <p:sp>
        <p:nvSpPr>
          <p:cNvPr id="17" name="Shape 15"/>
          <p:cNvSpPr/>
          <p:nvPr/>
        </p:nvSpPr>
        <p:spPr>
          <a:xfrm>
            <a:off x="6094476" y="0"/>
            <a:ext cx="437149" cy="54864"/>
          </a:xfrm>
          <a:prstGeom prst="rect">
            <a:avLst/>
          </a:prstGeom>
          <a:solidFill>
            <a:srgbClr val="4A77C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29796" y="0"/>
            <a:ext cx="437149" cy="54864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19" name="Shape 17"/>
          <p:cNvSpPr/>
          <p:nvPr/>
        </p:nvSpPr>
        <p:spPr>
          <a:xfrm>
            <a:off x="6965115" y="0"/>
            <a:ext cx="437149" cy="54864"/>
          </a:xfrm>
          <a:prstGeom prst="rect">
            <a:avLst/>
          </a:prstGeom>
          <a:solidFill>
            <a:srgbClr val="526D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00435" y="0"/>
            <a:ext cx="437149" cy="54864"/>
          </a:xfrm>
          <a:prstGeom prst="rect">
            <a:avLst/>
          </a:prstGeom>
          <a:solidFill>
            <a:srgbClr val="5569D3"/>
          </a:solidFill>
          <a:ln/>
        </p:spPr>
      </p:sp>
      <p:sp>
        <p:nvSpPr>
          <p:cNvPr id="21" name="Shape 19"/>
          <p:cNvSpPr/>
          <p:nvPr/>
        </p:nvSpPr>
        <p:spPr>
          <a:xfrm>
            <a:off x="7835755" y="0"/>
            <a:ext cx="437149" cy="54864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22" name="Shape 20"/>
          <p:cNvSpPr/>
          <p:nvPr/>
        </p:nvSpPr>
        <p:spPr>
          <a:xfrm>
            <a:off x="8271075" y="0"/>
            <a:ext cx="437149" cy="54864"/>
          </a:xfrm>
          <a:prstGeom prst="rect">
            <a:avLst/>
          </a:prstGeom>
          <a:solidFill>
            <a:srgbClr val="5D5FD8"/>
          </a:solidFill>
          <a:ln/>
        </p:spPr>
      </p:sp>
      <p:sp>
        <p:nvSpPr>
          <p:cNvPr id="23" name="Shape 21"/>
          <p:cNvSpPr/>
          <p:nvPr/>
        </p:nvSpPr>
        <p:spPr>
          <a:xfrm>
            <a:off x="8706394" y="0"/>
            <a:ext cx="437149" cy="54864"/>
          </a:xfrm>
          <a:prstGeom prst="rect">
            <a:avLst/>
          </a:prstGeom>
          <a:solidFill>
            <a:srgbClr val="615BDB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1714" y="0"/>
            <a:ext cx="437149" cy="54864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25" name="Shape 23"/>
          <p:cNvSpPr/>
          <p:nvPr/>
        </p:nvSpPr>
        <p:spPr>
          <a:xfrm>
            <a:off x="9577034" y="0"/>
            <a:ext cx="437149" cy="54864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12353" y="0"/>
            <a:ext cx="437149" cy="54864"/>
          </a:xfrm>
          <a:prstGeom prst="rect">
            <a:avLst/>
          </a:prstGeom>
          <a:solidFill>
            <a:srgbClr val="6D4DE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47673" y="0"/>
            <a:ext cx="437149" cy="54864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2993" y="0"/>
            <a:ext cx="437149" cy="54864"/>
          </a:xfrm>
          <a:prstGeom prst="rect">
            <a:avLst/>
          </a:prstGeom>
          <a:solidFill>
            <a:srgbClr val="7443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18313" y="0"/>
            <a:ext cx="437149" cy="54864"/>
          </a:xfrm>
          <a:prstGeom prst="rect">
            <a:avLst/>
          </a:prstGeom>
          <a:solidFill>
            <a:srgbClr val="783FEA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53632" y="0"/>
            <a:ext cx="437149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Expertise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566928" y="1024128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617220" y="1024128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34" name="Shape 32"/>
          <p:cNvSpPr/>
          <p:nvPr/>
        </p:nvSpPr>
        <p:spPr>
          <a:xfrm>
            <a:off x="667512" y="1024128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35" name="Shape 33"/>
          <p:cNvSpPr/>
          <p:nvPr/>
        </p:nvSpPr>
        <p:spPr>
          <a:xfrm>
            <a:off x="717804" y="1024128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36" name="Shape 34"/>
          <p:cNvSpPr/>
          <p:nvPr/>
        </p:nvSpPr>
        <p:spPr>
          <a:xfrm>
            <a:off x="768096" y="1024128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37" name="Shape 35"/>
          <p:cNvSpPr/>
          <p:nvPr/>
        </p:nvSpPr>
        <p:spPr>
          <a:xfrm>
            <a:off x="818388" y="1024128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38" name="Shape 36"/>
          <p:cNvSpPr/>
          <p:nvPr/>
        </p:nvSpPr>
        <p:spPr>
          <a:xfrm>
            <a:off x="868680" y="1024128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39" name="Shape 37"/>
          <p:cNvSpPr/>
          <p:nvPr/>
        </p:nvSpPr>
        <p:spPr>
          <a:xfrm>
            <a:off x="918972" y="1024128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40" name="Shape 38"/>
          <p:cNvSpPr/>
          <p:nvPr/>
        </p:nvSpPr>
        <p:spPr>
          <a:xfrm>
            <a:off x="969264" y="1024128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19556" y="1024128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1152144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Vendor-neutral by principle — we recommend and build on the platforms that fit your goals, not our margins.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8640" y="1737360"/>
            <a:ext cx="2571750" cy="640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5" name="Text 43"/>
          <p:cNvSpPr/>
          <p:nvPr/>
        </p:nvSpPr>
        <p:spPr>
          <a:xfrm>
            <a:off x="731520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INFRASTRUCTURE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1520" y="255117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7" name="Text 45"/>
          <p:cNvSpPr/>
          <p:nvPr/>
        </p:nvSpPr>
        <p:spPr>
          <a:xfrm>
            <a:off x="877824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31520" y="2907792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9" name="Text 47"/>
          <p:cNvSpPr/>
          <p:nvPr/>
        </p:nvSpPr>
        <p:spPr>
          <a:xfrm>
            <a:off x="877824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Azure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31520" y="3264408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1" name="Text 49"/>
          <p:cNvSpPr/>
          <p:nvPr/>
        </p:nvSpPr>
        <p:spPr>
          <a:xfrm>
            <a:off x="877824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Cloud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31520" y="362102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3" name="Text 51"/>
          <p:cNvSpPr/>
          <p:nvPr/>
        </p:nvSpPr>
        <p:spPr>
          <a:xfrm>
            <a:off x="877824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Kubernetes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731520" y="3977640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5" name="Text 53"/>
          <p:cNvSpPr/>
          <p:nvPr/>
        </p:nvSpPr>
        <p:spPr>
          <a:xfrm>
            <a:off x="877824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Terraform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731520" y="433425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7" name="Text 55"/>
          <p:cNvSpPr/>
          <p:nvPr/>
        </p:nvSpPr>
        <p:spPr>
          <a:xfrm>
            <a:off x="877824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3321558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21558" y="1737360"/>
            <a:ext cx="257175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0" name="Text 58"/>
          <p:cNvSpPr/>
          <p:nvPr/>
        </p:nvSpPr>
        <p:spPr>
          <a:xfrm>
            <a:off x="3504438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504438" y="2551176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2" name="Text 60"/>
          <p:cNvSpPr/>
          <p:nvPr/>
        </p:nvSpPr>
        <p:spPr>
          <a:xfrm>
            <a:off x="3650742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&amp; Next.js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504438" y="2907792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4" name="Text 62"/>
          <p:cNvSpPr/>
          <p:nvPr/>
        </p:nvSpPr>
        <p:spPr>
          <a:xfrm>
            <a:off x="3650742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3504438" y="3264408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6" name="Text 64"/>
          <p:cNvSpPr/>
          <p:nvPr/>
        </p:nvSpPr>
        <p:spPr>
          <a:xfrm>
            <a:off x="3650742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Flutter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3504438" y="3621024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8" name="Text 66"/>
          <p:cNvSpPr/>
          <p:nvPr/>
        </p:nvSpPr>
        <p:spPr>
          <a:xfrm>
            <a:off x="3650742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Native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504438" y="3977640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0" name="Text 68"/>
          <p:cNvSpPr/>
          <p:nvPr/>
        </p:nvSpPr>
        <p:spPr>
          <a:xfrm>
            <a:off x="3650742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3504438" y="4334256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2" name="Text 70"/>
          <p:cNvSpPr/>
          <p:nvPr/>
        </p:nvSpPr>
        <p:spPr>
          <a:xfrm>
            <a:off x="3650742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&amp; MongoDB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094476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94476" y="1737360"/>
            <a:ext cx="2571750" cy="640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5" name="Text 73"/>
          <p:cNvSpPr/>
          <p:nvPr/>
        </p:nvSpPr>
        <p:spPr>
          <a:xfrm>
            <a:off x="6277356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AI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6277356" y="255117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7" name="Text 75"/>
          <p:cNvSpPr/>
          <p:nvPr/>
        </p:nvSpPr>
        <p:spPr>
          <a:xfrm>
            <a:off x="6423660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BI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6277356" y="2907792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9" name="Text 77"/>
          <p:cNvSpPr/>
          <p:nvPr/>
        </p:nvSpPr>
        <p:spPr>
          <a:xfrm>
            <a:off x="6423660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Warehousing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6277356" y="3264408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1" name="Text 79"/>
          <p:cNvSpPr/>
          <p:nvPr/>
        </p:nvSpPr>
        <p:spPr>
          <a:xfrm>
            <a:off x="6423660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Models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6277356" y="3621024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3" name="Text 81"/>
          <p:cNvSpPr/>
          <p:nvPr/>
        </p:nvSpPr>
        <p:spPr>
          <a:xfrm>
            <a:off x="6423660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Analytics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6277356" y="3977640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5" name="Text 83"/>
          <p:cNvSpPr/>
          <p:nvPr/>
        </p:nvSpPr>
        <p:spPr>
          <a:xfrm>
            <a:off x="6423660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Assistants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6277356" y="433425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7" name="Text 85"/>
          <p:cNvSpPr/>
          <p:nvPr/>
        </p:nvSpPr>
        <p:spPr>
          <a:xfrm>
            <a:off x="6423660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ETL Pipelines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8867394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867394" y="1737360"/>
            <a:ext cx="2571750" cy="6400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90" name="Text 88"/>
          <p:cNvSpPr/>
          <p:nvPr/>
        </p:nvSpPr>
        <p:spPr>
          <a:xfrm>
            <a:off x="9050274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DELIVERY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9050274" y="255117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92" name="Text 90"/>
          <p:cNvSpPr/>
          <p:nvPr/>
        </p:nvSpPr>
        <p:spPr>
          <a:xfrm>
            <a:off x="9196578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Trust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9050274" y="2907792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94" name="Text 92"/>
          <p:cNvSpPr/>
          <p:nvPr/>
        </p:nvSpPr>
        <p:spPr>
          <a:xfrm>
            <a:off x="9196578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 Monitoring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9050274" y="3264408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96" name="Text 94"/>
          <p:cNvSpPr/>
          <p:nvPr/>
        </p:nvSpPr>
        <p:spPr>
          <a:xfrm>
            <a:off x="9196578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&amp; CI/CD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9050274" y="3621024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98" name="Text 96"/>
          <p:cNvSpPr/>
          <p:nvPr/>
        </p:nvSpPr>
        <p:spPr>
          <a:xfrm>
            <a:off x="9196578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DevOps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9050274" y="3977640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00" name="Text 98"/>
          <p:cNvSpPr/>
          <p:nvPr/>
        </p:nvSpPr>
        <p:spPr>
          <a:xfrm>
            <a:off x="9196578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9050274" y="433425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02" name="Text 100"/>
          <p:cNvSpPr/>
          <p:nvPr/>
        </p:nvSpPr>
        <p:spPr>
          <a:xfrm>
            <a:off x="9196578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Integration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 &amp; Compliance Awareness</a:t>
            </a:r>
            <a:endParaRPr lang="en-US" sz="1600" dirty="0"/>
          </a:p>
        </p:txBody>
      </p:sp>
      <p:sp>
        <p:nvSpPr>
          <p:cNvPr id="104" name="Shape 102"/>
          <p:cNvSpPr/>
          <p:nvPr/>
        </p:nvSpPr>
        <p:spPr>
          <a:xfrm>
            <a:off x="566928" y="5504688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17220" y="5504688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67512" y="5504688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17804" y="5504688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68096" y="5504688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18388" y="5504688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68680" y="5504688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18972" y="5504688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969264" y="5504688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19556" y="5504688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48640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48640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(aligned)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2397252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2397252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NESA / UAE IA</a:t>
            </a:r>
            <a:endParaRPr lang="en-US" sz="850" dirty="0"/>
          </a:p>
        </p:txBody>
      </p:sp>
      <p:sp>
        <p:nvSpPr>
          <p:cNvPr id="118" name="Shape 116"/>
          <p:cNvSpPr/>
          <p:nvPr/>
        </p:nvSpPr>
        <p:spPr>
          <a:xfrm>
            <a:off x="4245864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245864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PDPL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6094476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094476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WCAG Accessibility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7943088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943088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OWASP Practices</a:t>
            </a:r>
            <a:endParaRPr lang="en-US" sz="850" dirty="0"/>
          </a:p>
        </p:txBody>
      </p:sp>
      <p:sp>
        <p:nvSpPr>
          <p:cNvPr id="124" name="Shape 122"/>
          <p:cNvSpPr/>
          <p:nvPr/>
        </p:nvSpPr>
        <p:spPr>
          <a:xfrm>
            <a:off x="9791700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9791700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Gov Digital</a:t>
            </a:r>
            <a:endParaRPr lang="en-US" sz="850" dirty="0"/>
          </a:p>
        </p:txBody>
      </p:sp>
      <p:sp>
        <p:nvSpPr>
          <p:cNvPr id="126" name="Text 12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127" name="Text 125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7149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435320" y="0"/>
            <a:ext cx="437149" cy="54864"/>
          </a:xfrm>
          <a:prstGeom prst="rect">
            <a:avLst/>
          </a:prstGeom>
          <a:solidFill>
            <a:srgbClr val="18B3A9"/>
          </a:solidFill>
          <a:ln/>
        </p:spPr>
      </p:sp>
      <p:sp>
        <p:nvSpPr>
          <p:cNvPr id="5" name="Shape 3"/>
          <p:cNvSpPr/>
          <p:nvPr/>
        </p:nvSpPr>
        <p:spPr>
          <a:xfrm>
            <a:off x="870639" y="0"/>
            <a:ext cx="437149" cy="54864"/>
          </a:xfrm>
          <a:prstGeom prst="rect">
            <a:avLst/>
          </a:prstGeom>
          <a:solidFill>
            <a:srgbClr val="1CAFAB"/>
          </a:solidFill>
          <a:ln/>
        </p:spPr>
      </p:sp>
      <p:sp>
        <p:nvSpPr>
          <p:cNvPr id="6" name="Shape 4"/>
          <p:cNvSpPr/>
          <p:nvPr/>
        </p:nvSpPr>
        <p:spPr>
          <a:xfrm>
            <a:off x="1305959" y="0"/>
            <a:ext cx="437149" cy="54864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7" name="Shape 5"/>
          <p:cNvSpPr/>
          <p:nvPr/>
        </p:nvSpPr>
        <p:spPr>
          <a:xfrm>
            <a:off x="1741279" y="0"/>
            <a:ext cx="437149" cy="54864"/>
          </a:xfrm>
          <a:prstGeom prst="rect">
            <a:avLst/>
          </a:prstGeom>
          <a:solidFill>
            <a:srgbClr val="23A5B1"/>
          </a:solidFill>
          <a:ln/>
        </p:spPr>
      </p:sp>
      <p:sp>
        <p:nvSpPr>
          <p:cNvPr id="8" name="Shape 6"/>
          <p:cNvSpPr/>
          <p:nvPr/>
        </p:nvSpPr>
        <p:spPr>
          <a:xfrm>
            <a:off x="2176599" y="0"/>
            <a:ext cx="437149" cy="54864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9" name="Shape 7"/>
          <p:cNvSpPr/>
          <p:nvPr/>
        </p:nvSpPr>
        <p:spPr>
          <a:xfrm>
            <a:off x="2611918" y="0"/>
            <a:ext cx="437149" cy="54864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238" y="0"/>
            <a:ext cx="437149" cy="54864"/>
          </a:xfrm>
          <a:prstGeom prst="rect">
            <a:avLst/>
          </a:prstGeom>
          <a:solidFill>
            <a:srgbClr val="2F97B8"/>
          </a:solidFill>
          <a:ln/>
        </p:spPr>
      </p:sp>
      <p:sp>
        <p:nvSpPr>
          <p:cNvPr id="11" name="Shape 9"/>
          <p:cNvSpPr/>
          <p:nvPr/>
        </p:nvSpPr>
        <p:spPr>
          <a:xfrm>
            <a:off x="3482558" y="0"/>
            <a:ext cx="437149" cy="54864"/>
          </a:xfrm>
          <a:prstGeom prst="rect">
            <a:avLst/>
          </a:prstGeom>
          <a:solidFill>
            <a:srgbClr val="3393B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17877" y="0"/>
            <a:ext cx="437149" cy="54864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3" name="Shape 11"/>
          <p:cNvSpPr/>
          <p:nvPr/>
        </p:nvSpPr>
        <p:spPr>
          <a:xfrm>
            <a:off x="4353197" y="0"/>
            <a:ext cx="437149" cy="54864"/>
          </a:xfrm>
          <a:prstGeom prst="rect">
            <a:avLst/>
          </a:prstGeom>
          <a:solidFill>
            <a:srgbClr val="3B89C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8517" y="0"/>
            <a:ext cx="437149" cy="54864"/>
          </a:xfrm>
          <a:prstGeom prst="rect">
            <a:avLst/>
          </a:prstGeom>
          <a:solidFill>
            <a:srgbClr val="3E85C3"/>
          </a:solidFill>
          <a:ln/>
        </p:spPr>
      </p:sp>
      <p:sp>
        <p:nvSpPr>
          <p:cNvPr id="15" name="Shape 13"/>
          <p:cNvSpPr/>
          <p:nvPr/>
        </p:nvSpPr>
        <p:spPr>
          <a:xfrm>
            <a:off x="5223837" y="0"/>
            <a:ext cx="437149" cy="54864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6" name="Shape 14"/>
          <p:cNvSpPr/>
          <p:nvPr/>
        </p:nvSpPr>
        <p:spPr>
          <a:xfrm>
            <a:off x="5659156" y="0"/>
            <a:ext cx="437149" cy="54864"/>
          </a:xfrm>
          <a:prstGeom prst="rect">
            <a:avLst/>
          </a:prstGeom>
          <a:solidFill>
            <a:srgbClr val="467BC8"/>
          </a:solidFill>
          <a:ln/>
        </p:spPr>
      </p:sp>
      <p:sp>
        <p:nvSpPr>
          <p:cNvPr id="17" name="Shape 15"/>
          <p:cNvSpPr/>
          <p:nvPr/>
        </p:nvSpPr>
        <p:spPr>
          <a:xfrm>
            <a:off x="6094476" y="0"/>
            <a:ext cx="437149" cy="54864"/>
          </a:xfrm>
          <a:prstGeom prst="rect">
            <a:avLst/>
          </a:prstGeom>
          <a:solidFill>
            <a:srgbClr val="4A77C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29796" y="0"/>
            <a:ext cx="437149" cy="54864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19" name="Shape 17"/>
          <p:cNvSpPr/>
          <p:nvPr/>
        </p:nvSpPr>
        <p:spPr>
          <a:xfrm>
            <a:off x="6965115" y="0"/>
            <a:ext cx="437149" cy="54864"/>
          </a:xfrm>
          <a:prstGeom prst="rect">
            <a:avLst/>
          </a:prstGeom>
          <a:solidFill>
            <a:srgbClr val="526D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00435" y="0"/>
            <a:ext cx="437149" cy="54864"/>
          </a:xfrm>
          <a:prstGeom prst="rect">
            <a:avLst/>
          </a:prstGeom>
          <a:solidFill>
            <a:srgbClr val="5569D3"/>
          </a:solidFill>
          <a:ln/>
        </p:spPr>
      </p:sp>
      <p:sp>
        <p:nvSpPr>
          <p:cNvPr id="21" name="Shape 19"/>
          <p:cNvSpPr/>
          <p:nvPr/>
        </p:nvSpPr>
        <p:spPr>
          <a:xfrm>
            <a:off x="7835755" y="0"/>
            <a:ext cx="437149" cy="54864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22" name="Shape 20"/>
          <p:cNvSpPr/>
          <p:nvPr/>
        </p:nvSpPr>
        <p:spPr>
          <a:xfrm>
            <a:off x="8271075" y="0"/>
            <a:ext cx="437149" cy="54864"/>
          </a:xfrm>
          <a:prstGeom prst="rect">
            <a:avLst/>
          </a:prstGeom>
          <a:solidFill>
            <a:srgbClr val="5D5FD8"/>
          </a:solidFill>
          <a:ln/>
        </p:spPr>
      </p:sp>
      <p:sp>
        <p:nvSpPr>
          <p:cNvPr id="23" name="Shape 21"/>
          <p:cNvSpPr/>
          <p:nvPr/>
        </p:nvSpPr>
        <p:spPr>
          <a:xfrm>
            <a:off x="8706394" y="0"/>
            <a:ext cx="437149" cy="54864"/>
          </a:xfrm>
          <a:prstGeom prst="rect">
            <a:avLst/>
          </a:prstGeom>
          <a:solidFill>
            <a:srgbClr val="615BDB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1714" y="0"/>
            <a:ext cx="437149" cy="54864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25" name="Shape 23"/>
          <p:cNvSpPr/>
          <p:nvPr/>
        </p:nvSpPr>
        <p:spPr>
          <a:xfrm>
            <a:off x="9577034" y="0"/>
            <a:ext cx="437149" cy="54864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12353" y="0"/>
            <a:ext cx="437149" cy="54864"/>
          </a:xfrm>
          <a:prstGeom prst="rect">
            <a:avLst/>
          </a:prstGeom>
          <a:solidFill>
            <a:srgbClr val="6D4DE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47673" y="0"/>
            <a:ext cx="437149" cy="54864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2993" y="0"/>
            <a:ext cx="437149" cy="54864"/>
          </a:xfrm>
          <a:prstGeom prst="rect">
            <a:avLst/>
          </a:prstGeom>
          <a:solidFill>
            <a:srgbClr val="7443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18313" y="0"/>
            <a:ext cx="437149" cy="54864"/>
          </a:xfrm>
          <a:prstGeom prst="rect">
            <a:avLst/>
          </a:prstGeom>
          <a:solidFill>
            <a:srgbClr val="783FEA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53632" y="0"/>
            <a:ext cx="437149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Engagement Models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566928" y="1024128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617220" y="1024128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34" name="Shape 32"/>
          <p:cNvSpPr/>
          <p:nvPr/>
        </p:nvSpPr>
        <p:spPr>
          <a:xfrm>
            <a:off x="667512" y="1024128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35" name="Shape 33"/>
          <p:cNvSpPr/>
          <p:nvPr/>
        </p:nvSpPr>
        <p:spPr>
          <a:xfrm>
            <a:off x="717804" y="1024128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36" name="Shape 34"/>
          <p:cNvSpPr/>
          <p:nvPr/>
        </p:nvSpPr>
        <p:spPr>
          <a:xfrm>
            <a:off x="768096" y="1024128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37" name="Shape 35"/>
          <p:cNvSpPr/>
          <p:nvPr/>
        </p:nvSpPr>
        <p:spPr>
          <a:xfrm>
            <a:off x="818388" y="1024128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38" name="Shape 36"/>
          <p:cNvSpPr/>
          <p:nvPr/>
        </p:nvSpPr>
        <p:spPr>
          <a:xfrm>
            <a:off x="868680" y="1024128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39" name="Shape 37"/>
          <p:cNvSpPr/>
          <p:nvPr/>
        </p:nvSpPr>
        <p:spPr>
          <a:xfrm>
            <a:off x="918972" y="1024128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40" name="Shape 38"/>
          <p:cNvSpPr/>
          <p:nvPr/>
        </p:nvSpPr>
        <p:spPr>
          <a:xfrm>
            <a:off x="969264" y="1024128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19556" y="1024128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1152144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 AED retainers — no hidden fees, cancel anytime. Fixed-scope projects and dedicated teams also available.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1645920"/>
            <a:ext cx="3468624" cy="43434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" y="182880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77240" y="2194560"/>
            <a:ext cx="3011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AED 1,499</a:t>
            </a:r>
            <a:pPr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/month</a:t>
            </a:r>
            <a:endParaRPr lang="en-US" sz="2400" dirty="0"/>
          </a:p>
        </p:txBody>
      </p:sp>
      <p:sp>
        <p:nvSpPr>
          <p:cNvPr id="46" name="Text 44"/>
          <p:cNvSpPr/>
          <p:nvPr/>
        </p:nvSpPr>
        <p:spPr>
          <a:xfrm>
            <a:off x="777240" y="2706624"/>
            <a:ext cx="30114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Reliable IT support and a clear technology roadmap for small businesses.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49808" y="34015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87552" y="34015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helpdesk support (8×5)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9808" y="381304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87552" y="381304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 &amp; device monitoring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49808" y="422452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987552" y="422452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security health check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49808" y="463600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87552" y="463600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readiness assessment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49808" y="504748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87552" y="504748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reports &amp; advisory call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49808" y="54589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87552" y="54589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to 15 users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245864" y="1645920"/>
            <a:ext cx="3468624" cy="43434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22225">
            <a:solidFill>
              <a:srgbClr val="14B8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291584" y="1645920"/>
            <a:ext cx="212903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1" name="Shape 59"/>
          <p:cNvSpPr/>
          <p:nvPr/>
        </p:nvSpPr>
        <p:spPr>
          <a:xfrm>
            <a:off x="4502658" y="1645920"/>
            <a:ext cx="212903" cy="82296"/>
          </a:xfrm>
          <a:prstGeom prst="rect">
            <a:avLst/>
          </a:prstGeom>
          <a:solidFill>
            <a:srgbClr val="1BB0AB"/>
          </a:solidFill>
          <a:ln/>
        </p:spPr>
      </p:sp>
      <p:sp>
        <p:nvSpPr>
          <p:cNvPr id="62" name="Shape 60"/>
          <p:cNvSpPr/>
          <p:nvPr/>
        </p:nvSpPr>
        <p:spPr>
          <a:xfrm>
            <a:off x="4713732" y="1645920"/>
            <a:ext cx="212903" cy="82296"/>
          </a:xfrm>
          <a:prstGeom prst="rect">
            <a:avLst/>
          </a:prstGeom>
          <a:solidFill>
            <a:srgbClr val="22A7AF"/>
          </a:solidFill>
          <a:ln/>
        </p:spPr>
      </p:sp>
      <p:sp>
        <p:nvSpPr>
          <p:cNvPr id="63" name="Shape 61"/>
          <p:cNvSpPr/>
          <p:nvPr/>
        </p:nvSpPr>
        <p:spPr>
          <a:xfrm>
            <a:off x="4924806" y="1645920"/>
            <a:ext cx="212903" cy="82296"/>
          </a:xfrm>
          <a:prstGeom prst="rect">
            <a:avLst/>
          </a:prstGeom>
          <a:solidFill>
            <a:srgbClr val="299FB4"/>
          </a:solidFill>
          <a:ln/>
        </p:spPr>
      </p:sp>
      <p:sp>
        <p:nvSpPr>
          <p:cNvPr id="64" name="Shape 62"/>
          <p:cNvSpPr/>
          <p:nvPr/>
        </p:nvSpPr>
        <p:spPr>
          <a:xfrm>
            <a:off x="5135880" y="1645920"/>
            <a:ext cx="212903" cy="82296"/>
          </a:xfrm>
          <a:prstGeom prst="rect">
            <a:avLst/>
          </a:prstGeom>
          <a:solidFill>
            <a:srgbClr val="3096B9"/>
          </a:solidFill>
          <a:ln/>
        </p:spPr>
      </p:sp>
      <p:sp>
        <p:nvSpPr>
          <p:cNvPr id="65" name="Shape 63"/>
          <p:cNvSpPr/>
          <p:nvPr/>
        </p:nvSpPr>
        <p:spPr>
          <a:xfrm>
            <a:off x="5346954" y="1645920"/>
            <a:ext cx="212903" cy="82296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66" name="Shape 64"/>
          <p:cNvSpPr/>
          <p:nvPr/>
        </p:nvSpPr>
        <p:spPr>
          <a:xfrm>
            <a:off x="5558028" y="1645920"/>
            <a:ext cx="212903" cy="82296"/>
          </a:xfrm>
          <a:prstGeom prst="rect">
            <a:avLst/>
          </a:prstGeom>
          <a:solidFill>
            <a:srgbClr val="3E86C2"/>
          </a:solidFill>
          <a:ln/>
        </p:spPr>
      </p:sp>
      <p:sp>
        <p:nvSpPr>
          <p:cNvPr id="67" name="Shape 65"/>
          <p:cNvSpPr/>
          <p:nvPr/>
        </p:nvSpPr>
        <p:spPr>
          <a:xfrm>
            <a:off x="5769102" y="1645920"/>
            <a:ext cx="212903" cy="82296"/>
          </a:xfrm>
          <a:prstGeom prst="rect">
            <a:avLst/>
          </a:prstGeom>
          <a:solidFill>
            <a:srgbClr val="457DC7"/>
          </a:solidFill>
          <a:ln/>
        </p:spPr>
      </p:sp>
      <p:sp>
        <p:nvSpPr>
          <p:cNvPr id="68" name="Shape 66"/>
          <p:cNvSpPr/>
          <p:nvPr/>
        </p:nvSpPr>
        <p:spPr>
          <a:xfrm>
            <a:off x="5980176" y="1645920"/>
            <a:ext cx="212903" cy="82296"/>
          </a:xfrm>
          <a:prstGeom prst="rect">
            <a:avLst/>
          </a:prstGeom>
          <a:solidFill>
            <a:srgbClr val="4B75CC"/>
          </a:solidFill>
          <a:ln/>
        </p:spPr>
      </p:sp>
      <p:sp>
        <p:nvSpPr>
          <p:cNvPr id="69" name="Shape 67"/>
          <p:cNvSpPr/>
          <p:nvPr/>
        </p:nvSpPr>
        <p:spPr>
          <a:xfrm>
            <a:off x="6191250" y="1645920"/>
            <a:ext cx="212903" cy="82296"/>
          </a:xfrm>
          <a:prstGeom prst="rect">
            <a:avLst/>
          </a:prstGeom>
          <a:solidFill>
            <a:srgbClr val="526CD1"/>
          </a:solidFill>
          <a:ln/>
        </p:spPr>
      </p:sp>
      <p:sp>
        <p:nvSpPr>
          <p:cNvPr id="70" name="Shape 68"/>
          <p:cNvSpPr/>
          <p:nvPr/>
        </p:nvSpPr>
        <p:spPr>
          <a:xfrm>
            <a:off x="6402324" y="1645920"/>
            <a:ext cx="212903" cy="82296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71" name="Shape 69"/>
          <p:cNvSpPr/>
          <p:nvPr/>
        </p:nvSpPr>
        <p:spPr>
          <a:xfrm>
            <a:off x="6613398" y="1645920"/>
            <a:ext cx="212903" cy="82296"/>
          </a:xfrm>
          <a:prstGeom prst="rect">
            <a:avLst/>
          </a:prstGeom>
          <a:solidFill>
            <a:srgbClr val="605CDA"/>
          </a:solidFill>
          <a:ln/>
        </p:spPr>
      </p:sp>
      <p:sp>
        <p:nvSpPr>
          <p:cNvPr id="72" name="Shape 70"/>
          <p:cNvSpPr/>
          <p:nvPr/>
        </p:nvSpPr>
        <p:spPr>
          <a:xfrm>
            <a:off x="6824472" y="1645920"/>
            <a:ext cx="212903" cy="82296"/>
          </a:xfrm>
          <a:prstGeom prst="rect">
            <a:avLst/>
          </a:prstGeom>
          <a:solidFill>
            <a:srgbClr val="6753DF"/>
          </a:solidFill>
          <a:ln/>
        </p:spPr>
      </p:sp>
      <p:sp>
        <p:nvSpPr>
          <p:cNvPr id="73" name="Shape 71"/>
          <p:cNvSpPr/>
          <p:nvPr/>
        </p:nvSpPr>
        <p:spPr>
          <a:xfrm>
            <a:off x="7035546" y="1645920"/>
            <a:ext cx="212903" cy="82296"/>
          </a:xfrm>
          <a:prstGeom prst="rect">
            <a:avLst/>
          </a:prstGeom>
          <a:solidFill>
            <a:srgbClr val="6E4BE4"/>
          </a:solidFill>
          <a:ln/>
        </p:spPr>
      </p:sp>
      <p:sp>
        <p:nvSpPr>
          <p:cNvPr id="74" name="Shape 72"/>
          <p:cNvSpPr/>
          <p:nvPr/>
        </p:nvSpPr>
        <p:spPr>
          <a:xfrm>
            <a:off x="7246620" y="1645920"/>
            <a:ext cx="212903" cy="82296"/>
          </a:xfrm>
          <a:prstGeom prst="rect">
            <a:avLst/>
          </a:prstGeom>
          <a:solidFill>
            <a:srgbClr val="7542E8"/>
          </a:solidFill>
          <a:ln/>
        </p:spPr>
      </p:sp>
      <p:sp>
        <p:nvSpPr>
          <p:cNvPr id="75" name="Shape 73"/>
          <p:cNvSpPr/>
          <p:nvPr/>
        </p:nvSpPr>
        <p:spPr>
          <a:xfrm>
            <a:off x="7457694" y="1645920"/>
            <a:ext cx="212903" cy="822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6" name="Shape 74"/>
          <p:cNvSpPr/>
          <p:nvPr/>
        </p:nvSpPr>
        <p:spPr>
          <a:xfrm>
            <a:off x="6297168" y="184708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77" name="Text 75"/>
          <p:cNvSpPr/>
          <p:nvPr/>
        </p:nvSpPr>
        <p:spPr>
          <a:xfrm>
            <a:off x="6297168" y="182880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POPULAR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4474464" y="182880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4474464" y="2194560"/>
            <a:ext cx="3011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AED 4,499</a:t>
            </a:r>
            <a:pPr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/month</a:t>
            </a:r>
            <a:endParaRPr lang="en-US" sz="2400" dirty="0"/>
          </a:p>
        </p:txBody>
      </p:sp>
      <p:sp>
        <p:nvSpPr>
          <p:cNvPr id="80" name="Text 78"/>
          <p:cNvSpPr/>
          <p:nvPr/>
        </p:nvSpPr>
        <p:spPr>
          <a:xfrm>
            <a:off x="4474464" y="2706624"/>
            <a:ext cx="30114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IT + cloud for scaling teams that want a hands-on partner.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4447032" y="34015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4684776" y="34015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Essentials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4447032" y="381304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684776" y="381304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24×7 monitoring &amp; response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4447032" y="422452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684776" y="422452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architecture &amp; cost control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4447032" y="463600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684776" y="463600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hardening &amp; training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4447032" y="504748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4684776" y="504748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Quarterly strategy workshops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4447032" y="54589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684776" y="54589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account manager · 60 users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7943088" y="1645920"/>
            <a:ext cx="3468624" cy="43434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71688" y="182880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600" dirty="0"/>
          </a:p>
        </p:txBody>
      </p:sp>
      <p:sp>
        <p:nvSpPr>
          <p:cNvPr id="95" name="Text 93"/>
          <p:cNvSpPr/>
          <p:nvPr/>
        </p:nvSpPr>
        <p:spPr>
          <a:xfrm>
            <a:off x="8171688" y="2194560"/>
            <a:ext cx="3011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</a:t>
            </a:r>
            <a:pPr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8171688" y="2706624"/>
            <a:ext cx="30114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transformation programmes, scoped and priced per engagement.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8144256" y="34015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8382000" y="34015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Growth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8144256" y="381304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8382000" y="381304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digital transformation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8144256" y="422452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382000" y="422452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 &amp; AI solutions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8144256" y="463600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8382000" y="463600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/ NESA programmes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8144256" y="504748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8382000" y="504748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engineering team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8144256" y="54589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8382000" y="54589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SLAs &amp; user count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548640" y="614476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prices exclusive of VAT (5%). Yearly billing includes two months free.</a:t>
            </a:r>
            <a:endParaRPr lang="en-US" sz="900" dirty="0"/>
          </a:p>
        </p:txBody>
      </p:sp>
      <p:sp>
        <p:nvSpPr>
          <p:cNvPr id="110" name="Text 10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7149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435320" y="0"/>
            <a:ext cx="437149" cy="54864"/>
          </a:xfrm>
          <a:prstGeom prst="rect">
            <a:avLst/>
          </a:prstGeom>
          <a:solidFill>
            <a:srgbClr val="18B3A9"/>
          </a:solidFill>
          <a:ln/>
        </p:spPr>
      </p:sp>
      <p:sp>
        <p:nvSpPr>
          <p:cNvPr id="5" name="Shape 3"/>
          <p:cNvSpPr/>
          <p:nvPr/>
        </p:nvSpPr>
        <p:spPr>
          <a:xfrm>
            <a:off x="870639" y="0"/>
            <a:ext cx="437149" cy="54864"/>
          </a:xfrm>
          <a:prstGeom prst="rect">
            <a:avLst/>
          </a:prstGeom>
          <a:solidFill>
            <a:srgbClr val="1CAFAB"/>
          </a:solidFill>
          <a:ln/>
        </p:spPr>
      </p:sp>
      <p:sp>
        <p:nvSpPr>
          <p:cNvPr id="6" name="Shape 4"/>
          <p:cNvSpPr/>
          <p:nvPr/>
        </p:nvSpPr>
        <p:spPr>
          <a:xfrm>
            <a:off x="1305959" y="0"/>
            <a:ext cx="437149" cy="54864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7" name="Shape 5"/>
          <p:cNvSpPr/>
          <p:nvPr/>
        </p:nvSpPr>
        <p:spPr>
          <a:xfrm>
            <a:off x="1741279" y="0"/>
            <a:ext cx="437149" cy="54864"/>
          </a:xfrm>
          <a:prstGeom prst="rect">
            <a:avLst/>
          </a:prstGeom>
          <a:solidFill>
            <a:srgbClr val="23A5B1"/>
          </a:solidFill>
          <a:ln/>
        </p:spPr>
      </p:sp>
      <p:sp>
        <p:nvSpPr>
          <p:cNvPr id="8" name="Shape 6"/>
          <p:cNvSpPr/>
          <p:nvPr/>
        </p:nvSpPr>
        <p:spPr>
          <a:xfrm>
            <a:off x="2176599" y="0"/>
            <a:ext cx="437149" cy="54864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9" name="Shape 7"/>
          <p:cNvSpPr/>
          <p:nvPr/>
        </p:nvSpPr>
        <p:spPr>
          <a:xfrm>
            <a:off x="2611918" y="0"/>
            <a:ext cx="437149" cy="54864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238" y="0"/>
            <a:ext cx="437149" cy="54864"/>
          </a:xfrm>
          <a:prstGeom prst="rect">
            <a:avLst/>
          </a:prstGeom>
          <a:solidFill>
            <a:srgbClr val="2F97B8"/>
          </a:solidFill>
          <a:ln/>
        </p:spPr>
      </p:sp>
      <p:sp>
        <p:nvSpPr>
          <p:cNvPr id="11" name="Shape 9"/>
          <p:cNvSpPr/>
          <p:nvPr/>
        </p:nvSpPr>
        <p:spPr>
          <a:xfrm>
            <a:off x="3482558" y="0"/>
            <a:ext cx="437149" cy="54864"/>
          </a:xfrm>
          <a:prstGeom prst="rect">
            <a:avLst/>
          </a:prstGeom>
          <a:solidFill>
            <a:srgbClr val="3393B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17877" y="0"/>
            <a:ext cx="437149" cy="54864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3" name="Shape 11"/>
          <p:cNvSpPr/>
          <p:nvPr/>
        </p:nvSpPr>
        <p:spPr>
          <a:xfrm>
            <a:off x="4353197" y="0"/>
            <a:ext cx="437149" cy="54864"/>
          </a:xfrm>
          <a:prstGeom prst="rect">
            <a:avLst/>
          </a:prstGeom>
          <a:solidFill>
            <a:srgbClr val="3B89C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8517" y="0"/>
            <a:ext cx="437149" cy="54864"/>
          </a:xfrm>
          <a:prstGeom prst="rect">
            <a:avLst/>
          </a:prstGeom>
          <a:solidFill>
            <a:srgbClr val="3E85C3"/>
          </a:solidFill>
          <a:ln/>
        </p:spPr>
      </p:sp>
      <p:sp>
        <p:nvSpPr>
          <p:cNvPr id="15" name="Shape 13"/>
          <p:cNvSpPr/>
          <p:nvPr/>
        </p:nvSpPr>
        <p:spPr>
          <a:xfrm>
            <a:off x="5223837" y="0"/>
            <a:ext cx="437149" cy="54864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6" name="Shape 14"/>
          <p:cNvSpPr/>
          <p:nvPr/>
        </p:nvSpPr>
        <p:spPr>
          <a:xfrm>
            <a:off x="5659156" y="0"/>
            <a:ext cx="437149" cy="54864"/>
          </a:xfrm>
          <a:prstGeom prst="rect">
            <a:avLst/>
          </a:prstGeom>
          <a:solidFill>
            <a:srgbClr val="467BC8"/>
          </a:solidFill>
          <a:ln/>
        </p:spPr>
      </p:sp>
      <p:sp>
        <p:nvSpPr>
          <p:cNvPr id="17" name="Shape 15"/>
          <p:cNvSpPr/>
          <p:nvPr/>
        </p:nvSpPr>
        <p:spPr>
          <a:xfrm>
            <a:off x="6094476" y="0"/>
            <a:ext cx="437149" cy="54864"/>
          </a:xfrm>
          <a:prstGeom prst="rect">
            <a:avLst/>
          </a:prstGeom>
          <a:solidFill>
            <a:srgbClr val="4A77C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29796" y="0"/>
            <a:ext cx="437149" cy="54864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19" name="Shape 17"/>
          <p:cNvSpPr/>
          <p:nvPr/>
        </p:nvSpPr>
        <p:spPr>
          <a:xfrm>
            <a:off x="6965115" y="0"/>
            <a:ext cx="437149" cy="54864"/>
          </a:xfrm>
          <a:prstGeom prst="rect">
            <a:avLst/>
          </a:prstGeom>
          <a:solidFill>
            <a:srgbClr val="526D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00435" y="0"/>
            <a:ext cx="437149" cy="54864"/>
          </a:xfrm>
          <a:prstGeom prst="rect">
            <a:avLst/>
          </a:prstGeom>
          <a:solidFill>
            <a:srgbClr val="5569D3"/>
          </a:solidFill>
          <a:ln/>
        </p:spPr>
      </p:sp>
      <p:sp>
        <p:nvSpPr>
          <p:cNvPr id="21" name="Shape 19"/>
          <p:cNvSpPr/>
          <p:nvPr/>
        </p:nvSpPr>
        <p:spPr>
          <a:xfrm>
            <a:off x="7835755" y="0"/>
            <a:ext cx="437149" cy="54864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22" name="Shape 20"/>
          <p:cNvSpPr/>
          <p:nvPr/>
        </p:nvSpPr>
        <p:spPr>
          <a:xfrm>
            <a:off x="8271075" y="0"/>
            <a:ext cx="437149" cy="54864"/>
          </a:xfrm>
          <a:prstGeom prst="rect">
            <a:avLst/>
          </a:prstGeom>
          <a:solidFill>
            <a:srgbClr val="5D5FD8"/>
          </a:solidFill>
          <a:ln/>
        </p:spPr>
      </p:sp>
      <p:sp>
        <p:nvSpPr>
          <p:cNvPr id="23" name="Shape 21"/>
          <p:cNvSpPr/>
          <p:nvPr/>
        </p:nvSpPr>
        <p:spPr>
          <a:xfrm>
            <a:off x="8706394" y="0"/>
            <a:ext cx="437149" cy="54864"/>
          </a:xfrm>
          <a:prstGeom prst="rect">
            <a:avLst/>
          </a:prstGeom>
          <a:solidFill>
            <a:srgbClr val="615BDB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1714" y="0"/>
            <a:ext cx="437149" cy="54864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25" name="Shape 23"/>
          <p:cNvSpPr/>
          <p:nvPr/>
        </p:nvSpPr>
        <p:spPr>
          <a:xfrm>
            <a:off x="9577034" y="0"/>
            <a:ext cx="437149" cy="54864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12353" y="0"/>
            <a:ext cx="437149" cy="54864"/>
          </a:xfrm>
          <a:prstGeom prst="rect">
            <a:avLst/>
          </a:prstGeom>
          <a:solidFill>
            <a:srgbClr val="6D4DE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47673" y="0"/>
            <a:ext cx="437149" cy="54864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2993" y="0"/>
            <a:ext cx="437149" cy="54864"/>
          </a:xfrm>
          <a:prstGeom prst="rect">
            <a:avLst/>
          </a:prstGeom>
          <a:solidFill>
            <a:srgbClr val="7443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18313" y="0"/>
            <a:ext cx="437149" cy="54864"/>
          </a:xfrm>
          <a:prstGeom prst="rect">
            <a:avLst/>
          </a:prstGeom>
          <a:solidFill>
            <a:srgbClr val="783FEA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53632" y="0"/>
            <a:ext cx="437149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Brands In Our Portfolio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566928" y="1024128"/>
            <a:ext cx="52121" cy="411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617220" y="1024128"/>
            <a:ext cx="52121" cy="41148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34" name="Shape 32"/>
          <p:cNvSpPr/>
          <p:nvPr/>
        </p:nvSpPr>
        <p:spPr>
          <a:xfrm>
            <a:off x="667512" y="1024128"/>
            <a:ext cx="52121" cy="41148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35" name="Shape 33"/>
          <p:cNvSpPr/>
          <p:nvPr/>
        </p:nvSpPr>
        <p:spPr>
          <a:xfrm>
            <a:off x="717804" y="1024128"/>
            <a:ext cx="52121" cy="41148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36" name="Shape 34"/>
          <p:cNvSpPr/>
          <p:nvPr/>
        </p:nvSpPr>
        <p:spPr>
          <a:xfrm>
            <a:off x="768096" y="1024128"/>
            <a:ext cx="52121" cy="41148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37" name="Shape 35"/>
          <p:cNvSpPr/>
          <p:nvPr/>
        </p:nvSpPr>
        <p:spPr>
          <a:xfrm>
            <a:off x="818388" y="1024128"/>
            <a:ext cx="52121" cy="41148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38" name="Shape 36"/>
          <p:cNvSpPr/>
          <p:nvPr/>
        </p:nvSpPr>
        <p:spPr>
          <a:xfrm>
            <a:off x="868680" y="1024128"/>
            <a:ext cx="52121" cy="41148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39" name="Shape 37"/>
          <p:cNvSpPr/>
          <p:nvPr/>
        </p:nvSpPr>
        <p:spPr>
          <a:xfrm>
            <a:off x="918972" y="1024128"/>
            <a:ext cx="52121" cy="41148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40" name="Shape 38"/>
          <p:cNvSpPr/>
          <p:nvPr/>
        </p:nvSpPr>
        <p:spPr>
          <a:xfrm>
            <a:off x="969264" y="1024128"/>
            <a:ext cx="52121" cy="41148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19556" y="1024128"/>
            <a:ext cx="52121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1152144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Identities we designed and launched — English and Arabic, across fintech, logistics, retail, wellness, F&amp;B, media, events, and more.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12064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44" name="Image 0" descr="public/logos/nexa-p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56232"/>
            <a:ext cx="1523390" cy="914034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512064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Nexa Pay · Fintech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2776118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47" name="Image 1" descr="public/logos/cargo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726" y="1856232"/>
            <a:ext cx="1523390" cy="914034"/>
          </a:xfrm>
          <a:prstGeom prst="rect">
            <a:avLst/>
          </a:prstGeom>
        </p:spPr>
      </p:pic>
      <p:sp>
        <p:nvSpPr>
          <p:cNvPr id="48" name="Text 44"/>
          <p:cNvSpPr/>
          <p:nvPr/>
        </p:nvSpPr>
        <p:spPr>
          <a:xfrm>
            <a:off x="2776118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CargoFlow · Logistics</a:t>
            </a:r>
            <a:endParaRPr lang="en-US" sz="800" dirty="0"/>
          </a:p>
        </p:txBody>
      </p:sp>
      <p:sp>
        <p:nvSpPr>
          <p:cNvPr id="49" name="Shape 45"/>
          <p:cNvSpPr/>
          <p:nvPr/>
        </p:nvSpPr>
        <p:spPr>
          <a:xfrm>
            <a:off x="5040173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50" name="Image 2" descr="public/logos/lumo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781" y="1856232"/>
            <a:ext cx="1523390" cy="914034"/>
          </a:xfrm>
          <a:prstGeom prst="rect">
            <a:avLst/>
          </a:prstGeom>
        </p:spPr>
      </p:pic>
      <p:sp>
        <p:nvSpPr>
          <p:cNvPr id="51" name="Text 46"/>
          <p:cNvSpPr/>
          <p:nvPr/>
        </p:nvSpPr>
        <p:spPr>
          <a:xfrm>
            <a:off x="5040173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Lumora · Skincare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7304227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53" name="Image 3" descr="public/logos/pulse-lo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6835" y="1856232"/>
            <a:ext cx="1523390" cy="914034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04227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Loop · Wellness</a:t>
            </a:r>
            <a:endParaRPr lang="en-US" sz="800" dirty="0"/>
          </a:p>
        </p:txBody>
      </p:sp>
      <p:sp>
        <p:nvSpPr>
          <p:cNvPr id="55" name="Shape 49"/>
          <p:cNvSpPr/>
          <p:nvPr/>
        </p:nvSpPr>
        <p:spPr>
          <a:xfrm>
            <a:off x="9568282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56" name="Image 4" descr="public/logos/satrek-fashi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0890" y="1856232"/>
            <a:ext cx="1523390" cy="914034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9568282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سترك · Fashion</a:t>
            </a:r>
            <a:endParaRPr lang="en-US" sz="800" dirty="0"/>
          </a:p>
        </p:txBody>
      </p:sp>
      <p:sp>
        <p:nvSpPr>
          <p:cNvPr id="58" name="Shape 51"/>
          <p:cNvSpPr/>
          <p:nvPr/>
        </p:nvSpPr>
        <p:spPr>
          <a:xfrm>
            <a:off x="512064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59" name="Image 5" descr="public/logos/qahwat-al-asal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3392424"/>
            <a:ext cx="1523390" cy="914034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512064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قهوة الأصالة · Café</a:t>
            </a:r>
            <a:endParaRPr lang="en-US" sz="800" dirty="0"/>
          </a:p>
        </p:txBody>
      </p:sp>
      <p:sp>
        <p:nvSpPr>
          <p:cNvPr id="61" name="Shape 53"/>
          <p:cNvSpPr/>
          <p:nvPr/>
        </p:nvSpPr>
        <p:spPr>
          <a:xfrm>
            <a:off x="2776118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62" name="Image 6" descr="public/logos/anma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68726" y="3392424"/>
            <a:ext cx="1523390" cy="914034"/>
          </a:xfrm>
          <a:prstGeom prst="rect">
            <a:avLst/>
          </a:prstGeom>
        </p:spPr>
      </p:pic>
      <p:sp>
        <p:nvSpPr>
          <p:cNvPr id="63" name="Text 54"/>
          <p:cNvSpPr/>
          <p:nvPr/>
        </p:nvSpPr>
        <p:spPr>
          <a:xfrm>
            <a:off x="2776118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أنماط · Fashion</a:t>
            </a:r>
            <a:endParaRPr lang="en-US" sz="800" dirty="0"/>
          </a:p>
        </p:txBody>
      </p:sp>
      <p:sp>
        <p:nvSpPr>
          <p:cNvPr id="64" name="Shape 55"/>
          <p:cNvSpPr/>
          <p:nvPr/>
        </p:nvSpPr>
        <p:spPr>
          <a:xfrm>
            <a:off x="5040173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65" name="Image 7" descr="public/logos/abeer-al-diya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2781" y="3392424"/>
            <a:ext cx="1523390" cy="914034"/>
          </a:xfrm>
          <a:prstGeom prst="rect">
            <a:avLst/>
          </a:prstGeom>
        </p:spPr>
      </p:pic>
      <p:sp>
        <p:nvSpPr>
          <p:cNvPr id="66" name="Text 56"/>
          <p:cNvSpPr/>
          <p:nvPr/>
        </p:nvSpPr>
        <p:spPr>
          <a:xfrm>
            <a:off x="5040173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عبير الديار · Fragrance</a:t>
            </a:r>
            <a:endParaRPr lang="en-US" sz="800" dirty="0"/>
          </a:p>
        </p:txBody>
      </p:sp>
      <p:sp>
        <p:nvSpPr>
          <p:cNvPr id="67" name="Shape 57"/>
          <p:cNvSpPr/>
          <p:nvPr/>
        </p:nvSpPr>
        <p:spPr>
          <a:xfrm>
            <a:off x="7304227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68" name="Image 8" descr="public/logos/masak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96835" y="3392424"/>
            <a:ext cx="1523390" cy="914034"/>
          </a:xfrm>
          <a:prstGeom prst="rect">
            <a:avLst/>
          </a:prstGeom>
        </p:spPr>
      </p:pic>
      <p:sp>
        <p:nvSpPr>
          <p:cNvPr id="69" name="Text 58"/>
          <p:cNvSpPr/>
          <p:nvPr/>
        </p:nvSpPr>
        <p:spPr>
          <a:xfrm>
            <a:off x="7304227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مساكن · Real Estate</a:t>
            </a:r>
            <a:endParaRPr lang="en-US" sz="800" dirty="0"/>
          </a:p>
        </p:txBody>
      </p:sp>
      <p:sp>
        <p:nvSpPr>
          <p:cNvPr id="70" name="Shape 59"/>
          <p:cNvSpPr/>
          <p:nvPr/>
        </p:nvSpPr>
        <p:spPr>
          <a:xfrm>
            <a:off x="9568282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71" name="Image 9" descr="public/logos/fikr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60890" y="3392424"/>
            <a:ext cx="1523390" cy="914034"/>
          </a:xfrm>
          <a:prstGeom prst="rect">
            <a:avLst/>
          </a:prstGeom>
        </p:spPr>
      </p:pic>
      <p:sp>
        <p:nvSpPr>
          <p:cNvPr id="72" name="Text 60"/>
          <p:cNvSpPr/>
          <p:nvPr/>
        </p:nvSpPr>
        <p:spPr>
          <a:xfrm>
            <a:off x="9568282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فكرة · Creative Studio</a:t>
            </a:r>
            <a:endParaRPr lang="en-US" sz="800" dirty="0"/>
          </a:p>
        </p:txBody>
      </p:sp>
      <p:sp>
        <p:nvSpPr>
          <p:cNvPr id="73" name="Shape 61"/>
          <p:cNvSpPr/>
          <p:nvPr/>
        </p:nvSpPr>
        <p:spPr>
          <a:xfrm>
            <a:off x="512064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74" name="Image 10" descr="public/logos/basm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672" y="4928616"/>
            <a:ext cx="1523390" cy="914034"/>
          </a:xfrm>
          <a:prstGeom prst="rect">
            <a:avLst/>
          </a:prstGeom>
        </p:spPr>
      </p:pic>
      <p:sp>
        <p:nvSpPr>
          <p:cNvPr id="75" name="Text 62"/>
          <p:cNvSpPr/>
          <p:nvPr/>
        </p:nvSpPr>
        <p:spPr>
          <a:xfrm>
            <a:off x="512064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بصمة · Software House</a:t>
            </a:r>
            <a:endParaRPr lang="en-US" sz="800" dirty="0"/>
          </a:p>
        </p:txBody>
      </p:sp>
      <p:sp>
        <p:nvSpPr>
          <p:cNvPr id="76" name="Shape 63"/>
          <p:cNvSpPr/>
          <p:nvPr/>
        </p:nvSpPr>
        <p:spPr>
          <a:xfrm>
            <a:off x="2776118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77" name="Image 11" descr="public/logos/nashr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68726" y="4928616"/>
            <a:ext cx="1523390" cy="914034"/>
          </a:xfrm>
          <a:prstGeom prst="rect">
            <a:avLst/>
          </a:prstGeom>
        </p:spPr>
      </p:pic>
      <p:sp>
        <p:nvSpPr>
          <p:cNvPr id="78" name="Text 64"/>
          <p:cNvSpPr/>
          <p:nvPr/>
        </p:nvSpPr>
        <p:spPr>
          <a:xfrm>
            <a:off x="2776118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نشرة · News Platform</a:t>
            </a:r>
            <a:endParaRPr lang="en-US" sz="800" dirty="0"/>
          </a:p>
        </p:txBody>
      </p:sp>
      <p:sp>
        <p:nvSpPr>
          <p:cNvPr id="79" name="Shape 65"/>
          <p:cNvSpPr/>
          <p:nvPr/>
        </p:nvSpPr>
        <p:spPr>
          <a:xfrm>
            <a:off x="5040173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80" name="Image 12" descr="public/logos/wijdan-yog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2781" y="4928616"/>
            <a:ext cx="1523390" cy="914034"/>
          </a:xfrm>
          <a:prstGeom prst="rect">
            <a:avLst/>
          </a:prstGeom>
        </p:spPr>
      </p:pic>
      <p:sp>
        <p:nvSpPr>
          <p:cNvPr id="81" name="Text 66"/>
          <p:cNvSpPr/>
          <p:nvPr/>
        </p:nvSpPr>
        <p:spPr>
          <a:xfrm>
            <a:off x="5040173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وجدان · Yoga Space</a:t>
            </a:r>
            <a:endParaRPr lang="en-US" sz="800" dirty="0"/>
          </a:p>
        </p:txBody>
      </p:sp>
      <p:sp>
        <p:nvSpPr>
          <p:cNvPr id="82" name="Shape 67"/>
          <p:cNvSpPr/>
          <p:nvPr/>
        </p:nvSpPr>
        <p:spPr>
          <a:xfrm>
            <a:off x="7304227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83" name="Image 13" descr="public/logos/vet-clinic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96835" y="4928616"/>
            <a:ext cx="1523390" cy="914034"/>
          </a:xfrm>
          <a:prstGeom prst="rect">
            <a:avLst/>
          </a:prstGeom>
        </p:spPr>
      </p:pic>
      <p:sp>
        <p:nvSpPr>
          <p:cNvPr id="84" name="Text 68"/>
          <p:cNvSpPr/>
          <p:nvPr/>
        </p:nvSpPr>
        <p:spPr>
          <a:xfrm>
            <a:off x="7304227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Vet Clinic · Pet Care</a:t>
            </a:r>
            <a:endParaRPr lang="en-US" sz="800" dirty="0"/>
          </a:p>
        </p:txBody>
      </p:sp>
      <p:sp>
        <p:nvSpPr>
          <p:cNvPr id="85" name="Shape 69"/>
          <p:cNvSpPr/>
          <p:nvPr/>
        </p:nvSpPr>
        <p:spPr>
          <a:xfrm>
            <a:off x="9568282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86" name="Image 14" descr="public/logos/respawn-la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60890" y="4928616"/>
            <a:ext cx="1523390" cy="914034"/>
          </a:xfrm>
          <a:prstGeom prst="rect">
            <a:avLst/>
          </a:prstGeom>
        </p:spPr>
      </p:pic>
      <p:sp>
        <p:nvSpPr>
          <p:cNvPr id="87" name="Text 70"/>
          <p:cNvSpPr/>
          <p:nvPr/>
        </p:nvSpPr>
        <p:spPr>
          <a:xfrm>
            <a:off x="9568282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Respawn Lab · Gaming</a:t>
            </a:r>
            <a:endParaRPr lang="en-US" sz="800" dirty="0"/>
          </a:p>
        </p:txBody>
      </p:sp>
      <p:sp>
        <p:nvSpPr>
          <p:cNvPr id="88" name="Text 7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89" name="Text 72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7149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435320" y="0"/>
            <a:ext cx="437149" cy="82296"/>
          </a:xfrm>
          <a:prstGeom prst="rect">
            <a:avLst/>
          </a:prstGeom>
          <a:solidFill>
            <a:srgbClr val="18B3A9"/>
          </a:solidFill>
          <a:ln/>
        </p:spPr>
      </p:sp>
      <p:sp>
        <p:nvSpPr>
          <p:cNvPr id="5" name="Shape 3"/>
          <p:cNvSpPr/>
          <p:nvPr/>
        </p:nvSpPr>
        <p:spPr>
          <a:xfrm>
            <a:off x="870639" y="0"/>
            <a:ext cx="437149" cy="82296"/>
          </a:xfrm>
          <a:prstGeom prst="rect">
            <a:avLst/>
          </a:prstGeom>
          <a:solidFill>
            <a:srgbClr val="1CAFAB"/>
          </a:solidFill>
          <a:ln/>
        </p:spPr>
      </p:sp>
      <p:sp>
        <p:nvSpPr>
          <p:cNvPr id="6" name="Shape 4"/>
          <p:cNvSpPr/>
          <p:nvPr/>
        </p:nvSpPr>
        <p:spPr>
          <a:xfrm>
            <a:off x="1305959" y="0"/>
            <a:ext cx="437149" cy="82296"/>
          </a:xfrm>
          <a:prstGeom prst="rect">
            <a:avLst/>
          </a:prstGeom>
          <a:solidFill>
            <a:srgbClr val="20AAAE"/>
          </a:solidFill>
          <a:ln/>
        </p:spPr>
      </p:sp>
      <p:sp>
        <p:nvSpPr>
          <p:cNvPr id="7" name="Shape 5"/>
          <p:cNvSpPr/>
          <p:nvPr/>
        </p:nvSpPr>
        <p:spPr>
          <a:xfrm>
            <a:off x="1741279" y="0"/>
            <a:ext cx="437149" cy="82296"/>
          </a:xfrm>
          <a:prstGeom prst="rect">
            <a:avLst/>
          </a:prstGeom>
          <a:solidFill>
            <a:srgbClr val="23A5B1"/>
          </a:solidFill>
          <a:ln/>
        </p:spPr>
      </p:sp>
      <p:sp>
        <p:nvSpPr>
          <p:cNvPr id="8" name="Shape 6"/>
          <p:cNvSpPr/>
          <p:nvPr/>
        </p:nvSpPr>
        <p:spPr>
          <a:xfrm>
            <a:off x="2176599" y="0"/>
            <a:ext cx="437149" cy="82296"/>
          </a:xfrm>
          <a:prstGeom prst="rect">
            <a:avLst/>
          </a:prstGeom>
          <a:solidFill>
            <a:srgbClr val="27A1B3"/>
          </a:solidFill>
          <a:ln/>
        </p:spPr>
      </p:sp>
      <p:sp>
        <p:nvSpPr>
          <p:cNvPr id="9" name="Shape 7"/>
          <p:cNvSpPr/>
          <p:nvPr/>
        </p:nvSpPr>
        <p:spPr>
          <a:xfrm>
            <a:off x="2611918" y="0"/>
            <a:ext cx="437149" cy="82296"/>
          </a:xfrm>
          <a:prstGeom prst="rect">
            <a:avLst/>
          </a:prstGeom>
          <a:solidFill>
            <a:srgbClr val="2B9CB6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238" y="0"/>
            <a:ext cx="437149" cy="82296"/>
          </a:xfrm>
          <a:prstGeom prst="rect">
            <a:avLst/>
          </a:prstGeom>
          <a:solidFill>
            <a:srgbClr val="2F97B8"/>
          </a:solidFill>
          <a:ln/>
        </p:spPr>
      </p:sp>
      <p:sp>
        <p:nvSpPr>
          <p:cNvPr id="11" name="Shape 9"/>
          <p:cNvSpPr/>
          <p:nvPr/>
        </p:nvSpPr>
        <p:spPr>
          <a:xfrm>
            <a:off x="3482558" y="0"/>
            <a:ext cx="437149" cy="82296"/>
          </a:xfrm>
          <a:prstGeom prst="rect">
            <a:avLst/>
          </a:prstGeom>
          <a:solidFill>
            <a:srgbClr val="3393B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17877" y="0"/>
            <a:ext cx="437149" cy="82296"/>
          </a:xfrm>
          <a:prstGeom prst="rect">
            <a:avLst/>
          </a:prstGeom>
          <a:solidFill>
            <a:srgbClr val="378EBE"/>
          </a:solidFill>
          <a:ln/>
        </p:spPr>
      </p:sp>
      <p:sp>
        <p:nvSpPr>
          <p:cNvPr id="13" name="Shape 11"/>
          <p:cNvSpPr/>
          <p:nvPr/>
        </p:nvSpPr>
        <p:spPr>
          <a:xfrm>
            <a:off x="4353197" y="0"/>
            <a:ext cx="437149" cy="82296"/>
          </a:xfrm>
          <a:prstGeom prst="rect">
            <a:avLst/>
          </a:prstGeom>
          <a:solidFill>
            <a:srgbClr val="3B89C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8517" y="0"/>
            <a:ext cx="437149" cy="82296"/>
          </a:xfrm>
          <a:prstGeom prst="rect">
            <a:avLst/>
          </a:prstGeom>
          <a:solidFill>
            <a:srgbClr val="3E85C3"/>
          </a:solidFill>
          <a:ln/>
        </p:spPr>
      </p:sp>
      <p:sp>
        <p:nvSpPr>
          <p:cNvPr id="15" name="Shape 13"/>
          <p:cNvSpPr/>
          <p:nvPr/>
        </p:nvSpPr>
        <p:spPr>
          <a:xfrm>
            <a:off x="5223837" y="0"/>
            <a:ext cx="437149" cy="82296"/>
          </a:xfrm>
          <a:prstGeom prst="rect">
            <a:avLst/>
          </a:prstGeom>
          <a:solidFill>
            <a:srgbClr val="4280C6"/>
          </a:solidFill>
          <a:ln/>
        </p:spPr>
      </p:sp>
      <p:sp>
        <p:nvSpPr>
          <p:cNvPr id="16" name="Shape 14"/>
          <p:cNvSpPr/>
          <p:nvPr/>
        </p:nvSpPr>
        <p:spPr>
          <a:xfrm>
            <a:off x="5659156" y="0"/>
            <a:ext cx="437149" cy="82296"/>
          </a:xfrm>
          <a:prstGeom prst="rect">
            <a:avLst/>
          </a:prstGeom>
          <a:solidFill>
            <a:srgbClr val="467BC8"/>
          </a:solidFill>
          <a:ln/>
        </p:spPr>
      </p:sp>
      <p:sp>
        <p:nvSpPr>
          <p:cNvPr id="17" name="Shape 15"/>
          <p:cNvSpPr/>
          <p:nvPr/>
        </p:nvSpPr>
        <p:spPr>
          <a:xfrm>
            <a:off x="6094476" y="0"/>
            <a:ext cx="437149" cy="82296"/>
          </a:xfrm>
          <a:prstGeom prst="rect">
            <a:avLst/>
          </a:prstGeom>
          <a:solidFill>
            <a:srgbClr val="4A77C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29796" y="0"/>
            <a:ext cx="437149" cy="82296"/>
          </a:xfrm>
          <a:prstGeom prst="rect">
            <a:avLst/>
          </a:prstGeom>
          <a:solidFill>
            <a:srgbClr val="4E72CD"/>
          </a:solidFill>
          <a:ln/>
        </p:spPr>
      </p:sp>
      <p:sp>
        <p:nvSpPr>
          <p:cNvPr id="19" name="Shape 17"/>
          <p:cNvSpPr/>
          <p:nvPr/>
        </p:nvSpPr>
        <p:spPr>
          <a:xfrm>
            <a:off x="6965115" y="0"/>
            <a:ext cx="437149" cy="82296"/>
          </a:xfrm>
          <a:prstGeom prst="rect">
            <a:avLst/>
          </a:prstGeom>
          <a:solidFill>
            <a:srgbClr val="526D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00435" y="0"/>
            <a:ext cx="437149" cy="82296"/>
          </a:xfrm>
          <a:prstGeom prst="rect">
            <a:avLst/>
          </a:prstGeom>
          <a:solidFill>
            <a:srgbClr val="5569D3"/>
          </a:solidFill>
          <a:ln/>
        </p:spPr>
      </p:sp>
      <p:sp>
        <p:nvSpPr>
          <p:cNvPr id="21" name="Shape 19"/>
          <p:cNvSpPr/>
          <p:nvPr/>
        </p:nvSpPr>
        <p:spPr>
          <a:xfrm>
            <a:off x="7835755" y="0"/>
            <a:ext cx="437149" cy="82296"/>
          </a:xfrm>
          <a:prstGeom prst="rect">
            <a:avLst/>
          </a:prstGeom>
          <a:solidFill>
            <a:srgbClr val="5964D5"/>
          </a:solidFill>
          <a:ln/>
        </p:spPr>
      </p:sp>
      <p:sp>
        <p:nvSpPr>
          <p:cNvPr id="22" name="Shape 20"/>
          <p:cNvSpPr/>
          <p:nvPr/>
        </p:nvSpPr>
        <p:spPr>
          <a:xfrm>
            <a:off x="8271075" y="0"/>
            <a:ext cx="437149" cy="82296"/>
          </a:xfrm>
          <a:prstGeom prst="rect">
            <a:avLst/>
          </a:prstGeom>
          <a:solidFill>
            <a:srgbClr val="5D5FD8"/>
          </a:solidFill>
          <a:ln/>
        </p:spPr>
      </p:sp>
      <p:sp>
        <p:nvSpPr>
          <p:cNvPr id="23" name="Shape 21"/>
          <p:cNvSpPr/>
          <p:nvPr/>
        </p:nvSpPr>
        <p:spPr>
          <a:xfrm>
            <a:off x="8706394" y="0"/>
            <a:ext cx="437149" cy="82296"/>
          </a:xfrm>
          <a:prstGeom prst="rect">
            <a:avLst/>
          </a:prstGeom>
          <a:solidFill>
            <a:srgbClr val="615BDB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1714" y="0"/>
            <a:ext cx="437149" cy="82296"/>
          </a:xfrm>
          <a:prstGeom prst="rect">
            <a:avLst/>
          </a:prstGeom>
          <a:solidFill>
            <a:srgbClr val="6556DD"/>
          </a:solidFill>
          <a:ln/>
        </p:spPr>
      </p:sp>
      <p:sp>
        <p:nvSpPr>
          <p:cNvPr id="25" name="Shape 23"/>
          <p:cNvSpPr/>
          <p:nvPr/>
        </p:nvSpPr>
        <p:spPr>
          <a:xfrm>
            <a:off x="9577034" y="0"/>
            <a:ext cx="437149" cy="82296"/>
          </a:xfrm>
          <a:prstGeom prst="rect">
            <a:avLst/>
          </a:prstGeom>
          <a:solidFill>
            <a:srgbClr val="6951E0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12353" y="0"/>
            <a:ext cx="437149" cy="82296"/>
          </a:xfrm>
          <a:prstGeom prst="rect">
            <a:avLst/>
          </a:prstGeom>
          <a:solidFill>
            <a:srgbClr val="6D4DE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47673" y="0"/>
            <a:ext cx="437149" cy="82296"/>
          </a:xfrm>
          <a:prstGeom prst="rect">
            <a:avLst/>
          </a:prstGeom>
          <a:solidFill>
            <a:srgbClr val="7048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2993" y="0"/>
            <a:ext cx="437149" cy="82296"/>
          </a:xfrm>
          <a:prstGeom prst="rect">
            <a:avLst/>
          </a:prstGeom>
          <a:solidFill>
            <a:srgbClr val="7443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18313" y="0"/>
            <a:ext cx="437149" cy="82296"/>
          </a:xfrm>
          <a:prstGeom prst="rect">
            <a:avLst/>
          </a:prstGeom>
          <a:solidFill>
            <a:srgbClr val="783FEA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53632" y="0"/>
            <a:ext cx="437149" cy="82296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31" name="Image 0" descr="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2996" y="868680"/>
            <a:ext cx="822960" cy="822960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0" y="182880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Think. </a:t>
            </a:r>
            <a:pPr algn="ctr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Plan. </a:t>
            </a:r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Grow.</a:t>
            </a:r>
            <a:endParaRPr lang="en-US" sz="4000" dirty="0"/>
          </a:p>
        </p:txBody>
      </p:sp>
      <p:sp>
        <p:nvSpPr>
          <p:cNvPr id="33" name="Text 30"/>
          <p:cNvSpPr/>
          <p:nvPr/>
        </p:nvSpPr>
        <p:spPr>
          <a:xfrm>
            <a:off x="2011680" y="2697480"/>
            <a:ext cx="81655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Since 2019, WeThink has been helping UAE businesses and founders turn ideas into impactful realities. Let's build what's next — together.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685800" y="3931920"/>
            <a:ext cx="292608" cy="320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5" name="Text 32"/>
          <p:cNvSpPr/>
          <p:nvPr/>
        </p:nvSpPr>
        <p:spPr>
          <a:xfrm>
            <a:off x="685800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VISIT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685800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www.wethink.ae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3458718" y="3931920"/>
            <a:ext cx="292608" cy="320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8" name="Text 35"/>
          <p:cNvSpPr/>
          <p:nvPr/>
        </p:nvSpPr>
        <p:spPr>
          <a:xfrm>
            <a:off x="3458718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3458718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info@wethink.ae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6231636" y="3931920"/>
            <a:ext cx="292608" cy="320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1" name="Text 38"/>
          <p:cNvSpPr/>
          <p:nvPr/>
        </p:nvSpPr>
        <p:spPr>
          <a:xfrm>
            <a:off x="6231636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/ WHATSAPP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6231636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+971 50 312 5078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9004554" y="3931920"/>
            <a:ext cx="292608" cy="320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4" name="Text 41"/>
          <p:cNvSpPr/>
          <p:nvPr/>
        </p:nvSpPr>
        <p:spPr>
          <a:xfrm>
            <a:off x="9004554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HEADQUARTERS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9004554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Pixel, Al Reem Island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 Dhabi, UAE</a:t>
            </a:r>
            <a:endParaRPr 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0" y="5577840"/>
            <a:ext cx="12188952" cy="10973"/>
          </a:xfrm>
          <a:prstGeom prst="rect">
            <a:avLst/>
          </a:prstGeom>
          <a:solidFill>
            <a:srgbClr val="9FB8B4">
              <a:alpha val="40000"/>
            </a:srgbClr>
          </a:solidFill>
          <a:ln/>
        </p:spPr>
      </p:sp>
      <p:sp>
        <p:nvSpPr>
          <p:cNvPr id="47" name="Text 44"/>
          <p:cNvSpPr/>
          <p:nvPr/>
        </p:nvSpPr>
        <p:spPr>
          <a:xfrm>
            <a:off x="0" y="576072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Instagram  @wethink.ae      ·      LinkedIn  Rasha Aljalam      ·      Facebook  wethink.ae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0" y="630936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© 2026 WeThink Information Technology Consulting. All rights reserved.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2026-07-17T10:59:22Z</dcterms:created>
  <dcterms:modified xsi:type="dcterms:W3CDTF">2026-07-17T10:59:22Z</dcterms:modified>
</cp:coreProperties>
</file>