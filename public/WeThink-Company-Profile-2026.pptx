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image" Target="../media/image-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pic>
        <p:nvPicPr>
          <p:cNvPr id="3" name="Image 0" descr="public/projects/nexa-p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D21">
              <a:alpha val="7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ln/>
        </p:spPr>
      </p:sp>
      <p:pic>
        <p:nvPicPr>
          <p:cNvPr id="6" name="Image 1" descr="publi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546811" cy="54681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26998" y="415138"/>
            <a:ext cx="18928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</a:t>
            </a:r>
            <a:pPr indent="0" marL="0">
              <a:buNone/>
            </a:pPr>
            <a:r>
              <a:rPr lang="en-US" sz="1955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</a:t>
            </a:r>
            <a:endParaRPr lang="en-US" sz="1955" dirty="0"/>
          </a:p>
        </p:txBody>
      </p:sp>
      <p:sp>
        <p:nvSpPr>
          <p:cNvPr id="8" name="Text 4"/>
          <p:cNvSpPr/>
          <p:nvPr/>
        </p:nvSpPr>
        <p:spPr>
          <a:xfrm>
            <a:off x="1148029" y="772668"/>
            <a:ext cx="2103120" cy="252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8" spc="3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 · PLAN · GROW</a:t>
            </a:r>
            <a:endParaRPr lang="en-US" sz="748" dirty="0"/>
          </a:p>
        </p:txBody>
      </p:sp>
      <p:sp>
        <p:nvSpPr>
          <p:cNvPr id="9" name="Shape 5"/>
          <p:cNvSpPr/>
          <p:nvPr/>
        </p:nvSpPr>
        <p:spPr>
          <a:xfrm>
            <a:off x="960120" y="2788920"/>
            <a:ext cx="25603" cy="1828800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0" name="Text 6"/>
          <p:cNvSpPr/>
          <p:nvPr/>
        </p:nvSpPr>
        <p:spPr>
          <a:xfrm>
            <a:off x="1234440" y="2697480"/>
            <a:ext cx="68580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Company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</a:t>
            </a:r>
            <a:endParaRPr lang="en-US" sz="4600" dirty="0"/>
          </a:p>
        </p:txBody>
      </p:sp>
      <p:sp>
        <p:nvSpPr>
          <p:cNvPr id="11" name="Shape 7"/>
          <p:cNvSpPr/>
          <p:nvPr/>
        </p:nvSpPr>
        <p:spPr>
          <a:xfrm>
            <a:off x="1261872" y="4480560"/>
            <a:ext cx="128016" cy="384048"/>
          </a:xfrm>
          <a:prstGeom prst="rect">
            <a:avLst/>
          </a:prstGeom>
          <a:ln/>
        </p:spPr>
      </p:sp>
      <p:sp>
        <p:nvSpPr>
          <p:cNvPr id="12" name="Text 8"/>
          <p:cNvSpPr/>
          <p:nvPr/>
        </p:nvSpPr>
        <p:spPr>
          <a:xfrm>
            <a:off x="1481328" y="4453128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Digital Transformation Partner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1481328" y="489204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Consulting  –  Cloud  –  Cybersecurity  –  Custom Software  –  Data &amp; AI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Abu Dhabi, United Arab Emirates  ·  Est. 2019  ·  wethink.ae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10543032" y="6236208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4" name="Shape 2"/>
          <p:cNvSpPr/>
          <p:nvPr/>
        </p:nvSpPr>
        <p:spPr>
          <a:xfrm>
            <a:off x="4937760" y="0"/>
            <a:ext cx="45720" cy="6858000"/>
          </a:xfrm>
          <a:prstGeom prst="rect">
            <a:avLst/>
          </a:prstGeom>
          <a:ln/>
        </p:spPr>
      </p:sp>
      <p:sp>
        <p:nvSpPr>
          <p:cNvPr id="5" name="Text 3"/>
          <p:cNvSpPr/>
          <p:nvPr/>
        </p:nvSpPr>
        <p:spPr>
          <a:xfrm>
            <a:off x="502920" y="457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A GLANCE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02920" y="22585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Founded in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Abu Dhabi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560320" y="18745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2560320" y="22585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service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02920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5,000+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02920" y="31729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60320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1,000+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2560320" y="31729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3931920" cy="10973"/>
          </a:xfrm>
          <a:prstGeom prst="rect">
            <a:avLst/>
          </a:prstGeom>
          <a:solidFill>
            <a:srgbClr val="9FB8B4">
              <a:alpha val="4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931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DOMAINS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4379976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4279392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Transformation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560320" y="4379976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2724912" y="4279392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Consulting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4764024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466344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Services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560320" y="476402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2724912" y="466344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Cybersecurity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02920" y="5148072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" y="504748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560320" y="5148072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9" name="Text 27"/>
          <p:cNvSpPr/>
          <p:nvPr/>
        </p:nvSpPr>
        <p:spPr>
          <a:xfrm>
            <a:off x="2724912" y="504748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Analytics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5532120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1" name="Text 29"/>
          <p:cNvSpPr/>
          <p:nvPr/>
        </p:nvSpPr>
        <p:spPr>
          <a:xfrm>
            <a:off x="667512" y="543153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Solutions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60320" y="5532120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3" name="Text 31"/>
          <p:cNvSpPr/>
          <p:nvPr/>
        </p:nvSpPr>
        <p:spPr>
          <a:xfrm>
            <a:off x="2724912" y="543153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Management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59436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INDUSTRY FOCUS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02920" y="618134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Startups · Retail · Real Estate · Education · Healthcare · Logistics · F&amp;B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440680" y="4114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Us</a:t>
            </a:r>
            <a:endParaRPr lang="en-US" sz="2600" dirty="0"/>
          </a:p>
        </p:txBody>
      </p:sp>
      <p:sp>
        <p:nvSpPr>
          <p:cNvPr id="37" name="Shape 35"/>
          <p:cNvSpPr/>
          <p:nvPr/>
        </p:nvSpPr>
        <p:spPr>
          <a:xfrm>
            <a:off x="5458968" y="978408"/>
            <a:ext cx="502920" cy="41148"/>
          </a:xfrm>
          <a:prstGeom prst="rect">
            <a:avLst/>
          </a:prstGeom>
          <a:ln/>
        </p:spPr>
      </p:sp>
      <p:sp>
        <p:nvSpPr>
          <p:cNvPr id="38" name="Text 36"/>
          <p:cNvSpPr/>
          <p:nvPr/>
        </p:nvSpPr>
        <p:spPr>
          <a:xfrm>
            <a:off x="5440680" y="1115568"/>
            <a:ext cx="619963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 Information Technology Consulting is an Abu Dhabi-based digital consultancy founded in 2019 by Rasha Aljalam. We take businesses from idea to impact — combining strategy, engineering, and design under one roof so our clients never have to stitch together a dozen vendors.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40680" y="2103120"/>
            <a:ext cx="61996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work side-by-side with founders launching their first product and with established organisations modernising their technology stack — across the UAE and the wider Gulf.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40680" y="2926080"/>
            <a:ext cx="61996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41" name="Image 0" descr="public/ce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05272" y="3090672"/>
            <a:ext cx="1042416" cy="1042416"/>
          </a:xfrm>
          <a:prstGeom prst="ellipse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6812280" y="3154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Rasha Aljalam</a:t>
            </a:r>
            <a:endParaRPr lang="en-US" sz="1400" dirty="0"/>
          </a:p>
        </p:txBody>
      </p:sp>
      <p:sp>
        <p:nvSpPr>
          <p:cNvPr id="43" name="Text 40"/>
          <p:cNvSpPr/>
          <p:nvPr/>
        </p:nvSpPr>
        <p:spPr>
          <a:xfrm>
            <a:off x="6812280" y="346557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 &amp; Chief Executive Officer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812280" y="3739896"/>
            <a:ext cx="4645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"We don't just advise — we execute, deliver, and stay accountable until you win."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40680" y="45720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&amp; Alignment</a:t>
            </a:r>
            <a:endParaRPr lang="en-US" sz="1800" dirty="0"/>
          </a:p>
        </p:txBody>
      </p:sp>
      <p:sp>
        <p:nvSpPr>
          <p:cNvPr id="46" name="Shape 43"/>
          <p:cNvSpPr/>
          <p:nvPr/>
        </p:nvSpPr>
        <p:spPr>
          <a:xfrm>
            <a:off x="5458968" y="5138928"/>
            <a:ext cx="502920" cy="41148"/>
          </a:xfrm>
          <a:prstGeom prst="rect">
            <a:avLst/>
          </a:prstGeom>
          <a:ln/>
        </p:spPr>
      </p:sp>
      <p:sp>
        <p:nvSpPr>
          <p:cNvPr id="47" name="Shape 44"/>
          <p:cNvSpPr/>
          <p:nvPr/>
        </p:nvSpPr>
        <p:spPr>
          <a:xfrm>
            <a:off x="5440680" y="530352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440680" y="5296205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Ready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7589520" y="530352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7589520" y="5296205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NESA-aligned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9738360" y="530352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9738360" y="5296205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Gov Compliant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5440680" y="57241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440680" y="5716829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Partner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7589520" y="57241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589520" y="5716829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Azure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9738360" y="57241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9738360" y="5716829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PDPL Aware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502920" y="6473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Journey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887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 started in 2019 as an entrepreneurial venture in Abu Dhabi. Since then it has grown into a full-spectrum digital consultancy — adding practice areas year on year while staying founder-led and delivery-obsessed.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31520" y="3977640"/>
            <a:ext cx="10725912" cy="27432"/>
          </a:xfrm>
          <a:prstGeom prst="rect">
            <a:avLst/>
          </a:prstGeom>
          <a:ln/>
        </p:spPr>
      </p:sp>
      <p:sp>
        <p:nvSpPr>
          <p:cNvPr id="8" name="Shape 6"/>
          <p:cNvSpPr/>
          <p:nvPr/>
        </p:nvSpPr>
        <p:spPr>
          <a:xfrm>
            <a:off x="667512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93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341071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" y="1965960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 founded in Abu Dhabi — IT consulting and web delivery for local businesses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199785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938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60873" y="41239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96281" y="4453128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practice launched: AWS and Azure migrations for UAE SMEs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732058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93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3146" y="341071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128554" y="1965960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Cybersecurity practice added — ISO 27001 and NESA-aligned programmes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264331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938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25419" y="41239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60827" y="4453128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 studio formed: web, mobile, and API engineering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96605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7693" y="341071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93101" y="1965960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AI practice: BI dashboards, analytics, and ML-assisted tooling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328878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89966" y="41239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25374" y="4453128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Pre-launch venture programme — building brands from idea to market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61151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22239" y="341071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57647" y="1965960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venture launches delivered; digital business card and app initiatives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1393424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954512" y="41239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789920" y="4453128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brand identity and expanded portfolio across the Gulf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Mission, Vision &amp; Values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Shape 4"/>
          <p:cNvSpPr/>
          <p:nvPr/>
        </p:nvSpPr>
        <p:spPr>
          <a:xfrm>
            <a:off x="548640" y="1371600"/>
            <a:ext cx="3468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371600"/>
            <a:ext cx="3468624" cy="640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572768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Mission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011680"/>
            <a:ext cx="301142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transform ideas into impactful realities — giving UAE businesses and founders the strategy, engineering, and momentum they need to compete in the digital 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45864" y="1371600"/>
            <a:ext cx="3468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45864" y="1371600"/>
            <a:ext cx="3468624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4474464" y="1572768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Vision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74464" y="2011680"/>
            <a:ext cx="301142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be the Gulf's most trusted end-to-end digital partner: the first call for anyone who wants technology delivered right the first time.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943088" y="1371600"/>
            <a:ext cx="3468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43088" y="1371600"/>
            <a:ext cx="3468624" cy="640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6" name="Text 14"/>
          <p:cNvSpPr/>
          <p:nvPr/>
        </p:nvSpPr>
        <p:spPr>
          <a:xfrm>
            <a:off x="8171688" y="1572768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Promise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171688" y="2011680"/>
            <a:ext cx="301142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partner, every layer. We stay accountable from the first workshop to long after launch — with radical transparency at every step.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40233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Values We Work By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66928" y="4590288"/>
            <a:ext cx="502920" cy="41148"/>
          </a:xfrm>
          <a:prstGeom prst="rect">
            <a:avLst/>
          </a:prstGeom>
          <a:ln/>
        </p:spPr>
      </p:sp>
      <p:sp>
        <p:nvSpPr>
          <p:cNvPr id="20" name="Shape 18"/>
          <p:cNvSpPr/>
          <p:nvPr/>
        </p:nvSpPr>
        <p:spPr>
          <a:xfrm>
            <a:off x="548640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944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94944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Understand deeply before building anything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66974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13278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913278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Tailored roadmaps — never templates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985309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31613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131613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Ship, measure, and keep improving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203643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49947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It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349947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Accountable until the outcome lands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421978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68282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Human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568282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Founder-level attention on every account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36576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Services  —  1 of 2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896112"/>
            <a:ext cx="502920" cy="41148"/>
          </a:xfrm>
          <a:prstGeom prst="rect">
            <a:avLst/>
          </a:prstGeom>
          <a:ln/>
        </p:spPr>
      </p:sp>
      <p:sp>
        <p:nvSpPr>
          <p:cNvPr id="6" name="Shape 4"/>
          <p:cNvSpPr/>
          <p:nvPr/>
        </p:nvSpPr>
        <p:spPr>
          <a:xfrm>
            <a:off x="548640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554480"/>
            <a:ext cx="128016" cy="38404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Transformation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51560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overhaul of business processes, culture, and technology — aligned with UAE Vision 2031.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051560" y="28254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1197864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 Design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7258" y="28254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3353562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Management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51560" y="32095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1197864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Roadmaps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07258" y="32095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3353562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Legacy Modernisation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85916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1948" y="1554480"/>
            <a:ext cx="128016" cy="3840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0" name="Text 18"/>
          <p:cNvSpPr/>
          <p:nvPr/>
        </p:nvSpPr>
        <p:spPr>
          <a:xfrm>
            <a:off x="6688836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Consulting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88836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Data-driven strategy and C-suite advisory that turns complexity into competitive advantage.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88836" y="282549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3" name="Text 21"/>
          <p:cNvSpPr/>
          <p:nvPr/>
        </p:nvSpPr>
        <p:spPr>
          <a:xfrm>
            <a:off x="6835140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Roadmaps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844534" y="282549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5" name="Text 23"/>
          <p:cNvSpPr/>
          <p:nvPr/>
        </p:nvSpPr>
        <p:spPr>
          <a:xfrm>
            <a:off x="8990838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C-Suite Advisory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688836" y="3209544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7" name="Text 25"/>
          <p:cNvSpPr/>
          <p:nvPr/>
        </p:nvSpPr>
        <p:spPr>
          <a:xfrm>
            <a:off x="6835140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OKRs &amp; Governance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844534" y="3209544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9" name="Text 27"/>
          <p:cNvSpPr/>
          <p:nvPr/>
        </p:nvSpPr>
        <p:spPr>
          <a:xfrm>
            <a:off x="8990838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Selection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" y="4069080"/>
            <a:ext cx="128016" cy="3840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2" name="Text 30"/>
          <p:cNvSpPr/>
          <p:nvPr/>
        </p:nvSpPr>
        <p:spPr>
          <a:xfrm>
            <a:off x="1051560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Services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51560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Multi-cloud architecture, migration, and optimisation on AWS, Azure, and GCP.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51560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5" name="Text 33"/>
          <p:cNvSpPr/>
          <p:nvPr/>
        </p:nvSpPr>
        <p:spPr>
          <a:xfrm>
            <a:off x="1197864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Architecture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07258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7" name="Text 35"/>
          <p:cNvSpPr/>
          <p:nvPr/>
        </p:nvSpPr>
        <p:spPr>
          <a:xfrm>
            <a:off x="3353562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51560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9" name="Text 37"/>
          <p:cNvSpPr/>
          <p:nvPr/>
        </p:nvSpPr>
        <p:spPr>
          <a:xfrm>
            <a:off x="1197864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Operations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7258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1" name="Text 39"/>
          <p:cNvSpPr/>
          <p:nvPr/>
        </p:nvSpPr>
        <p:spPr>
          <a:xfrm>
            <a:off x="3353562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FinOps &amp; Cost Control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185916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41948" y="4069080"/>
            <a:ext cx="128016" cy="38404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4" name="Text 42"/>
          <p:cNvSpPr/>
          <p:nvPr/>
        </p:nvSpPr>
        <p:spPr>
          <a:xfrm>
            <a:off x="6688836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Cybersecurity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6688836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assessments, threat monitoring, and compliance frameworks that protect critical assets.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688836" y="534009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7" name="Text 45"/>
          <p:cNvSpPr/>
          <p:nvPr/>
        </p:nvSpPr>
        <p:spPr>
          <a:xfrm>
            <a:off x="6835140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Zero-Trust Design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844534" y="534009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9" name="Text 47"/>
          <p:cNvSpPr/>
          <p:nvPr/>
        </p:nvSpPr>
        <p:spPr>
          <a:xfrm>
            <a:off x="8990838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Programmes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88836" y="5724144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1" name="Text 49"/>
          <p:cNvSpPr/>
          <p:nvPr/>
        </p:nvSpPr>
        <p:spPr>
          <a:xfrm>
            <a:off x="6835140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NESA Alignment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844534" y="5724144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3" name="Text 51"/>
          <p:cNvSpPr/>
          <p:nvPr/>
        </p:nvSpPr>
        <p:spPr>
          <a:xfrm>
            <a:off x="8990838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 Monitoring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36576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Services  —  2 of 2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896112"/>
            <a:ext cx="502920" cy="41148"/>
          </a:xfrm>
          <a:prstGeom prst="rect">
            <a:avLst/>
          </a:prstGeom>
          <a:ln/>
        </p:spPr>
      </p:sp>
      <p:sp>
        <p:nvSpPr>
          <p:cNvPr id="6" name="Shape 4"/>
          <p:cNvSpPr/>
          <p:nvPr/>
        </p:nvSpPr>
        <p:spPr>
          <a:xfrm>
            <a:off x="548640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554480"/>
            <a:ext cx="128016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51560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Bespoke web, mobile, and enterprise applications engineered from the ground up.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051560" y="2825496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1197864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&amp; Mobile Apps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7258" y="2825496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3353562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Engineering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51560" y="3209544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1197864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Platforms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07258" y="3209544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7" name="Text 15"/>
          <p:cNvSpPr/>
          <p:nvPr/>
        </p:nvSpPr>
        <p:spPr>
          <a:xfrm>
            <a:off x="3353562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MVPs in 8–12 Weeks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85916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1948" y="1554480"/>
            <a:ext cx="128016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6688836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Analytics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88836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Dashboards, predictive models, and BI platforms that turn raw data into decisions.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88836" y="2825496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6835140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 Dashboards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844534" y="2825496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8990838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Warehousing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688836" y="3209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6835140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Models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844534" y="3209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9" name="Text 27"/>
          <p:cNvSpPr/>
          <p:nvPr/>
        </p:nvSpPr>
        <p:spPr>
          <a:xfrm>
            <a:off x="8990838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Reporting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" y="4069080"/>
            <a:ext cx="128016" cy="38404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2" name="Text 30"/>
          <p:cNvSpPr/>
          <p:nvPr/>
        </p:nvSpPr>
        <p:spPr>
          <a:xfrm>
            <a:off x="1051560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Solutions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51560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Tailored infrastructure, systems integration, and managed IT that scales with ambition.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51560" y="53400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5" name="Text 33"/>
          <p:cNvSpPr/>
          <p:nvPr/>
        </p:nvSpPr>
        <p:spPr>
          <a:xfrm>
            <a:off x="1197864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07258" y="53400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7" name="Text 35"/>
          <p:cNvSpPr/>
          <p:nvPr/>
        </p:nvSpPr>
        <p:spPr>
          <a:xfrm>
            <a:off x="3353562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Systems Integration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51560" y="57241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9" name="Text 37"/>
          <p:cNvSpPr/>
          <p:nvPr/>
        </p:nvSpPr>
        <p:spPr>
          <a:xfrm>
            <a:off x="1197864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7258" y="57241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1" name="Text 39"/>
          <p:cNvSpPr/>
          <p:nvPr/>
        </p:nvSpPr>
        <p:spPr>
          <a:xfrm>
            <a:off x="3353562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99.98% Uptime Targets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185916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41948" y="4069080"/>
            <a:ext cx="128016" cy="3840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4" name="Text 42"/>
          <p:cNvSpPr/>
          <p:nvPr/>
        </p:nvSpPr>
        <p:spPr>
          <a:xfrm>
            <a:off x="6688836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Management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6688836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Agile, structured delivery that keeps complex technology projects on time and on scope.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688836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7" name="Text 45"/>
          <p:cNvSpPr/>
          <p:nvPr/>
        </p:nvSpPr>
        <p:spPr>
          <a:xfrm>
            <a:off x="6835140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Agile Delivery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844534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9" name="Text 47"/>
          <p:cNvSpPr/>
          <p:nvPr/>
        </p:nvSpPr>
        <p:spPr>
          <a:xfrm>
            <a:off x="8990838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PMO Governance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88836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1" name="Text 49"/>
          <p:cNvSpPr/>
          <p:nvPr/>
        </p:nvSpPr>
        <p:spPr>
          <a:xfrm>
            <a:off x="6835140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Stakeholder Management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844534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3" name="Text 51"/>
          <p:cNvSpPr/>
          <p:nvPr/>
        </p:nvSpPr>
        <p:spPr>
          <a:xfrm>
            <a:off x="8990838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On-Time Delivery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We Work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don't push templates. Every engagement starts with your challenges, gets a tailored roadmap, and is delivered against it — with radical transparency at every step.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011680"/>
            <a:ext cx="2017166" cy="640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13232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13232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Deep-dive workshops to map challenges, goals, and current-state technology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66974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66974" y="2011680"/>
            <a:ext cx="2017166" cy="640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2931566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931566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2931566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blueprints and a phased delivery plan built for your budget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85309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85309" y="2011680"/>
            <a:ext cx="2017166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5149901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149901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149901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Agile sprints, dedicated PMs, and weekly progress reports — on time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203643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03643" y="2011680"/>
            <a:ext cx="2017166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7368235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368235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368235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Zero-downtime rollouts with full testing, security sign-off, and training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421978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21978" y="2011680"/>
            <a:ext cx="2017166" cy="6400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9" name="Text 27"/>
          <p:cNvSpPr/>
          <p:nvPr/>
        </p:nvSpPr>
        <p:spPr>
          <a:xfrm>
            <a:off x="9586570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586570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586570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Post-launch monitoring, optimisation, and long-term partnership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5074920"/>
            <a:ext cx="110916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5230368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Engagement models: 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retainers (Essentials · Growth · Enterprise), fixed-scope projects, and dedicated-team arrangements — in AED, with no hidden fees.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Ventures We Helped Launch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52144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our pre-launch venture programme we build brands from idea to market — product, engineering, and identity under one roof.</a:t>
            </a:r>
            <a:endParaRPr lang="en-US" sz="1100" dirty="0"/>
          </a:p>
        </p:txBody>
      </p:sp>
      <p:pic>
        <p:nvPicPr>
          <p:cNvPr id="7" name="Image 0" descr="public/projects/nexa-p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3544824" cy="1417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127248"/>
            <a:ext cx="3544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Nexa Pay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383280"/>
            <a:ext cx="3544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Payments app — idea to pilot in 8 weeks</a:t>
            </a:r>
            <a:endParaRPr lang="en-US" sz="850" dirty="0"/>
          </a:p>
        </p:txBody>
      </p:sp>
      <p:pic>
        <p:nvPicPr>
          <p:cNvPr id="10" name="Image 1" descr="public/projects/cargoflow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22064" y="1691640"/>
            <a:ext cx="3544824" cy="1417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22064" y="3127248"/>
            <a:ext cx="3544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CargoFlow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322064" y="3383280"/>
            <a:ext cx="3544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Shipment tracking SaaS — 40% less manual dispatch</a:t>
            </a:r>
            <a:endParaRPr lang="en-US" sz="850" dirty="0"/>
          </a:p>
        </p:txBody>
      </p:sp>
      <p:pic>
        <p:nvPicPr>
          <p:cNvPr id="13" name="Image 2" descr="public/projects/lumor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5488" y="1691640"/>
            <a:ext cx="3544824" cy="1417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95488" y="3127248"/>
            <a:ext cx="3544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Lumora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8095488" y="3383280"/>
            <a:ext cx="3544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D2C skincare launch — 3× launch-month ROAS</a:t>
            </a:r>
            <a:endParaRPr lang="en-US" sz="850" dirty="0"/>
          </a:p>
        </p:txBody>
      </p:sp>
      <p:pic>
        <p:nvPicPr>
          <p:cNvPr id="16" name="Image 3" descr="public/projects/pulse-loop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48640" y="3840480"/>
            <a:ext cx="3544824" cy="14173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48640" y="5276088"/>
            <a:ext cx="3544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Loop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548640" y="5532120"/>
            <a:ext cx="3544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Wellness app MVP — app-store beta in 12 weeks</a:t>
            </a:r>
            <a:endParaRPr lang="en-US" sz="850" dirty="0"/>
          </a:p>
        </p:txBody>
      </p:sp>
      <p:pic>
        <p:nvPicPr>
          <p:cNvPr id="19" name="Image 4" descr="public/projects/masakin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22064" y="3840480"/>
            <a:ext cx="3544824" cy="141732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22064" y="5276088"/>
            <a:ext cx="3544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Masakin مساكن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4322064" y="5532120"/>
            <a:ext cx="3544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Bilingual property portal — 2.5K monthly leads</a:t>
            </a:r>
            <a:endParaRPr lang="en-US" sz="850" dirty="0"/>
          </a:p>
        </p:txBody>
      </p:sp>
      <p:pic>
        <p:nvPicPr>
          <p:cNvPr id="22" name="Image 5" descr="public/projects/kidiverse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95488" y="3840480"/>
            <a:ext cx="3544824" cy="141732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8095488" y="5276088"/>
            <a:ext cx="3544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KidiVerse</a:t>
            </a:r>
            <a:endParaRPr lang="en-US" sz="1250" dirty="0"/>
          </a:p>
        </p:txBody>
      </p:sp>
      <p:sp>
        <p:nvSpPr>
          <p:cNvPr id="24" name="Text 16"/>
          <p:cNvSpPr/>
          <p:nvPr/>
        </p:nvSpPr>
        <p:spPr>
          <a:xfrm>
            <a:off x="8095488" y="5532120"/>
            <a:ext cx="3544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Kids-safe streaming — full parental-control layer</a:t>
            </a:r>
            <a:endParaRPr lang="en-US" sz="850" dirty="0"/>
          </a:p>
        </p:txBody>
      </p:sp>
      <p:sp>
        <p:nvSpPr>
          <p:cNvPr id="25" name="Text 17"/>
          <p:cNvSpPr/>
          <p:nvPr/>
        </p:nvSpPr>
        <p:spPr>
          <a:xfrm>
            <a:off x="548640" y="6089904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venture above was launched pre-market with WeThink as the end-to-end technology partner.</a:t>
            </a:r>
            <a:endParaRPr lang="en-US" sz="900" dirty="0"/>
          </a:p>
        </p:txBody>
      </p:sp>
      <p:sp>
        <p:nvSpPr>
          <p:cNvPr id="26" name="Text 1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27" name="Text 1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Studies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Shape 4"/>
          <p:cNvSpPr/>
          <p:nvPr/>
        </p:nvSpPr>
        <p:spPr>
          <a:xfrm>
            <a:off x="548640" y="1417320"/>
            <a:ext cx="3468624" cy="457200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3468624" cy="640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18488"/>
            <a:ext cx="3011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CONSTRUCTION · ABU DHABI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301142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Albina Alareeq Digital Hub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697480"/>
            <a:ext cx="3011424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digital transformation for a major Abu Dhabi construction firm — a brand-aligned corporate website plus a connected project-management portal unifying field reporting and head-office visibility.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4636008"/>
            <a:ext cx="30114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777240" y="4892040"/>
            <a:ext cx="30114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884725"/>
            <a:ext cx="30114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Corporate platform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5239512"/>
            <a:ext cx="30114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B8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5232197"/>
            <a:ext cx="30114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portal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5586984"/>
            <a:ext cx="30114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B8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579669"/>
            <a:ext cx="30114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Unified reporting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45864" y="1417320"/>
            <a:ext cx="3468624" cy="457200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45864" y="1417320"/>
            <a:ext cx="3468624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4474464" y="1618488"/>
            <a:ext cx="3011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HOSPITALITY · ABU DHABI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474464" y="1874520"/>
            <a:ext cx="301142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Nabe Eldiyafa Brand &amp; Digital Ecosystem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474464" y="2697480"/>
            <a:ext cx="3011424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digital launch for a heritage Damascene restaurant — brand identity refresh, a bilingual reservations website, and a 12-month social media programme that filled weekend covers.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74464" y="4636008"/>
            <a:ext cx="30114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74464" y="4892040"/>
            <a:ext cx="30114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74464" y="4884725"/>
            <a:ext cx="30114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identity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474464" y="5239512"/>
            <a:ext cx="30114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74464" y="5232197"/>
            <a:ext cx="30114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Bilingual site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474464" y="5586984"/>
            <a:ext cx="30114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74464" y="5579669"/>
            <a:ext cx="30114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campaign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943088" y="1417320"/>
            <a:ext cx="3468624" cy="457200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43088" y="1417320"/>
            <a:ext cx="3468624" cy="640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2" name="Text 30"/>
          <p:cNvSpPr/>
          <p:nvPr/>
        </p:nvSpPr>
        <p:spPr>
          <a:xfrm>
            <a:off x="8171688" y="1618488"/>
            <a:ext cx="3011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EDTECH · AMMAN &amp; UAE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171688" y="1874520"/>
            <a:ext cx="301142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KidiVerse — Kids-Safe Streaming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171688" y="2697480"/>
            <a:ext cx="3011424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kids-first video streaming platform for a family media operator — curated Arabic and English content, six layers of parental controls, and a human-plus-automated content review pipeline.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171688" y="4636008"/>
            <a:ext cx="30114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8171688" y="4892040"/>
            <a:ext cx="30114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71688" y="4884725"/>
            <a:ext cx="30114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Parental controls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171688" y="5239512"/>
            <a:ext cx="30114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71688" y="5232197"/>
            <a:ext cx="30114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Content pipeline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171688" y="5586984"/>
            <a:ext cx="30114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1688" y="5579669"/>
            <a:ext cx="30114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AR/EN library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Choose WeThink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914400"/>
            <a:ext cx="502920" cy="41148"/>
          </a:xfrm>
          <a:prstGeom prst="rect">
            <a:avLst/>
          </a:prstGeom>
          <a:ln/>
        </p:spPr>
      </p:sp>
      <p:sp>
        <p:nvSpPr>
          <p:cNvPr id="6" name="Shape 4"/>
          <p:cNvSpPr/>
          <p:nvPr/>
        </p:nvSpPr>
        <p:spPr>
          <a:xfrm>
            <a:off x="548640" y="137160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361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Partner, Every Layer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239572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Strategy, engineering, design, and operations under one roof — no vendor patchwork, no finger-pointing.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45864" y="137160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4464" y="15361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74464" y="201168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Founder-Level Attention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474464" y="239572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Founder-led and delivery-obsessed. Senior people stay on your account from kickoff to long after launch.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943088" y="137160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71688" y="15361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171688" y="201168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UAE-Rooted, Gulf-Ready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171688" y="239572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Bilingual Arabic/English delivery, UAE Vision 2031 alignment, and local regulatory awareness (NESA, PDPL).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79476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593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77240" y="443484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By Default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77240" y="481888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27001-aligned practices and zero-trust thinking baked into every build — not bolted on afterwards.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245864" y="379476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74464" y="39593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474464" y="443484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Speed Without Chaos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474464" y="481888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MVPs in 8–12 weeks with agile governance: weekly demos, transparent backlogs, no surprises.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943088" y="379476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71688" y="39593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171688" y="443484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Commercials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171688" y="481888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AED pricing, published retainers, and fixed-scope options. No hidden fees, cancel anytime.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Expertise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52144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Vendor-neutral by principle — we recommend and build on the platforms that fit your goals, not our margins.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37360"/>
            <a:ext cx="2571750" cy="640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INFRASTRUCTURE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" y="255117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907792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Azure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520" y="3264408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Cloud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362102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7" name="Text 15"/>
          <p:cNvSpPr/>
          <p:nvPr/>
        </p:nvSpPr>
        <p:spPr>
          <a:xfrm>
            <a:off x="877824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Kubernetes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31520" y="3977640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9" name="Text 17"/>
          <p:cNvSpPr/>
          <p:nvPr/>
        </p:nvSpPr>
        <p:spPr>
          <a:xfrm>
            <a:off x="877824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Terraform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31520" y="433425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21558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21558" y="1737360"/>
            <a:ext cx="257175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3504438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504438" y="2551176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6" name="Text 24"/>
          <p:cNvSpPr/>
          <p:nvPr/>
        </p:nvSpPr>
        <p:spPr>
          <a:xfrm>
            <a:off x="3650742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&amp; Next.js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04438" y="2907792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Text 26"/>
          <p:cNvSpPr/>
          <p:nvPr/>
        </p:nvSpPr>
        <p:spPr>
          <a:xfrm>
            <a:off x="3650742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504438" y="3264408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0" name="Text 28"/>
          <p:cNvSpPr/>
          <p:nvPr/>
        </p:nvSpPr>
        <p:spPr>
          <a:xfrm>
            <a:off x="3650742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Flutter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504438" y="3621024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2" name="Text 30"/>
          <p:cNvSpPr/>
          <p:nvPr/>
        </p:nvSpPr>
        <p:spPr>
          <a:xfrm>
            <a:off x="3650742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Native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504438" y="3977640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4" name="Text 32"/>
          <p:cNvSpPr/>
          <p:nvPr/>
        </p:nvSpPr>
        <p:spPr>
          <a:xfrm>
            <a:off x="3650742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504438" y="4334256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6" name="Text 34"/>
          <p:cNvSpPr/>
          <p:nvPr/>
        </p:nvSpPr>
        <p:spPr>
          <a:xfrm>
            <a:off x="3650742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&amp; MongoDB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094476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94476" y="1737360"/>
            <a:ext cx="2571750" cy="640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9" name="Text 37"/>
          <p:cNvSpPr/>
          <p:nvPr/>
        </p:nvSpPr>
        <p:spPr>
          <a:xfrm>
            <a:off x="6277356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AI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77356" y="255117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1" name="Text 39"/>
          <p:cNvSpPr/>
          <p:nvPr/>
        </p:nvSpPr>
        <p:spPr>
          <a:xfrm>
            <a:off x="6423660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BI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277356" y="2907792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3" name="Text 41"/>
          <p:cNvSpPr/>
          <p:nvPr/>
        </p:nvSpPr>
        <p:spPr>
          <a:xfrm>
            <a:off x="6423660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Warehousing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77356" y="3264408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5" name="Text 43"/>
          <p:cNvSpPr/>
          <p:nvPr/>
        </p:nvSpPr>
        <p:spPr>
          <a:xfrm>
            <a:off x="6423660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Models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277356" y="3621024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7" name="Text 45"/>
          <p:cNvSpPr/>
          <p:nvPr/>
        </p:nvSpPr>
        <p:spPr>
          <a:xfrm>
            <a:off x="6423660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Analytics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77356" y="3977640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9" name="Text 47"/>
          <p:cNvSpPr/>
          <p:nvPr/>
        </p:nvSpPr>
        <p:spPr>
          <a:xfrm>
            <a:off x="6423660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Assistants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277356" y="433425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1" name="Text 49"/>
          <p:cNvSpPr/>
          <p:nvPr/>
        </p:nvSpPr>
        <p:spPr>
          <a:xfrm>
            <a:off x="6423660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ETL Pipelines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867394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867394" y="1737360"/>
            <a:ext cx="2571750" cy="6400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4" name="Text 52"/>
          <p:cNvSpPr/>
          <p:nvPr/>
        </p:nvSpPr>
        <p:spPr>
          <a:xfrm>
            <a:off x="9050274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DELIVERY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9050274" y="255117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6" name="Text 54"/>
          <p:cNvSpPr/>
          <p:nvPr/>
        </p:nvSpPr>
        <p:spPr>
          <a:xfrm>
            <a:off x="9196578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Trust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9050274" y="2907792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8" name="Text 56"/>
          <p:cNvSpPr/>
          <p:nvPr/>
        </p:nvSpPr>
        <p:spPr>
          <a:xfrm>
            <a:off x="9196578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 Monitoring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050274" y="3264408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0" name="Text 58"/>
          <p:cNvSpPr/>
          <p:nvPr/>
        </p:nvSpPr>
        <p:spPr>
          <a:xfrm>
            <a:off x="9196578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&amp; CI/CD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050274" y="3621024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2" name="Text 60"/>
          <p:cNvSpPr/>
          <p:nvPr/>
        </p:nvSpPr>
        <p:spPr>
          <a:xfrm>
            <a:off x="9196578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DevOps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9050274" y="3977640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4" name="Text 62"/>
          <p:cNvSpPr/>
          <p:nvPr/>
        </p:nvSpPr>
        <p:spPr>
          <a:xfrm>
            <a:off x="9196578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Microservices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9050274" y="433425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6" name="Text 64"/>
          <p:cNvSpPr/>
          <p:nvPr/>
        </p:nvSpPr>
        <p:spPr>
          <a:xfrm>
            <a:off x="9196578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Integration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Standards &amp; Compliance Awareness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566928" y="5504688"/>
            <a:ext cx="502920" cy="41148"/>
          </a:xfrm>
          <a:prstGeom prst="rect">
            <a:avLst/>
          </a:prstGeom>
          <a:ln/>
        </p:spPr>
      </p:sp>
      <p:sp>
        <p:nvSpPr>
          <p:cNvPr id="69" name="Shape 67"/>
          <p:cNvSpPr/>
          <p:nvPr/>
        </p:nvSpPr>
        <p:spPr>
          <a:xfrm>
            <a:off x="548640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48640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(aligned)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2397252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397252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NESA / UAE IA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245864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245864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PDPL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094476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094476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WCAG Accessibility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7943088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943088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OWASP Practices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9791700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91700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Gov Digital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Engagement Models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52144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 AED retainers — no hidden fees, cancel anytime. Fixed-scope projects and dedicated teams also available.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3468624" cy="434340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2880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194560"/>
            <a:ext cx="3011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AED 1,499</a:t>
            </a:r>
            <a:pPr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/month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77240" y="2706624"/>
            <a:ext cx="30114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Reliable IT support and a clear technology roadmap for small businesses.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49808" y="34015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87552" y="34015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helpdesk support (8×5)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49808" y="381304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87552" y="381304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 &amp; device monitoring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49808" y="422452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87552" y="422452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security health check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49808" y="463600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87552" y="463600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readiness assessment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49808" y="504748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87552" y="504748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reports &amp; advisory call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49808" y="54589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87552" y="54589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to 15 users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5864" y="1645920"/>
            <a:ext cx="3468624" cy="434340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22225">
            <a:solidFill>
              <a:srgbClr val="14B8A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91584" y="1645920"/>
            <a:ext cx="3377184" cy="82296"/>
          </a:xfrm>
          <a:prstGeom prst="rect">
            <a:avLst/>
          </a:prstGeom>
          <a:ln/>
        </p:spPr>
      </p:sp>
      <p:sp>
        <p:nvSpPr>
          <p:cNvPr id="25" name="Shape 23"/>
          <p:cNvSpPr/>
          <p:nvPr/>
        </p:nvSpPr>
        <p:spPr>
          <a:xfrm>
            <a:off x="6297168" y="1847088"/>
            <a:ext cx="1234440" cy="292608"/>
          </a:xfrm>
          <a:prstGeom prst="roundRect">
            <a:avLst>
              <a:gd name="adj" fmla="val 50000"/>
            </a:avLst>
          </a:prstGeom>
          <a:ln/>
        </p:spPr>
      </p:sp>
      <p:sp>
        <p:nvSpPr>
          <p:cNvPr id="26" name="Text 24"/>
          <p:cNvSpPr/>
          <p:nvPr/>
        </p:nvSpPr>
        <p:spPr>
          <a:xfrm>
            <a:off x="6297168" y="182880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POPULAR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474464" y="182880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474464" y="2194560"/>
            <a:ext cx="3011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AED 4,499</a:t>
            </a:r>
            <a:pPr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/month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474464" y="2706624"/>
            <a:ext cx="30114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IT + cloud for scaling teams that want a hands-on partner.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447032" y="34015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84776" y="34015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in Essentials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447032" y="381304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84776" y="381304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24×7 monitoring &amp; response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447032" y="422452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84776" y="422452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architecture &amp; cost control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447032" y="463600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684776" y="463600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hardening &amp; training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447032" y="504748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84776" y="504748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Quarterly strategy workshops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447032" y="54589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684776" y="54589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account manager · 60 users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943088" y="1645920"/>
            <a:ext cx="3468624" cy="434340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1688" y="182880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171688" y="2194560"/>
            <a:ext cx="3011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</a:t>
            </a:r>
            <a:pPr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8171688" y="2706624"/>
            <a:ext cx="30114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Tailored transformation programmes, scoped and priced per engagement.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144256" y="34015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82000" y="34015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in Growth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144256" y="381304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82000" y="381304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digital transformation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144256" y="422452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82000" y="422452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 &amp; AI solutions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144256" y="463600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82000" y="463600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/ NESA programmes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144256" y="504748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382000" y="504748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engineering team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144256" y="54589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382000" y="54589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SLAs &amp; user count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48640" y="6144768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prices exclusive of VAT (5%). Yearly billing includes two months free.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Brands In Our Portfolio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52144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Identities we designed and launched through the pre-launch venture programme — English and Arabic, across fintech, retail, wellness, F&amp;B, fragrance, and real estate.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265861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8" name="Image 0" descr="public/logos/nexa-p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984248"/>
            <a:ext cx="1927098" cy="115625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3200400"/>
            <a:ext cx="2658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Nexa Pay · Fintech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344418" y="1828800"/>
            <a:ext cx="265861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11" name="Image 1" descr="public/logos/cargofl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10178" y="1984248"/>
            <a:ext cx="1927098" cy="115625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44418" y="3200400"/>
            <a:ext cx="2658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CargoFlow · Logistics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6185916" y="1828800"/>
            <a:ext cx="265861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14" name="Image 2" descr="public/logos/lumora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51676" y="1984248"/>
            <a:ext cx="1927098" cy="115625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185916" y="3200400"/>
            <a:ext cx="2658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Lumora · Skincare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9027414" y="1828800"/>
            <a:ext cx="265861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17" name="Image 3" descr="public/logos/pulse-loop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393174" y="1984248"/>
            <a:ext cx="1927098" cy="115625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27414" y="3200400"/>
            <a:ext cx="2658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Loop · Wellness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502920" y="3931920"/>
            <a:ext cx="265861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20" name="Image 4" descr="public/logos/qahwat-al-asala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68680" y="4087368"/>
            <a:ext cx="1927098" cy="1156259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02920" y="5303520"/>
            <a:ext cx="2658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قهوة الأصالة · Café</a:t>
            </a:r>
            <a:endParaRPr lang="en-US" sz="950" dirty="0"/>
          </a:p>
        </p:txBody>
      </p:sp>
      <p:sp>
        <p:nvSpPr>
          <p:cNvPr id="22" name="Shape 15"/>
          <p:cNvSpPr/>
          <p:nvPr/>
        </p:nvSpPr>
        <p:spPr>
          <a:xfrm>
            <a:off x="3344418" y="3931920"/>
            <a:ext cx="265861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23" name="Image 5" descr="public/logos/anmat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3710178" y="4087368"/>
            <a:ext cx="1927098" cy="1156259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3344418" y="5303520"/>
            <a:ext cx="2658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أنماط · Fashion</a:t>
            </a:r>
            <a:endParaRPr lang="en-US" sz="950" dirty="0"/>
          </a:p>
        </p:txBody>
      </p:sp>
      <p:sp>
        <p:nvSpPr>
          <p:cNvPr id="25" name="Shape 17"/>
          <p:cNvSpPr/>
          <p:nvPr/>
        </p:nvSpPr>
        <p:spPr>
          <a:xfrm>
            <a:off x="6185916" y="3931920"/>
            <a:ext cx="265861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26" name="Image 6" descr="public/logos/abeer-al-diyar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551676" y="4087368"/>
            <a:ext cx="1927098" cy="1156259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6185916" y="5303520"/>
            <a:ext cx="2658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عبير الديار · Fragrance</a:t>
            </a:r>
            <a:endParaRPr lang="en-US" sz="950" dirty="0"/>
          </a:p>
        </p:txBody>
      </p:sp>
      <p:sp>
        <p:nvSpPr>
          <p:cNvPr id="28" name="Shape 19"/>
          <p:cNvSpPr/>
          <p:nvPr/>
        </p:nvSpPr>
        <p:spPr>
          <a:xfrm>
            <a:off x="9027414" y="3931920"/>
            <a:ext cx="265861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29" name="Image 7" descr="public/logos/masaken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393174" y="4087368"/>
            <a:ext cx="1927098" cy="1156259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9027414" y="5303520"/>
            <a:ext cx="2658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مساكن · Real Estate</a:t>
            </a:r>
            <a:endParaRPr lang="en-US" sz="950" dirty="0"/>
          </a:p>
        </p:txBody>
      </p:sp>
      <p:sp>
        <p:nvSpPr>
          <p:cNvPr id="31" name="Text 2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32" name="Text 22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ln/>
        </p:spPr>
      </p:sp>
      <p:pic>
        <p:nvPicPr>
          <p:cNvPr id="4" name="Image 0" descr="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2996" y="8686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1828800"/>
            <a:ext cx="12188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Think. </a:t>
            </a:r>
            <a:pPr algn="ctr"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Plan. </a:t>
            </a:r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011680" y="2697480"/>
            <a:ext cx="81655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Since 2019, WeThink has been helping UAE businesses and founders turn ideas into impactful realities. Let's build what's next — together.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3931920"/>
            <a:ext cx="292608" cy="320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www.wethink.ae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58718" y="3931920"/>
            <a:ext cx="292608" cy="320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8"/>
          <p:cNvSpPr/>
          <p:nvPr/>
        </p:nvSpPr>
        <p:spPr>
          <a:xfrm>
            <a:off x="3458718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458718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info@wethink.ae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1636" y="3931920"/>
            <a:ext cx="292608" cy="320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4" name="Text 11"/>
          <p:cNvSpPr/>
          <p:nvPr/>
        </p:nvSpPr>
        <p:spPr>
          <a:xfrm>
            <a:off x="6231636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 / WHATSAPP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231636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+971 50 312 5078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004554" y="3931920"/>
            <a:ext cx="292608" cy="320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4"/>
          <p:cNvSpPr/>
          <p:nvPr/>
        </p:nvSpPr>
        <p:spPr>
          <a:xfrm>
            <a:off x="9004554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HEADQUARTERS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004554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Pixel, Al Reem Island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Abu Dhabi, UAE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0" y="5577840"/>
            <a:ext cx="12188952" cy="10973"/>
          </a:xfrm>
          <a:prstGeom prst="rect">
            <a:avLst/>
          </a:prstGeom>
          <a:solidFill>
            <a:srgbClr val="9FB8B4">
              <a:alpha val="4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0" y="576072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Instagram  @wethink.ae      ·      LinkedIn  Rasha Aljalam      ·      Facebook  wethink.ae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0" y="630936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© 2026 WeThink Information Technology Consulting. All rights reserved.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2026-07-16T18:11:00Z</dcterms:created>
  <dcterms:modified xsi:type="dcterms:W3CDTF">2026-07-16T18:11:00Z</dcterms:modified>
</cp:coreProperties>
</file>