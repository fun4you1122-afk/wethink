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-4114800" y="-4114800"/>
            <a:ext cx="8229600" cy="8229600"/>
          </a:xfrm>
          <a:prstGeom prst="ellipse">
            <a:avLst/>
          </a:prstGeom>
          <a:solidFill>
            <a:srgbClr val="7C3AED">
              <a:alpha val="1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31352" y="3200400"/>
            <a:ext cx="7315200" cy="7315200"/>
          </a:xfrm>
          <a:prstGeom prst="ellipse">
            <a:avLst/>
          </a:prstGeom>
          <a:solidFill>
            <a:srgbClr val="5B21B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08476" y="1143000"/>
            <a:ext cx="4572000" cy="4572000"/>
          </a:xfrm>
          <a:prstGeom prst="ellipse">
            <a:avLst/>
          </a:prstGeom>
          <a:solidFill>
            <a:srgbClr val="5B21B6">
              <a:alpha val="1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459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We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457200" y="25603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4B5FD"/>
                </a:solidFill>
              </a:rPr>
              <a:t>Think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182880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B5FD"/>
                </a:solidFill>
              </a:rPr>
              <a:t>Engineered for the Digital Age.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279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5CF6"/>
                </a:solidFill>
              </a:rPr>
              <a:t>Abu Dhabi, UAE  ·  Est. 2019  ·  wethink.ae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7548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DAF"/>
                </a:solidFill>
              </a:rPr>
              <a:t>IT Consulting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50292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DAF"/>
                </a:solidFill>
              </a:rPr>
              <a:t>Cloud Strategy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53035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DAF"/>
                </a:solidFill>
              </a:rPr>
              <a:t>Cybersecurity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55778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6DAF"/>
                </a:solidFill>
              </a:rPr>
              <a:t>Custom Software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188720"/>
            <a:ext cx="5943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</a:rPr>
              <a:t>Transforming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</a:rPr>
              <a:t>Enterprises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</a:rPr>
              <a:t>Across the Gulf.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760720" y="443484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WeThink delivers end-to-end technology consulting, cloud architecture, cybersecurity, and bespoke software — helping UAE and Gulf enterprises compete and thrive in an accelerating digital world.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8BFA"/>
                </a:solidFill>
              </a:rPr>
              <a:t>Company Profile  2025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ABOUT US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0A2E"/>
                </a:solidFill>
              </a:rPr>
              <a:t>Who We Are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950976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Founded in Abu Dhabi in 2019, WeThink is a technology consulting firm built for the ambitions of UAE and Gulf enterprises.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5836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We combine deep technical expertise with strategic advisory — delivering transformation programmes that create measurable, lasting impact.</a:t>
            </a: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Our multidisciplinary team of engineers, architects, and consultants operates across government, financial services, energy, education, and retail sectors across the UAE and Gulf region.</a:t>
            </a: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endParaRPr lang="en-US" sz="11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We speak the language of business and the language of technology — and we bridge the gap between the two.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06640" y="1261872"/>
            <a:ext cx="4279392" cy="777240"/>
          </a:xfrm>
          <a:prstGeom prst="rect">
            <a:avLst>
              <a:gd name="adj" fmla="val 10588"/>
            </a:avLst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1261872"/>
            <a:ext cx="41148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52944" y="13533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FOUNDED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552944" y="159105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0A2E"/>
                </a:solidFill>
              </a:rPr>
              <a:t>2019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2176272"/>
            <a:ext cx="4279392" cy="777240"/>
          </a:xfrm>
          <a:prstGeom prst="rect">
            <a:avLst>
              <a:gd name="adj" fmla="val 10588"/>
            </a:avLst>
          </a:prstGeom>
          <a:solidFill>
            <a:srgbClr val="4F46E5">
              <a:alpha val="8000"/>
            </a:srgbClr>
          </a:solidFill>
          <a:ln w="12700">
            <a:solidFill>
              <a:srgbClr val="4F46E5">
                <a:alpha val="3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2176272"/>
            <a:ext cx="41148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52944" y="22677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4F46E5"/>
                </a:solidFill>
              </a:rPr>
              <a:t>HEADQUARTERS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552944" y="250545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0A2E"/>
                </a:solidFill>
              </a:rPr>
              <a:t>Abu Dhabi, UAE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406640" y="3090672"/>
            <a:ext cx="4279392" cy="777240"/>
          </a:xfrm>
          <a:prstGeom prst="rect">
            <a:avLst>
              <a:gd name="adj" fmla="val 10588"/>
            </a:avLst>
          </a:prstGeom>
          <a:solidFill>
            <a:srgbClr val="0EA5E9">
              <a:alpha val="8000"/>
            </a:srgbClr>
          </a:solidFill>
          <a:ln w="12700">
            <a:solidFill>
              <a:srgbClr val="0EA5E9">
                <a:alpha val="3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3090672"/>
            <a:ext cx="41148" cy="77724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2944" y="31821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EA5E9"/>
                </a:solidFill>
              </a:rPr>
              <a:t>SECTORS SERVED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552944" y="341985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0A2E"/>
                </a:solidFill>
              </a:rPr>
              <a:t>Government · Finance · Energy · Education · Retail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406640" y="4005072"/>
            <a:ext cx="4279392" cy="777240"/>
          </a:xfrm>
          <a:prstGeom prst="rect">
            <a:avLst>
              <a:gd name="adj" fmla="val 10588"/>
            </a:avLst>
          </a:prstGeom>
          <a:solidFill>
            <a:srgbClr val="059669">
              <a:alpha val="8000"/>
            </a:srgbClr>
          </a:solidFill>
          <a:ln w="12700">
            <a:solidFill>
              <a:srgbClr val="059669">
                <a:alpha val="3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06640" y="4005072"/>
            <a:ext cx="41148" cy="777240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52944" y="40965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59669"/>
                </a:solidFill>
              </a:rPr>
              <a:t>CAPABILITIES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552944" y="433425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0A2E"/>
                </a:solidFill>
              </a:rPr>
              <a:t>Strategy · Build · Operate · Optimise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658368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4169664"/>
            <a:ext cx="6583680" cy="1691640"/>
          </a:xfrm>
          <a:prstGeom prst="rect">
            <a:avLst>
              <a:gd name="adj" fmla="val 5405"/>
            </a:avLst>
          </a:prstGeom>
          <a:solidFill>
            <a:srgbClr val="7C3AED">
              <a:alpha val="7000"/>
            </a:srgbClr>
          </a:solidFill>
          <a:ln w="12700">
            <a:solidFill>
              <a:srgbClr val="7C3AED">
                <a:alpha val="28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133088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7C3AED">
                    <a:alpha val="65000"/>
                  </a:srgbClr>
                </a:solidFill>
              </a:rPr>
              <a:t>"</a:t>
            </a:r>
            <a:endParaRPr lang="en-US" sz="5200" dirty="0"/>
          </a:p>
        </p:txBody>
      </p:sp>
      <p:sp>
        <p:nvSpPr>
          <p:cNvPr id="28" name="Text 26"/>
          <p:cNvSpPr/>
          <p:nvPr/>
        </p:nvSpPr>
        <p:spPr>
          <a:xfrm>
            <a:off x="1005840" y="4279392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1A0A2E"/>
                </a:solidFill>
              </a:rPr>
              <a:t>"WeThink transformed our entire IT infrastructure in under 6 months. The team's depth of knowledge and project discipline is unlike anything we've experienced before."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05840" y="516636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Ahmed Al Mansoori  ·  CTO, Abu Dhabi National Energy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FOUNDATION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0A2E"/>
                </a:solidFill>
              </a:rPr>
              <a:t>Mission, Vision &amp; Values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367894" cy="1298448"/>
          </a:xfrm>
          <a:prstGeom prst="rect">
            <a:avLst>
              <a:gd name="adj" fmla="val 7042"/>
            </a:avLst>
          </a:prstGeom>
          <a:solidFill>
            <a:srgbClr val="7C3AED">
              <a:alpha val="9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71600"/>
            <a:ext cx="509357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</a:rPr>
              <a:t>MISSION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1591056"/>
            <a:ext cx="509357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1A0A2E"/>
                </a:solidFill>
              </a:rPr>
              <a:t>To empower UAE and Gulf organisations with technology strategies and solutions that create lasting competitive advantage — delivered with clarity, speed, and integrity.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18138" y="1261872"/>
            <a:ext cx="5367894" cy="1298448"/>
          </a:xfrm>
          <a:prstGeom prst="rect">
            <a:avLst>
              <a:gd name="adj" fmla="val 7042"/>
            </a:avLst>
          </a:prstGeom>
          <a:solidFill>
            <a:srgbClr val="4F46E5">
              <a:alpha val="9000"/>
            </a:srgbClr>
          </a:solidFill>
          <a:ln w="12700">
            <a:solidFill>
              <a:srgbClr val="4F46E5">
                <a:alpha val="3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018" y="1371600"/>
            <a:ext cx="509357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F46E5"/>
                </a:solidFill>
              </a:rPr>
              <a:t>VISION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501018" y="1591056"/>
            <a:ext cx="509357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1A0A2E"/>
                </a:solidFill>
              </a:rPr>
              <a:t>To be the most trusted technology partner for enterprises across the Middle East — known for transformative outcomes, not just deliverables.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2706624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0A2E"/>
                </a:solidFill>
              </a:rPr>
              <a:t>Our Core Values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2920" y="3090672"/>
            <a:ext cx="5522976" cy="1298448"/>
          </a:xfrm>
          <a:prstGeom prst="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3090672"/>
            <a:ext cx="41148" cy="1298448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218688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Client-First Delivery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7512" y="3493008"/>
            <a:ext cx="5266944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Every engagement is shaped around your goals, timeline, and definition of success — not ours.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63056" y="3090672"/>
            <a:ext cx="5522976" cy="1298448"/>
          </a:xfrm>
          <a:prstGeom prst="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63056" y="3090672"/>
            <a:ext cx="41148" cy="129844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3218688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Technical Excellence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27648" y="3493008"/>
            <a:ext cx="5266944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We hire specialists, not generalists, and hold every deliverable to the highest engineering standards.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517136"/>
            <a:ext cx="5522976" cy="1298448"/>
          </a:xfrm>
          <a:prstGeom prst="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517136"/>
            <a:ext cx="41148" cy="1298448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4645152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Transparent Partnership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7512" y="4919472"/>
            <a:ext cx="5266944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Clear communication, honest assessments, and no surprises — we are your trusted advisor, not a vendor.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63056" y="4517136"/>
            <a:ext cx="5522976" cy="1298448"/>
          </a:xfrm>
          <a:prstGeom prst="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63056" y="4517136"/>
            <a:ext cx="4114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7648" y="4645152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UAE-Rooted Expertise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327648" y="4919472"/>
            <a:ext cx="5266944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Deep knowledge of local regulations, Vision 2031 priorities, and Gulf market dynamics applied to global best practice.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SERVICES  1/2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0A2E"/>
                </a:solidFill>
              </a:rPr>
              <a:t>Our Services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950976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End-to-end technology services — from strategy and consulting through to build and managed operations.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5522976" cy="2359152"/>
          </a:xfrm>
          <a:prstGeom prst="rect">
            <a:avLst>
              <a:gd name="adj" fmla="val 4651"/>
            </a:avLst>
          </a:prstGeom>
          <a:solidFill>
            <a:srgbClr val="7C3AED">
              <a:alpha val="7000"/>
            </a:srgbClr>
          </a:solidFill>
          <a:ln w="12700">
            <a:solidFill>
              <a:srgbClr val="7C3AED">
                <a:alpha val="3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298448"/>
            <a:ext cx="41148" cy="235915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31536" y="13533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7C3AED">
                    <a:alpha val="18000"/>
                  </a:srgbClr>
                </a:solidFill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85800" y="1435608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Digital Transformation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801368"/>
            <a:ext cx="5248656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End-to-end overhaul of your business processes, culture, and technology stack — aligned with UAE Vision 2031 and global best practices.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2871216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↑ 70% faster onboarding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3127248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Process Design  ·  Change Management  ·  Vision 2031  ·  Roadmapping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163056" y="1298448"/>
            <a:ext cx="5522976" cy="2359152"/>
          </a:xfrm>
          <a:prstGeom prst="rect">
            <a:avLst>
              <a:gd name="adj" fmla="val 4651"/>
            </a:avLst>
          </a:prstGeom>
          <a:solidFill>
            <a:srgbClr val="4F46E5">
              <a:alpha val="7000"/>
            </a:srgbClr>
          </a:solidFill>
          <a:ln w="12700">
            <a:solidFill>
              <a:srgbClr val="4F46E5">
                <a:alpha val="3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1298448"/>
            <a:ext cx="41148" cy="2359152"/>
          </a:xfrm>
          <a:prstGeom prst="rect">
            <a:avLst/>
          </a:prstGeom>
          <a:solidFill>
            <a:srgbClr val="4F46E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91672" y="13533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4F46E5">
                    <a:alpha val="18000"/>
                  </a:srgbClr>
                </a:solidFill>
              </a:rPr>
              <a:t>02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45936" y="1435608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Strategic Consulting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45936" y="1801368"/>
            <a:ext cx="5248656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Technology roadmap design and C-suite advisory — aligning IT investments with long-term business objectives and competitive positioning.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45936" y="2871216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3× faster decision-making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45936" y="3127248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C-Suite Advisory  ·  OKRs  ·  Technology Roadmap  ·  Business Analysis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3803904"/>
            <a:ext cx="5522976" cy="2359152"/>
          </a:xfrm>
          <a:prstGeom prst="rect">
            <a:avLst>
              <a:gd name="adj" fmla="val 4651"/>
            </a:avLst>
          </a:prstGeom>
          <a:solidFill>
            <a:srgbClr val="0EA5E9">
              <a:alpha val="7000"/>
            </a:srgbClr>
          </a:solidFill>
          <a:ln w="12700">
            <a:solidFill>
              <a:srgbClr val="0EA5E9">
                <a:alpha val="3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803904"/>
            <a:ext cx="41148" cy="235915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1536" y="38587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EA5E9">
                    <a:alpha val="18000"/>
                  </a:srgbClr>
                </a:solidFill>
              </a:rPr>
              <a:t>03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85800" y="3941064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IT Solutions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" y="4306824"/>
            <a:ext cx="5248656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Infrastructure design, systems integration, and managed IT services tailored to your organisation's scale, complexity, and industry requirements.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5800" y="5376672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</a:rPr>
              <a:t>99.98% uptime delivered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" y="5632704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Infrastructure  ·  Managed IT  ·  Systems Integration  ·  ERP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163056" y="3803904"/>
            <a:ext cx="5522976" cy="2359152"/>
          </a:xfrm>
          <a:prstGeom prst="rect">
            <a:avLst>
              <a:gd name="adj" fmla="val 4651"/>
            </a:avLst>
          </a:prstGeom>
          <a:solidFill>
            <a:srgbClr val="9333EA">
              <a:alpha val="7000"/>
            </a:srgbClr>
          </a:solidFill>
          <a:ln w="12700">
            <a:solidFill>
              <a:srgbClr val="9333EA">
                <a:alpha val="3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3056" y="3803904"/>
            <a:ext cx="41148" cy="2359152"/>
          </a:xfrm>
          <a:prstGeom prst="rect">
            <a:avLst/>
          </a:prstGeom>
          <a:solidFill>
            <a:srgbClr val="9333E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91672" y="38587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9333EA">
                    <a:alpha val="18000"/>
                  </a:srgbClr>
                </a:solidFill>
              </a:rPr>
              <a:t>04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45936" y="3941064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Project Management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45936" y="4306824"/>
            <a:ext cx="5248656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Rigorous PMO governance, agile delivery, and stakeholder coordination — ensuring every technology project lands on time, on budget, and on scope.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45936" y="5376672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</a:rPr>
              <a:t>100% on-time delivery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45936" y="5632704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Agile / Scrum  ·  PMO Governance  ·  Stakeholder Mgmt  ·  Risk Management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SERVICES  2/2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0A2E"/>
                </a:solidFill>
              </a:rPr>
              <a:t>Our Services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950976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Specialised capabilities across cloud, security, software engineering, and advanced analytics.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5522976" cy="2359152"/>
          </a:xfrm>
          <a:prstGeom prst="rect">
            <a:avLst>
              <a:gd name="adj" fmla="val 4651"/>
            </a:avLst>
          </a:prstGeom>
          <a:solidFill>
            <a:srgbClr val="06B6D4">
              <a:alpha val="7000"/>
            </a:srgbClr>
          </a:solidFill>
          <a:ln w="12700">
            <a:solidFill>
              <a:srgbClr val="06B6D4">
                <a:alpha val="3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298448"/>
            <a:ext cx="41148" cy="235915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31536" y="13533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6B6D4">
                    <a:alpha val="18000"/>
                  </a:srgbClr>
                </a:solidFill>
              </a:rPr>
              <a:t>05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85800" y="1435608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Cloud Services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801368"/>
            <a:ext cx="5248656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Hybrid and multi-cloud architecture, migration, and optimisation on AWS, Azure, and GCP — built for resilience, scalability, and cost efficiency.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2871216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</a:rPr>
              <a:t>45% cost reduction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3127248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AWS · Azure · GCP  ·  Cloud Migration  ·  FinOps  ·  24/7 Operations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163056" y="1298448"/>
            <a:ext cx="5522976" cy="2359152"/>
          </a:xfrm>
          <a:prstGeom prst="rect">
            <a:avLst>
              <a:gd name="adj" fmla="val 4651"/>
            </a:avLst>
          </a:prstGeom>
          <a:solidFill>
            <a:srgbClr val="EF4444">
              <a:alpha val="7000"/>
            </a:srgbClr>
          </a:solidFill>
          <a:ln w="12700">
            <a:solidFill>
              <a:srgbClr val="EF4444">
                <a:alpha val="3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1298448"/>
            <a:ext cx="41148" cy="235915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91672" y="13533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EF4444">
                    <a:alpha val="18000"/>
                  </a:srgbClr>
                </a:solidFill>
              </a:rPr>
              <a:t>06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45936" y="1435608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Cybersecurity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45936" y="1801368"/>
            <a:ext cx="5248656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Zero-trust frameworks, 24/7 SOC monitoring, penetration testing, and compliance programmes including ISO 27001 and NESA for critical infrastructure.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45936" y="2871216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ISO 27001 in 9 months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45936" y="3127248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Zero Trust  ·  SOC / SIEM  ·  Pen Testing  ·  ISO 27001 · NESA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3803904"/>
            <a:ext cx="5522976" cy="2359152"/>
          </a:xfrm>
          <a:prstGeom prst="rect">
            <a:avLst>
              <a:gd name="adj" fmla="val 4651"/>
            </a:avLst>
          </a:prstGeom>
          <a:solidFill>
            <a:srgbClr val="059669">
              <a:alpha val="7000"/>
            </a:srgbClr>
          </a:solidFill>
          <a:ln w="12700">
            <a:solidFill>
              <a:srgbClr val="059669">
                <a:alpha val="3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803904"/>
            <a:ext cx="41148" cy="2359152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1536" y="38587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59669">
                    <a:alpha val="18000"/>
                  </a:srgbClr>
                </a:solidFill>
              </a:rPr>
              <a:t>07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85800" y="3941064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Custom Software Development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" y="4306824"/>
            <a:ext cx="5248656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Bespoke web, mobile, and enterprise applications engineered from the ground up — including AI-powered platforms and deep API integrations.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5800" y="5376672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5,000 users in 6 months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" y="5632704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React · Node.js  ·  Mobile Apps  ·  AI / ML  ·  API Integration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163056" y="3803904"/>
            <a:ext cx="5522976" cy="2359152"/>
          </a:xfrm>
          <a:prstGeom prst="rect">
            <a:avLst>
              <a:gd name="adj" fmla="val 4651"/>
            </a:avLst>
          </a:prstGeom>
          <a:solidFill>
            <a:srgbClr val="F59E0B">
              <a:alpha val="7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3056" y="3803904"/>
            <a:ext cx="41148" cy="235915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91672" y="38587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59E0B">
                    <a:alpha val="18000"/>
                  </a:srgbClr>
                </a:solidFill>
              </a:rPr>
              <a:t>08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45936" y="3941064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Data &amp; Analytics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45936" y="4306824"/>
            <a:ext cx="5248656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Business intelligence dashboards, data warehouse architecture, and machine-learning models that turn raw data into actionable revenue-generating intelligence.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45936" y="5376672"/>
            <a:ext cx="5248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80+ stores connected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45936" y="5632704"/>
            <a:ext cx="52486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Power BI  ·  Data Warehouse  ·  ML Models  ·  Real-Time BI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7C3AED"/>
                </a:solidFill>
              </a:rPr>
              <a:t>CASE STUDY  ·  DIGITAL TRANSFORMATION  ·  GOVERNMENT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02336"/>
            <a:ext cx="7223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A0A2E"/>
                </a:solidFill>
              </a:rPr>
              <a:t>National Digital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A0A2E"/>
                </a:solidFill>
              </a:rPr>
              <a:t>Identity Platform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408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Government Entity — UAE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6858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2880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WeThink was engaged to design and deliver a unified citizen identity portal for a UAE federal entity, integrating 12 separate government services into a single secure platform. The programme covered discovery, UX design, cloud architecture, identity and access management, and full API integration with legacy systems.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331012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3364992"/>
            <a:ext cx="3054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The Challenge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3639312"/>
            <a:ext cx="30540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Fragmented citizen experience across 12 federal services. Manual onboarding process taking 3–4 weeks per citizen. No unified identity layer.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59352" y="3236976"/>
            <a:ext cx="340156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59352" y="3236976"/>
            <a:ext cx="41148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33649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Our Approach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23944" y="3639312"/>
            <a:ext cx="314553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Cloud-native identity platform with single sign-on, biometric verification, and a microservices API layer connecting all 12 services in real time.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5354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94A3B8"/>
                </a:solidFill>
              </a:rPr>
              <a:t>TECHNOLOGIES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54880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</a:rPr>
              <a:t>Cloud Architecture  ·  Identity &amp; Access Management  ·  API Integration  ·  Microservices  ·  Biometric Verification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28432" y="502920"/>
            <a:ext cx="3657600" cy="1536192"/>
          </a:xfrm>
          <a:prstGeom prst="rect">
            <a:avLst>
              <a:gd name="adj" fmla="val 5952"/>
            </a:avLst>
          </a:prstGeom>
          <a:solidFill>
            <a:srgbClr val="7C3AED">
              <a:alpha val="10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28432" y="57607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70%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028432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Reduction in onboarding time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28432" y="2240280"/>
            <a:ext cx="3657600" cy="1536192"/>
          </a:xfrm>
          <a:prstGeom prst="rect">
            <a:avLst>
              <a:gd name="adj" fmla="val 5952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4F46E5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231343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46E5"/>
                </a:solidFill>
              </a:rPr>
              <a:t>12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8028432" y="2788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Federal services integrated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28432" y="3977640"/>
            <a:ext cx="3657600" cy="1536192"/>
          </a:xfrm>
          <a:prstGeom prst="rect">
            <a:avLst>
              <a:gd name="adj" fmla="val 5952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059669">
                <a:alpha val="3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405079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1M+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028432" y="4526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Citizens served on platform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059669"/>
                </a:solidFill>
              </a:rPr>
              <a:t>CASE STUDY  ·  IT CONSULTING  ·  FINANCIAL SERVICES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02336"/>
            <a:ext cx="7223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A0A2E"/>
                </a:solidFill>
              </a:rPr>
              <a:t>Core Banking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A0A2E"/>
                </a:solidFill>
              </a:rPr>
              <a:t>Modernisation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408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Financial Institution — Abu Dhabi, UAE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6858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2880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WeThink led the full migration of a legacy on-premise core banking infrastructure to a hybrid cloud environment. The 18-month programme included a phased migration strategy to ensure zero downtime, a DevSecOps transformation, and a new cybersecurity framework aligned with UAE Central Bank regulations.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331012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3364992"/>
            <a:ext cx="3054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The Challenge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3639312"/>
            <a:ext cx="30540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High maintenance costs on aging on-premise infrastructure. Frequent downtime impacting business operations. No modern DevOps or security practices in place.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59352" y="3236976"/>
            <a:ext cx="340156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59352" y="3236976"/>
            <a:ext cx="41148" cy="1170432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33649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Our Approach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23944" y="3639312"/>
            <a:ext cx="314553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Phased zero-downtime migration to hybrid cloud (Azure). Introduced CI/CD pipelines, automated testing, and a UAE Central Bank-compliant cybersecurity framework.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5354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94A3B8"/>
                </a:solidFill>
              </a:rPr>
              <a:t>TECHNOLOGIES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54880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Hybrid Cloud (Azure)  ·  DevSecOps  ·  CI/CD Pipelines  ·  Cybersecurity  ·  UAE Central Bank Compliance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28432" y="502920"/>
            <a:ext cx="3657600" cy="1536192"/>
          </a:xfrm>
          <a:prstGeom prst="rect">
            <a:avLst>
              <a:gd name="adj" fmla="val 5952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059669">
                <a:alpha val="3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28432" y="57607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45%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028432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Reduction in IT operational costs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28432" y="2240280"/>
            <a:ext cx="3657600" cy="1536192"/>
          </a:xfrm>
          <a:prstGeom prst="rect">
            <a:avLst>
              <a:gd name="adj" fmla="val 5952"/>
            </a:avLst>
          </a:prstGeom>
          <a:solidFill>
            <a:srgbClr val="0EA5E9">
              <a:alpha val="10000"/>
            </a:srgbClr>
          </a:solidFill>
          <a:ln w="12700">
            <a:solidFill>
              <a:srgbClr val="0EA5E9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231343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A5E9"/>
                </a:solidFill>
              </a:rPr>
              <a:t>99.98%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8028432" y="2788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System uptime post-migration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28432" y="3977640"/>
            <a:ext cx="3657600" cy="1536192"/>
          </a:xfrm>
          <a:prstGeom prst="rect">
            <a:avLst>
              <a:gd name="adj" fmla="val 5952"/>
            </a:avLst>
          </a:prstGeom>
          <a:solidFill>
            <a:srgbClr val="7C3AED">
              <a:alpha val="10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405079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0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028432" y="4526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Downtime incidents during migration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0EA5E9"/>
                </a:solidFill>
              </a:rPr>
              <a:t>CASE STUDY  ·  CUSTOM SOFTWARE  ·  HIGHER EDUCATION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02336"/>
            <a:ext cx="7223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A0A2E"/>
                </a:solidFill>
              </a:rPr>
              <a:t>Smart Campus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A0A2E"/>
                </a:solidFill>
              </a:rPr>
              <a:t>Management 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408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Higher Education Institution — UAE  (3 Campuses)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6858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2880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WeThink designed and built a full-stack IoT-connected campus management platform deployed across 3 campuses. The platform unifies student attendance, facility bookings, energy monitoring, and security access into a single mobile-first system — integrated with the university's existing ERP and student information systems.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331012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3364992"/>
            <a:ext cx="3054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The Challenge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3639312"/>
            <a:ext cx="30540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Separate disconnected systems across 3 campuses for attendance, facilities, and energy. No real-time visibility. High administrative overhead.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59352" y="3236976"/>
            <a:ext cx="340156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59352" y="3236976"/>
            <a:ext cx="41148" cy="117043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33649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Our Approach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23944" y="3639312"/>
            <a:ext cx="314553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Built a unified React/Node.js platform with IoT sensor integration on Azure. Mobile app for students and staff. Real-time dashboards for campus operations teams.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5354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94A3B8"/>
                </a:solidFill>
              </a:rPr>
              <a:t>TECHNOLOGIES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54880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E9"/>
                </a:solidFill>
              </a:rPr>
              <a:t>React &amp; Node.js  ·  Microsoft Azure  ·  IoT Sensors  ·  Mobile Application  ·  ERP Integration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28432" y="502920"/>
            <a:ext cx="3657600" cy="1536192"/>
          </a:xfrm>
          <a:prstGeom prst="rect">
            <a:avLst>
              <a:gd name="adj" fmla="val 5952"/>
            </a:avLst>
          </a:prstGeom>
          <a:solidFill>
            <a:srgbClr val="0EA5E9">
              <a:alpha val="10000"/>
            </a:srgbClr>
          </a:solidFill>
          <a:ln w="12700">
            <a:solidFill>
              <a:srgbClr val="0EA5E9">
                <a:alpha val="3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28432" y="57607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A5E9"/>
                </a:solidFill>
              </a:rPr>
              <a:t>18K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028432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Daily active users across campuses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28432" y="2240280"/>
            <a:ext cx="3657600" cy="1536192"/>
          </a:xfrm>
          <a:prstGeom prst="rect">
            <a:avLst>
              <a:gd name="adj" fmla="val 5952"/>
            </a:avLst>
          </a:prstGeom>
          <a:solidFill>
            <a:srgbClr val="7C3AED">
              <a:alpha val="10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231343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3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8028432" y="2788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Campuses unified on one platform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28432" y="3977640"/>
            <a:ext cx="3657600" cy="1536192"/>
          </a:xfrm>
          <a:prstGeom prst="rect">
            <a:avLst>
              <a:gd name="adj" fmla="val 5952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059669">
                <a:alpha val="3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405079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30%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028432" y="4526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Reduction in energy consumption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544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EF4444"/>
                </a:solidFill>
              </a:rPr>
              <a:t>CASE STUDY  ·  CYBERSECURITY  ·  ENERGY SECTOR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02336"/>
            <a:ext cx="7223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A0A2E"/>
                </a:solidFill>
              </a:rPr>
              <a:t>Zero-Trust Security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A0A2E"/>
                </a:solidFill>
              </a:rPr>
              <a:t>Framework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408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Energy Sector — ADNOC Supply Chain, Abu Dhabi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6858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2880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64748B"/>
                </a:solidFill>
              </a:rPr>
              <a:t>WeThink was engaged to implement a zero-trust network architecture and establish a 24/7 Security Operations Centre (SOC) for a critical ADNOC supply chain operator. The engagement included a full security audit, threat modelling, network re-segmentation, and a 9-month ISO 27001 certification programme.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331012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3364992"/>
            <a:ext cx="3054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The Challenge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3639312"/>
            <a:ext cx="30540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No formal security framework in place. Network perimeter-based security with no monitoring. Compliance gap against NESA and ISO 27001 required by ADNOC supply chain.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59352" y="3236976"/>
            <a:ext cx="3401568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16200000">
              <a:srgbClr val="00000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59352" y="3236976"/>
            <a:ext cx="41148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33649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Our Approach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23944" y="3639312"/>
            <a:ext cx="314553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Full zero-trust re-architecture, 24/7 SOC with SIEM, penetration testing programme, and a structured ISO 27001 readiness sprint over 9 months.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5354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94A3B8"/>
                </a:solidFill>
              </a:rPr>
              <a:t>TECHNOLOGIES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54880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</a:rPr>
              <a:t>Zero Trust Architecture  ·  SOC / SIEM  ·  Penetration Testing  ·  ISO 27001  ·  NESA Compliance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28432" y="502920"/>
            <a:ext cx="3657600" cy="1536192"/>
          </a:xfrm>
          <a:prstGeom prst="rect">
            <a:avLst>
              <a:gd name="adj" fmla="val 5952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28432" y="57607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4444"/>
                </a:solidFill>
              </a:rPr>
              <a:t>9mo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028432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To ISO 27001 certification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28432" y="2240280"/>
            <a:ext cx="3657600" cy="1536192"/>
          </a:xfrm>
          <a:prstGeom prst="rect">
            <a:avLst>
              <a:gd name="adj" fmla="val 5952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059669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28432" y="231343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0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8028432" y="2788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Security incidents post-deployment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28432" y="3977640"/>
            <a:ext cx="3657600" cy="1536192"/>
          </a:xfrm>
          <a:prstGeom prst="rect">
            <a:avLst>
              <a:gd name="adj" fmla="val 5952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405079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</a:rPr>
              <a:t>100%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028432" y="4526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NESA compliance achieved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01168"/>
            <a:ext cx="201168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C3AED"/>
                </a:solidFill>
              </a:rPr>
              <a:t>OUR DIFFERENCE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11183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0A2E"/>
                </a:solidFill>
              </a:rPr>
              <a:t>Why Choose WeThink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950976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Four qualities that set us apart — and keep our clients coming back.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5522976" cy="2304288"/>
          </a:xfrm>
          <a:prstGeom prst="rect">
            <a:avLst>
              <a:gd name="adj" fmla="val 4762"/>
            </a:avLst>
          </a:prstGeom>
          <a:solidFill>
            <a:srgbClr val="7C3AED">
              <a:alpha val="8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58968" y="1371600"/>
            <a:ext cx="530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7C3AED">
                    <a:alpha val="20000"/>
                  </a:srgbClr>
                </a:solidFill>
              </a:rPr>
              <a:t>01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41148" cy="2304288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44752"/>
            <a:ext cx="4837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UAE-Native Expertise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828800"/>
            <a:ext cx="5248656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Deep understanding of local regulations, UAE Vision 2031, NESA standards, and Gulf market dynamics — applied alongside global technology best practice. We know how business gets done here.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63056" y="1298448"/>
            <a:ext cx="5522976" cy="2304288"/>
          </a:xfrm>
          <a:prstGeom prst="rect">
            <a:avLst>
              <a:gd name="adj" fmla="val 4762"/>
            </a:avLst>
          </a:prstGeom>
          <a:solidFill>
            <a:srgbClr val="0EA5E9">
              <a:alpha val="8000"/>
            </a:srgbClr>
          </a:solidFill>
          <a:ln w="12700">
            <a:solidFill>
              <a:srgbClr val="0EA5E9">
                <a:alpha val="3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19104" y="1371600"/>
            <a:ext cx="530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EA5E9">
                    <a:alpha val="20000"/>
                  </a:srgbClr>
                </a:solidFill>
              </a:rPr>
              <a:t>02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163056" y="1298448"/>
            <a:ext cx="41148" cy="230428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936" y="1444752"/>
            <a:ext cx="4837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End-to-End Ownership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45936" y="1828800"/>
            <a:ext cx="5248656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We don't hand off deliverables and disappear. We own the outcome from initial strategy through design, build, and post-launch operations — ensuring every project actually succeeds in production.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749040"/>
            <a:ext cx="5522976" cy="2304288"/>
          </a:xfrm>
          <a:prstGeom prst="rect">
            <a:avLst>
              <a:gd name="adj" fmla="val 4762"/>
            </a:avLst>
          </a:prstGeom>
          <a:solidFill>
            <a:srgbClr val="059669">
              <a:alpha val="8000"/>
            </a:srgbClr>
          </a:solidFill>
          <a:ln w="12700">
            <a:solidFill>
              <a:srgbClr val="059669">
                <a:alpha val="3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58968" y="3822192"/>
            <a:ext cx="530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59669">
                    <a:alpha val="20000"/>
                  </a:srgbClr>
                </a:solidFill>
              </a:rPr>
              <a:t>03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41148" cy="2304288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895344"/>
            <a:ext cx="4837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Certified Professionals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279392"/>
            <a:ext cx="5248656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Our team holds certifications across AWS, Azure, GCP, PMP, CISSP, ISO 27001, and more. Clients benefit from proven, credentialed expertise — not junior consultants on the job for the first time.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63056" y="3749040"/>
            <a:ext cx="5522976" cy="2304288"/>
          </a:xfrm>
          <a:prstGeom prst="rect">
            <a:avLst>
              <a:gd name="adj" fmla="val 4762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19104" y="3822192"/>
            <a:ext cx="530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59E0B">
                    <a:alpha val="20000"/>
                  </a:srgbClr>
                </a:solidFill>
              </a:rPr>
              <a:t>04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6163056" y="3749040"/>
            <a:ext cx="41148" cy="23042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45936" y="3895344"/>
            <a:ext cx="48371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0A2E"/>
                </a:solidFill>
              </a:rPr>
              <a:t>Proven Track Record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45936" y="4279392"/>
            <a:ext cx="5248656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8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5,000+ projects delivered, 1,000+ clients served, and a portfolio spanning UAE federal government, leading banks, energy operators, and fast-growing startups. Our results speak for themselves.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</a:rPr>
              <a:t>WeThink Technology Consulting  ·  Abu Dhabi, UAE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-3200400" y="-3200400"/>
            <a:ext cx="6400800" cy="6400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45752" y="4114800"/>
            <a:ext cx="5486400" cy="5486400"/>
          </a:xfrm>
          <a:prstGeom prst="ellipse">
            <a:avLst/>
          </a:prstGeom>
          <a:solidFill>
            <a:srgbClr val="5B21B6">
              <a:alpha val="1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28016"/>
            <a:ext cx="201168" cy="27432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73152"/>
            <a:ext cx="11183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78BFA"/>
                </a:solidFill>
              </a:rPr>
              <a:t>BY THE NUMBERS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02920" y="347472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Numbers That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02920" y="914400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78BFA"/>
                </a:solidFill>
              </a:rPr>
              <a:t>Define Us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62940" y="1828800"/>
            <a:ext cx="2084832" cy="1417320"/>
          </a:xfrm>
          <a:prstGeom prst="rect">
            <a:avLst>
              <a:gd name="adj" fmla="val 7742"/>
            </a:avLst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" y="1901952"/>
            <a:ext cx="20848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AED"/>
                </a:solidFill>
              </a:rPr>
              <a:t>5+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2940" y="256032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Years of Excellence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57500" y="1828800"/>
            <a:ext cx="2084832" cy="1417320"/>
          </a:xfrm>
          <a:prstGeom prst="rect">
            <a:avLst>
              <a:gd name="adj" fmla="val 7742"/>
            </a:avLst>
          </a:prstGeom>
          <a:solidFill>
            <a:srgbClr val="4F46E5">
              <a:alpha val="20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57500" y="1901952"/>
            <a:ext cx="20848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46E5"/>
                </a:solidFill>
              </a:rPr>
              <a:t>5,000+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857500" y="256032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Projects Delivered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52060" y="1828800"/>
            <a:ext cx="2084832" cy="1417320"/>
          </a:xfrm>
          <a:prstGeom prst="rect">
            <a:avLst>
              <a:gd name="adj" fmla="val 7742"/>
            </a:avLst>
          </a:prstGeom>
          <a:solidFill>
            <a:srgbClr val="0EA5E9">
              <a:alpha val="20000"/>
            </a:srgbClr>
          </a:solidFill>
          <a:ln w="12700">
            <a:solidFill>
              <a:srgbClr val="0EA5E9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52060" y="1901952"/>
            <a:ext cx="20848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A5E9"/>
                </a:solidFill>
              </a:rPr>
              <a:t>1,000+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5052060" y="256032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Clients Served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246620" y="1828800"/>
            <a:ext cx="2084832" cy="1417320"/>
          </a:xfrm>
          <a:prstGeom prst="rect">
            <a:avLst>
              <a:gd name="adj" fmla="val 7742"/>
            </a:avLst>
          </a:prstGeom>
          <a:solidFill>
            <a:srgbClr val="059669">
              <a:alpha val="20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46620" y="1901952"/>
            <a:ext cx="20848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59669"/>
                </a:solidFill>
              </a:rPr>
              <a:t>99.98%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7246620" y="256032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Average Uptime SLA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441180" y="1828800"/>
            <a:ext cx="2084832" cy="1417320"/>
          </a:xfrm>
          <a:prstGeom prst="rect">
            <a:avLst>
              <a:gd name="adj" fmla="val 7742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41180" y="1901952"/>
            <a:ext cx="20848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9441180" y="256032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Core Service Areas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429000"/>
            <a:ext cx="11183112" cy="36576"/>
          </a:xfrm>
          <a:prstGeom prst="rect">
            <a:avLst/>
          </a:prstGeom>
          <a:solidFill>
            <a:srgbClr val="5B21B6">
              <a:alpha val="5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52958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Key Achievements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02920" y="4014216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95020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ISO 27001 certification programmes completed in under 9 months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85916" y="4014216"/>
            <a:ext cx="91440" cy="9144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395020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Zero-downtime cloud migrations delivered across multiple financial sector clients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4489704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4425696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Trusted technology partner for UAE Federal and Emirate Government entities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85916" y="4489704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68796" y="4425696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Custom platforms serving 18,000+ daily active users across UAE university campuses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02920" y="4965192"/>
            <a:ext cx="91440" cy="914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01184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Real-time BI platforms deployed across 80+ retail locations in the Gulf region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185916" y="4965192"/>
            <a:ext cx="91440" cy="9144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8796" y="4901184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AI-powered SaaS HR platform reaching 5,000 active users within 6 months of launch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8BFA"/>
                </a:solidFill>
              </a:rPr>
              <a:t>wethink.ae  ·  Abu Dhabi, UAE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-3657600" y="3200400"/>
            <a:ext cx="7315200" cy="7315200"/>
          </a:xfrm>
          <a:prstGeom prst="ellipse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88552" y="-3200400"/>
            <a:ext cx="6400800" cy="6400800"/>
          </a:xfrm>
          <a:prstGeom prst="ellipse">
            <a:avLst/>
          </a:prstGeom>
          <a:solidFill>
            <a:srgbClr val="5B21B6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371600"/>
            <a:ext cx="42976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Let's Build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Something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Great Together.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38912" y="4370832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4B5FD"/>
                </a:solidFill>
              </a:rPr>
              <a:t>We'd love to hear about your next project.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47365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</a:rPr>
              <a:t>Reach out and let's start a conversation.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0" y="50292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Contact Us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486400" y="1133856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WeThink Technology Consulting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0" y="1536192"/>
            <a:ext cx="6199632" cy="713232"/>
          </a:xfrm>
          <a:prstGeom prst="rect">
            <a:avLst>
              <a:gd name="adj" fmla="val 1153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1536192"/>
            <a:ext cx="36576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1618488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WEBSITE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632704" y="1828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www.wethink.ae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0" y="2404872"/>
            <a:ext cx="6199632" cy="713232"/>
          </a:xfrm>
          <a:prstGeom prst="rect">
            <a:avLst>
              <a:gd name="adj" fmla="val 1153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0" y="2404872"/>
            <a:ext cx="36576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32704" y="2487168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EMAIL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632704" y="269748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info@wethink.ae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0" y="3273552"/>
            <a:ext cx="6199632" cy="713232"/>
          </a:xfrm>
          <a:prstGeom prst="rect">
            <a:avLst>
              <a:gd name="adj" fmla="val 1153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0" y="3273552"/>
            <a:ext cx="36576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32704" y="3355848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LOCATION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632704" y="356616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Pixel Building, Al Reem Island, Abu Dhabi, UAE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0" y="4142232"/>
            <a:ext cx="6199632" cy="713232"/>
          </a:xfrm>
          <a:prstGeom prst="rect">
            <a:avLst>
              <a:gd name="adj" fmla="val 1153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C3AED">
                <a:alpha val="3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0" y="4142232"/>
            <a:ext cx="36576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32704" y="4224528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ESTABLISHED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632704" y="443484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2019  ·  UAE Registered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5175504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B5CF6"/>
                </a:solidFill>
              </a:rPr>
              <a:t>SERVICES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510528" y="5175504"/>
            <a:ext cx="5175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IT Consulting  ·  Cloud Strategy  ·  Cybersecurity  ·  Custom Software  ·  Data Analytics  ·  Digital Transformation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486400" y="5559552"/>
            <a:ext cx="2926080" cy="548640"/>
          </a:xfrm>
          <a:prstGeom prst="rect">
            <a:avLst>
              <a:gd name="adj" fmla="val 50000"/>
            </a:avLst>
          </a:prstGeom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0" y="5559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Start Your Project  →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7C3AED">
              <a:alpha val="3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8BFA"/>
                </a:solidFill>
              </a:rPr>
              <a:t>WeThink Technology Consulting  ·  Abu Dhabi, UAE  ·  wethink.ae  ·  © 2025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2026-05-20T20:01:33Z</dcterms:created>
  <dcterms:modified xsi:type="dcterms:W3CDTF">2026-05-20T20:01:33Z</dcterms:modified>
</cp:coreProperties>
</file>